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 showGuides="1">
      <p:cViewPr>
        <p:scale>
          <a:sx n="148" d="100"/>
          <a:sy n="148" d="100"/>
        </p:scale>
        <p:origin x="18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7498079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92D4E"/>
                </a:solidFill>
                <a:latin typeface="微软雅黑" panose="020B0503020204020204" charset="-122"/>
              </a:rPr>
              <a:t>ARM Linux 平台卡尔曼滤波算子性能优化</a:t>
            </a:r>
            <a:endParaRPr sz="29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2331720"/>
            <a:ext cx="23317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41448"/>
            <a:ext cx="2112263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最终执行时间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2715768"/>
            <a:ext cx="2112263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246CBE"/>
                </a:solidFill>
                <a:latin typeface="微软雅黑" panose="020B0503020204020204" charset="-122"/>
              </a:rPr>
              <a:t>70.333 ms</a:t>
            </a:r>
            <a:endParaRPr sz="22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3118103"/>
            <a:ext cx="2112263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从 526.087 ms 降至 70.333 ms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46120" y="2331720"/>
            <a:ext cx="20574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2441448"/>
            <a:ext cx="1837943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总体加速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55848" y="2715768"/>
            <a:ext cx="1837943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368F58"/>
                </a:solidFill>
                <a:latin typeface="微软雅黑" panose="020B0503020204020204" charset="-122"/>
              </a:rPr>
              <a:t>7.48x</a:t>
            </a:r>
            <a:endParaRPr sz="22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55848" y="3118103"/>
            <a:ext cx="1837943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主线 dense 矩阵 KF 口径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59552" y="2331720"/>
            <a:ext cx="24231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41448"/>
            <a:ext cx="220370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结果一致性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0" y="2715768"/>
            <a:ext cx="220370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9AB0"/>
                </a:solidFill>
                <a:latin typeface="微软雅黑" panose="020B0503020204020204" charset="-122"/>
              </a:rPr>
              <a:t>final_sum</a:t>
            </a:r>
            <a:endParaRPr sz="2200" b="1">
              <a:solidFill>
                <a:srgbClr val="009AB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0" y="3118103"/>
            <a:ext cx="220370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全流程保持 33407.632487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49640" y="777240"/>
            <a:ext cx="2971800" cy="5257800"/>
          </a:xfrm>
          <a:prstGeom prst="rect">
            <a:avLst/>
          </a:prstGeom>
          <a:solidFill>
            <a:srgbClr val="EDF4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078992"/>
            <a:ext cx="23774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246CBE"/>
                </a:solidFill>
                <a:latin typeface="微软雅黑" panose="020B0503020204020204" charset="-122"/>
              </a:rPr>
              <a:t>算子层</a:t>
            </a:r>
            <a:endParaRPr sz="13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23960" y="1389888"/>
            <a:ext cx="23774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C2330"/>
                </a:solidFill>
                <a:latin typeface="微软雅黑" panose="020B0503020204020204" charset="-122"/>
              </a:rPr>
              <a:t>workspace / mat_mul / loop unroll</a:t>
            </a:r>
            <a:endParaRPr sz="11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23960" y="2496312"/>
            <a:ext cx="23774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09AB0"/>
                </a:solidFill>
                <a:latin typeface="微软雅黑" panose="020B0503020204020204" charset="-122"/>
              </a:rPr>
              <a:t>ARM层</a:t>
            </a:r>
            <a:endParaRPr sz="1300" b="1">
              <a:solidFill>
                <a:srgbClr val="009AB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23960" y="2807208"/>
            <a:ext cx="23774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C2330"/>
                </a:solidFill>
                <a:latin typeface="微软雅黑" panose="020B0503020204020204" charset="-122"/>
              </a:rPr>
              <a:t>GCC -O2 / alignment / prefetch</a:t>
            </a:r>
            <a:endParaRPr sz="11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23960" y="3913632"/>
            <a:ext cx="2377440" cy="2508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endParaRPr sz="13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88030" y="46234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洪成铠：</a:t>
            </a:r>
            <a:r>
              <a:rPr lang="zh-CN" altLang="en-US"/>
              <a:t>实验</a:t>
            </a:r>
            <a:endParaRPr lang="zh-CN" altLang="en-US"/>
          </a:p>
          <a:p>
            <a:r>
              <a:rPr lang="zh-CN" altLang="en-US"/>
              <a:t>李林：</a:t>
            </a:r>
            <a:r>
              <a:rPr lang="zh-CN" altLang="en-US"/>
              <a:t>汇报</a:t>
            </a:r>
            <a:endParaRPr lang="zh-CN" altLang="en-US"/>
          </a:p>
          <a:p>
            <a:r>
              <a:rPr lang="zh-CN" altLang="en-US"/>
              <a:t>程业伟：撰写</a:t>
            </a:r>
            <a:r>
              <a:rPr lang="zh-CN" altLang="en-US"/>
              <a:t>报告</a:t>
            </a:r>
            <a:endParaRPr lang="zh-CN" altLang="en-US"/>
          </a:p>
          <a:p>
            <a:r>
              <a:rPr lang="zh-CN" altLang="en-US"/>
              <a:t>何雅祺：</a:t>
            </a:r>
            <a:r>
              <a:rPr lang="en-US" altLang="zh-CN"/>
              <a:t>ppt</a:t>
            </a:r>
            <a:r>
              <a:rPr lang="zh-CN" altLang="en-US"/>
              <a:t>制作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目录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汇报目录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658368" y="114300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822959" y="1325880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46CBE"/>
                </a:solidFill>
                <a:latin typeface="微软雅黑" panose="020B0503020204020204" charset="-122"/>
              </a:rPr>
              <a:t>01</a:t>
            </a:r>
            <a:endParaRPr sz="17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463040" y="1307592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dirty="0">
                <a:solidFill>
                  <a:srgbClr val="192D4E"/>
                </a:solidFill>
                <a:latin typeface="微软雅黑" panose="020B0503020204020204" charset="-122"/>
              </a:rPr>
              <a:t>KF </a:t>
            </a:r>
            <a:r>
              <a:rPr sz="1400" b="1" dirty="0" err="1">
                <a:solidFill>
                  <a:srgbClr val="192D4E"/>
                </a:solidFill>
                <a:latin typeface="微软雅黑" panose="020B0503020204020204" charset="-122"/>
              </a:rPr>
              <a:t>算法与</a:t>
            </a:r>
            <a:r>
              <a:rPr lang="zh-CN" altLang="en-US" sz="1400" b="1" dirty="0">
                <a:solidFill>
                  <a:srgbClr val="192D4E"/>
                </a:solidFill>
                <a:latin typeface="微软雅黑" panose="020B0503020204020204" charset="-122"/>
              </a:rPr>
              <a:t>本次实验的</a:t>
            </a:r>
            <a:r>
              <a:rPr sz="1400" b="1" dirty="0" err="1">
                <a:solidFill>
                  <a:srgbClr val="192D4E"/>
                </a:solidFill>
                <a:latin typeface="微软雅黑" panose="020B0503020204020204" charset="-122"/>
              </a:rPr>
              <a:t>简化模型</a:t>
            </a:r>
            <a:endParaRPr sz="1400" b="1" dirty="0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463040" y="1645920"/>
            <a:ext cx="3977639" cy="1999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dirty="0" err="1">
                <a:solidFill>
                  <a:srgbClr val="1C2330"/>
                </a:solidFill>
                <a:latin typeface="微软雅黑" panose="020B0503020204020204" charset="-122"/>
              </a:rPr>
              <a:t>算法背景、简化公式和程序运行流程</a:t>
            </a:r>
            <a:r>
              <a:rPr sz="105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05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6190488" y="114300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355079" y="1325880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46CBE"/>
                </a:solidFill>
                <a:latin typeface="微软雅黑" panose="020B0503020204020204" charset="-122"/>
              </a:rPr>
              <a:t>02</a:t>
            </a:r>
            <a:endParaRPr sz="17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995159" y="1307592"/>
            <a:ext cx="3886200" cy="267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zh-CN" sz="1400" b="1">
                <a:solidFill>
                  <a:srgbClr val="192D4E"/>
                </a:solidFill>
                <a:latin typeface="微软雅黑" panose="020B0503020204020204" charset="-122"/>
              </a:rPr>
              <a:t>文件</a:t>
            </a: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与接口完成情况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995159" y="1645920"/>
            <a:ext cx="3977639" cy="1999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dirty="0" err="1">
                <a:solidFill>
                  <a:srgbClr val="1C2330"/>
                </a:solidFill>
                <a:latin typeface="微软雅黑" panose="020B0503020204020204" charset="-122"/>
              </a:rPr>
              <a:t>三个接口、计时接口和六个文件的完成情况</a:t>
            </a:r>
            <a:r>
              <a:rPr sz="105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05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9"/>
            </p:custDataLst>
          </p:nvPr>
        </p:nvSpPr>
        <p:spPr>
          <a:xfrm>
            <a:off x="658368" y="265176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822959" y="2834640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46CBE"/>
                </a:solidFill>
                <a:latin typeface="微软雅黑" panose="020B0503020204020204" charset="-122"/>
              </a:rPr>
              <a:t>03</a:t>
            </a:r>
            <a:endParaRPr sz="17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1463040" y="2816352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整体优化路线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1463040" y="3154680"/>
            <a:ext cx="3977639" cy="1999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dirty="0" err="1">
                <a:solidFill>
                  <a:srgbClr val="1C2330"/>
                </a:solidFill>
                <a:latin typeface="微软雅黑" panose="020B0503020204020204" charset="-122"/>
              </a:rPr>
              <a:t>从算子层到</a:t>
            </a:r>
            <a:r>
              <a:rPr sz="1050" b="0" dirty="0">
                <a:solidFill>
                  <a:srgbClr val="1C2330"/>
                </a:solidFill>
                <a:latin typeface="微软雅黑" panose="020B0503020204020204" charset="-122"/>
              </a:rPr>
              <a:t> ARM </a:t>
            </a:r>
            <a:r>
              <a:rPr sz="1050" b="0" dirty="0" err="1">
                <a:solidFill>
                  <a:srgbClr val="1C2330"/>
                </a:solidFill>
                <a:latin typeface="微软雅黑" panose="020B0503020204020204" charset="-122"/>
              </a:rPr>
              <a:t>层</a:t>
            </a:r>
            <a:endParaRPr sz="105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13"/>
            </p:custDataLst>
          </p:nvPr>
        </p:nvSpPr>
        <p:spPr>
          <a:xfrm>
            <a:off x="6190488" y="265176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6355079" y="2834640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46CBE"/>
                </a:solidFill>
                <a:latin typeface="微软雅黑" panose="020B0503020204020204" charset="-122"/>
              </a:rPr>
              <a:t>04</a:t>
            </a:r>
            <a:endParaRPr sz="17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995159" y="2816352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算子层优化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6995159" y="3154680"/>
            <a:ext cx="3977639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dirty="0">
                <a:solidFill>
                  <a:srgbClr val="1C2330"/>
                </a:solidFill>
                <a:latin typeface="微软雅黑" panose="020B0503020204020204" charset="-122"/>
              </a:rPr>
              <a:t>workspace </a:t>
            </a:r>
            <a:r>
              <a:rPr sz="1050" b="0" dirty="0" err="1">
                <a:solidFill>
                  <a:srgbClr val="1C2330"/>
                </a:solidFill>
                <a:latin typeface="微软雅黑" panose="020B0503020204020204" charset="-122"/>
              </a:rPr>
              <a:t>预分配、mat_mul</a:t>
            </a:r>
            <a:r>
              <a:rPr sz="105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50" b="0" dirty="0" err="1">
                <a:solidFill>
                  <a:srgbClr val="1C2330"/>
                </a:solidFill>
                <a:latin typeface="微软雅黑" panose="020B0503020204020204" charset="-122"/>
              </a:rPr>
              <a:t>循环顺序、循环展开</a:t>
            </a:r>
            <a:r>
              <a:rPr sz="105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05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7"/>
            </p:custDataLst>
          </p:nvPr>
        </p:nvSpPr>
        <p:spPr>
          <a:xfrm>
            <a:off x="658368" y="416052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822959" y="4343400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46CBE"/>
                </a:solidFill>
                <a:latin typeface="微软雅黑" panose="020B0503020204020204" charset="-122"/>
              </a:rPr>
              <a:t>05</a:t>
            </a:r>
            <a:endParaRPr sz="17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1463040" y="4325112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ARM 平台优化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1463040" y="4663440"/>
            <a:ext cx="3977639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C2330"/>
                </a:solidFill>
                <a:latin typeface="微软雅黑" panose="020B0503020204020204" charset="-122"/>
              </a:rPr>
              <a:t>GCC -O2、64 字节对齐、软件预取。</a:t>
            </a:r>
            <a:endParaRPr sz="10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>
            <p:custDataLst>
              <p:tags r:id="rId21"/>
            </p:custDataLst>
          </p:nvPr>
        </p:nvSpPr>
        <p:spPr>
          <a:xfrm>
            <a:off x="6190488" y="416052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22"/>
            </p:custDataLst>
          </p:nvPr>
        </p:nvSpPr>
        <p:spPr>
          <a:xfrm>
            <a:off x="6355079" y="4343400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46CBE"/>
                </a:solidFill>
                <a:latin typeface="微软雅黑" panose="020B0503020204020204" charset="-122"/>
              </a:rPr>
              <a:t>06</a:t>
            </a:r>
            <a:endParaRPr sz="17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3"/>
            </p:custDataLst>
          </p:nvPr>
        </p:nvSpPr>
        <p:spPr>
          <a:xfrm>
            <a:off x="6995159" y="4325112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总体结果与总结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算法背景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KF 算法背景：在噪声中持续估计真实状态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66294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C2330"/>
                </a:solidFill>
                <a:latin typeface="微软雅黑" panose="020B0503020204020204" charset="-122"/>
              </a:rPr>
              <a:t>卡尔曼滤波用于处理“系统状态不可直接完全观测、传感器测量又带噪声”的问题。它每一步都把上一时刻的估计作为预测，再用当前测量进行校正，输出更稳定的状态估计。</a:t>
            </a:r>
            <a:endParaRPr sz="13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6583680" cy="78207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7000"/>
              </a:lnSpc>
            </a:pPr>
            <a:r>
              <a:rPr sz="1150" b="1" dirty="0">
                <a:solidFill>
                  <a:srgbClr val="246CBE"/>
                </a:solidFill>
                <a:latin typeface="微软雅黑" panose="020B0503020204020204" charset="-122"/>
              </a:rPr>
              <a:t>• </a:t>
            </a:r>
            <a:r>
              <a:rPr sz="1150" dirty="0" err="1">
                <a:solidFill>
                  <a:srgbClr val="1C2330"/>
                </a:solidFill>
                <a:latin typeface="微软雅黑" panose="020B0503020204020204" charset="-122"/>
              </a:rPr>
              <a:t>核心思想：预测值和测量值都不完全可靠，KF</a:t>
            </a:r>
            <a:r>
              <a:rPr sz="115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150" dirty="0" err="1">
                <a:solidFill>
                  <a:srgbClr val="1C2330"/>
                </a:solidFill>
                <a:latin typeface="微软雅黑" panose="020B0503020204020204" charset="-122"/>
              </a:rPr>
              <a:t>用协方差描述不确定性，再计算</a:t>
            </a:r>
            <a:r>
              <a:rPr sz="1150" dirty="0">
                <a:solidFill>
                  <a:srgbClr val="1C2330"/>
                </a:solidFill>
                <a:latin typeface="微软雅黑" panose="020B0503020204020204" charset="-122"/>
              </a:rPr>
              <a:t> Kalman Gain </a:t>
            </a:r>
            <a:r>
              <a:rPr sz="1150" dirty="0" err="1">
                <a:solidFill>
                  <a:srgbClr val="1C2330"/>
                </a:solidFill>
                <a:latin typeface="微软雅黑" panose="020B0503020204020204" charset="-122"/>
              </a:rPr>
              <a:t>决定更相信哪一边</a:t>
            </a:r>
            <a:r>
              <a:rPr sz="115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150" dirty="0">
              <a:solidFill>
                <a:srgbClr val="1C2330"/>
              </a:solidFill>
              <a:latin typeface="微软雅黑" panose="020B0503020204020204" charset="-122"/>
            </a:endParaRPr>
          </a:p>
          <a:p>
            <a:pPr>
              <a:lnSpc>
                <a:spcPct val="107000"/>
              </a:lnSpc>
            </a:pPr>
            <a:r>
              <a:rPr sz="1150" b="1" dirty="0">
                <a:solidFill>
                  <a:srgbClr val="246CBE"/>
                </a:solidFill>
                <a:latin typeface="微软雅黑" panose="020B0503020204020204" charset="-122"/>
              </a:rPr>
              <a:t>• </a:t>
            </a:r>
            <a:r>
              <a:rPr sz="1150" dirty="0" err="1">
                <a:solidFill>
                  <a:srgbClr val="1C2330"/>
                </a:solidFill>
                <a:latin typeface="微软雅黑" panose="020B0503020204020204" charset="-122"/>
              </a:rPr>
              <a:t>场景：姿态估计、雷达目标跟踪、自动驾驶定位、机器人导航、多传感器融合</a:t>
            </a:r>
            <a:r>
              <a:rPr sz="115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150" dirty="0">
              <a:solidFill>
                <a:srgbClr val="1C2330"/>
              </a:solidFill>
              <a:latin typeface="微软雅黑" panose="020B0503020204020204" charset="-122"/>
            </a:endParaRPr>
          </a:p>
          <a:p>
            <a:pPr>
              <a:lnSpc>
                <a:spcPct val="107000"/>
              </a:lnSpc>
            </a:pPr>
            <a:r>
              <a:rPr sz="1150" b="1" dirty="0">
                <a:solidFill>
                  <a:srgbClr val="246CBE"/>
                </a:solidFill>
                <a:latin typeface="微软雅黑" panose="020B0503020204020204" charset="-122"/>
              </a:rPr>
              <a:t>• </a:t>
            </a:r>
            <a:r>
              <a:rPr sz="1150" dirty="0" err="1">
                <a:solidFill>
                  <a:srgbClr val="1C2330"/>
                </a:solidFill>
                <a:latin typeface="微软雅黑" panose="020B0503020204020204" charset="-122"/>
              </a:rPr>
              <a:t>本项目的计算</a:t>
            </a:r>
            <a:r>
              <a:rPr lang="zh-CN" altLang="en-US" sz="1150" dirty="0">
                <a:solidFill>
                  <a:srgbClr val="1C2330"/>
                </a:solidFill>
                <a:latin typeface="微软雅黑" panose="020B0503020204020204" charset="-122"/>
              </a:rPr>
              <a:t>难点</a:t>
            </a:r>
            <a:r>
              <a:rPr sz="1150" dirty="0" err="1">
                <a:solidFill>
                  <a:srgbClr val="1C2330"/>
                </a:solidFill>
                <a:latin typeface="微软雅黑" panose="020B0503020204020204" charset="-122"/>
              </a:rPr>
              <a:t>来自矩阵运算，特别是</a:t>
            </a:r>
            <a:r>
              <a:rPr sz="1150" dirty="0">
                <a:solidFill>
                  <a:srgbClr val="1C2330"/>
                </a:solidFill>
                <a:latin typeface="微软雅黑" panose="020B0503020204020204" charset="-122"/>
              </a:rPr>
              <a:t> dense </a:t>
            </a:r>
            <a:r>
              <a:rPr sz="1150" dirty="0" err="1">
                <a:solidFill>
                  <a:srgbClr val="1C2330"/>
                </a:solidFill>
                <a:latin typeface="微软雅黑" panose="020B0503020204020204" charset="-122"/>
              </a:rPr>
              <a:t>矩阵乘法和多次线性数组遍历</a:t>
            </a:r>
            <a:r>
              <a:rPr sz="115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15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16368" y="932688"/>
            <a:ext cx="132588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u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29284"/>
            <a:ext cx="1179576" cy="1179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6096" y="2487168"/>
            <a:ext cx="110642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92D4E"/>
                </a:solidFill>
                <a:latin typeface="微软雅黑" panose="020B0503020204020204" charset="-122"/>
              </a:rPr>
              <a:t>姿态估计</a:t>
            </a:r>
            <a:endParaRPr sz="105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6096" y="2706624"/>
            <a:ext cx="110642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67080"/>
                </a:solidFill>
                <a:latin typeface="微软雅黑" panose="020B0503020204020204" charset="-122"/>
              </a:rPr>
              <a:t>IMU 融合加速度计与陀螺仪</a:t>
            </a:r>
            <a:endParaRPr sz="85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06840" y="932688"/>
            <a:ext cx="132588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ad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1160368"/>
            <a:ext cx="1179576" cy="11174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16567" y="2487168"/>
            <a:ext cx="110642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92D4E"/>
                </a:solidFill>
                <a:latin typeface="微软雅黑" panose="020B0503020204020204" charset="-122"/>
              </a:rPr>
              <a:t>目标跟踪</a:t>
            </a:r>
            <a:endParaRPr sz="105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16567" y="2706624"/>
            <a:ext cx="110642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67080"/>
                </a:solidFill>
                <a:latin typeface="微软雅黑" panose="020B0503020204020204" charset="-122"/>
              </a:rPr>
              <a:t>雷达持续估计目标状态</a:t>
            </a:r>
            <a:endParaRPr sz="85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497312" y="932688"/>
            <a:ext cx="132588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d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4" y="1292090"/>
            <a:ext cx="1179576" cy="8539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07040" y="2487168"/>
            <a:ext cx="110642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92D4E"/>
                </a:solidFill>
                <a:latin typeface="微软雅黑" panose="020B0503020204020204" charset="-122"/>
              </a:rPr>
              <a:t>自动驾驶</a:t>
            </a:r>
            <a:endParaRPr sz="105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607040" y="2706624"/>
            <a:ext cx="110642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67080"/>
                </a:solidFill>
                <a:latin typeface="微软雅黑" panose="020B0503020204020204" charset="-122"/>
              </a:rPr>
              <a:t>LiDAR/视觉定位与融合</a:t>
            </a:r>
            <a:endParaRPr sz="85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10972800" cy="1691640"/>
          </a:xfrm>
          <a:prstGeom prst="rect">
            <a:avLst/>
          </a:prstGeom>
          <a:solidFill>
            <a:srgbClr val="F5F7FA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378440" cy="4868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dirty="0" err="1">
                <a:solidFill>
                  <a:srgbClr val="192D4E"/>
                </a:solidFill>
                <a:latin typeface="微软雅黑" panose="020B0503020204020204" charset="-122"/>
              </a:rPr>
              <a:t>从汇报角度看，KF</a:t>
            </a:r>
            <a:r>
              <a:rPr sz="1400" b="1" dirty="0">
                <a:solidFill>
                  <a:srgbClr val="192D4E"/>
                </a:solidFill>
                <a:latin typeface="微软雅黑" panose="020B0503020204020204" charset="-122"/>
              </a:rPr>
              <a:t> </a:t>
            </a:r>
            <a:r>
              <a:rPr sz="1400" b="1" dirty="0" err="1">
                <a:solidFill>
                  <a:srgbClr val="192D4E"/>
                </a:solidFill>
                <a:latin typeface="微软雅黑" panose="020B0503020204020204" charset="-122"/>
              </a:rPr>
              <a:t>是一个循环计算过程：每一步都要更新</a:t>
            </a:r>
            <a:r>
              <a:rPr sz="1400" b="1" dirty="0">
                <a:solidFill>
                  <a:srgbClr val="192D4E"/>
                </a:solidFill>
                <a:latin typeface="微软雅黑" panose="020B0503020204020204" charset="-122"/>
              </a:rPr>
              <a:t> </a:t>
            </a:r>
            <a:r>
              <a:rPr sz="1400" b="1" dirty="0" err="1">
                <a:solidFill>
                  <a:srgbClr val="192D4E"/>
                </a:solidFill>
                <a:latin typeface="微软雅黑" panose="020B0503020204020204" charset="-122"/>
              </a:rPr>
              <a:t>P、K、x</a:t>
            </a:r>
            <a:r>
              <a:rPr sz="1400" b="1" dirty="0">
                <a:solidFill>
                  <a:srgbClr val="192D4E"/>
                </a:solidFill>
                <a:latin typeface="微软雅黑" panose="020B0503020204020204" charset="-122"/>
              </a:rPr>
              <a:t>，</a:t>
            </a:r>
            <a:r>
              <a:rPr lang="zh-CN" altLang="en-US" sz="1400" b="1" dirty="0">
                <a:solidFill>
                  <a:srgbClr val="192D4E"/>
                </a:solidFill>
                <a:latin typeface="微软雅黑" panose="020B0503020204020204" charset="-122"/>
              </a:rPr>
              <a:t>涉及到</a:t>
            </a:r>
            <a:r>
              <a:rPr sz="1400" b="1" dirty="0" err="1">
                <a:solidFill>
                  <a:srgbClr val="192D4E"/>
                </a:solidFill>
                <a:latin typeface="微软雅黑" panose="020B0503020204020204" charset="-122"/>
              </a:rPr>
              <a:t>矩阵访问模式、Cache</a:t>
            </a:r>
            <a:r>
              <a:rPr sz="1400" b="1" dirty="0">
                <a:solidFill>
                  <a:srgbClr val="192D4E"/>
                </a:solidFill>
                <a:latin typeface="微软雅黑" panose="020B0503020204020204" charset="-122"/>
              </a:rPr>
              <a:t> </a:t>
            </a:r>
            <a:r>
              <a:rPr sz="1400" b="1" dirty="0" err="1">
                <a:solidFill>
                  <a:srgbClr val="192D4E"/>
                </a:solidFill>
                <a:latin typeface="微软雅黑" panose="020B0503020204020204" charset="-122"/>
              </a:rPr>
              <a:t>命中率、内存分配方式和编译器优化效果放大</a:t>
            </a:r>
            <a:r>
              <a:rPr sz="1400" b="1" dirty="0">
                <a:solidFill>
                  <a:srgbClr val="192D4E"/>
                </a:solidFill>
                <a:latin typeface="微软雅黑" panose="020B0503020204020204" charset="-122"/>
              </a:rPr>
              <a:t>。</a:t>
            </a:r>
            <a:endParaRPr sz="1400" b="1" dirty="0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378440" cy="226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 dirty="0" err="1">
                <a:solidFill>
                  <a:srgbClr val="1C2330"/>
                </a:solidFill>
                <a:latin typeface="微软雅黑" panose="020B0503020204020204" charset="-122"/>
              </a:rPr>
              <a:t>因此我们的优化逻辑是在简化</a:t>
            </a:r>
            <a:r>
              <a:rPr sz="1220" b="0" dirty="0">
                <a:solidFill>
                  <a:srgbClr val="1C2330"/>
                </a:solidFill>
                <a:latin typeface="微软雅黑" panose="020B0503020204020204" charset="-122"/>
              </a:rPr>
              <a:t> KF </a:t>
            </a:r>
            <a:r>
              <a:rPr sz="1220" b="0" dirty="0" err="1">
                <a:solidFill>
                  <a:srgbClr val="1C2330"/>
                </a:solidFill>
                <a:latin typeface="微软雅黑" panose="020B0503020204020204" charset="-122"/>
              </a:rPr>
              <a:t>数学含义不变的前提下，让计算更适合</a:t>
            </a:r>
            <a:r>
              <a:rPr sz="1220" b="0" dirty="0">
                <a:solidFill>
                  <a:srgbClr val="1C2330"/>
                </a:solidFill>
                <a:latin typeface="微软雅黑" panose="020B0503020204020204" charset="-122"/>
              </a:rPr>
              <a:t> C </a:t>
            </a:r>
            <a:r>
              <a:rPr sz="1220" b="0" dirty="0" err="1">
                <a:solidFill>
                  <a:srgbClr val="1C2330"/>
                </a:solidFill>
                <a:latin typeface="微软雅黑" panose="020B0503020204020204" charset="-122"/>
              </a:rPr>
              <a:t>语言行优先存储和</a:t>
            </a:r>
            <a:r>
              <a:rPr sz="1220" b="0" dirty="0">
                <a:solidFill>
                  <a:srgbClr val="1C2330"/>
                </a:solidFill>
                <a:latin typeface="微软雅黑" panose="020B0503020204020204" charset="-122"/>
              </a:rPr>
              <a:t> ARM </a:t>
            </a:r>
            <a:r>
              <a:rPr sz="1220" b="0" dirty="0" err="1">
                <a:solidFill>
                  <a:srgbClr val="1C2330"/>
                </a:solidFill>
                <a:latin typeface="微软雅黑" panose="020B0503020204020204" charset="-122"/>
              </a:rPr>
              <a:t>处理器的执行特点</a:t>
            </a:r>
            <a:r>
              <a:rPr sz="122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22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模型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zh-CN" altLang="en-US" sz="2400" b="1" dirty="0">
                <a:solidFill>
                  <a:srgbClr val="192D4E"/>
                </a:solidFill>
                <a:latin typeface="微软雅黑" panose="020B0503020204020204" charset="-122"/>
              </a:rPr>
              <a:t>本次实验的</a:t>
            </a:r>
            <a:r>
              <a:rPr sz="2400" b="1" dirty="0" err="1">
                <a:solidFill>
                  <a:srgbClr val="192D4E"/>
                </a:solidFill>
                <a:latin typeface="微软雅黑" panose="020B0503020204020204" charset="-122"/>
              </a:rPr>
              <a:t>简化</a:t>
            </a:r>
            <a:r>
              <a:rPr sz="2400" b="1" dirty="0">
                <a:solidFill>
                  <a:srgbClr val="192D4E"/>
                </a:solidFill>
                <a:latin typeface="微软雅黑" panose="020B0503020204020204" charset="-122"/>
              </a:rPr>
              <a:t> KF </a:t>
            </a:r>
            <a:r>
              <a:rPr sz="2400" b="1" dirty="0" err="1">
                <a:solidFill>
                  <a:srgbClr val="192D4E"/>
                </a:solidFill>
                <a:latin typeface="微软雅黑" panose="020B0503020204020204" charset="-122"/>
              </a:rPr>
              <a:t>模型</a:t>
            </a:r>
            <a:endParaRPr sz="2400" b="1" dirty="0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463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400" b="1" dirty="0">
                <a:solidFill>
                  <a:srgbClr val="192D4E"/>
                </a:solidFill>
                <a:latin typeface="微软雅黑" panose="020B0503020204020204" charset="-122"/>
              </a:rPr>
              <a:t>本次实验的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KF </a:t>
            </a: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算法在程序中被整理成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 dense </a:t>
            </a: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矩阵版本：状态维度由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 horizon </a:t>
            </a: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决定，本项目中取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 horizon = dim = 298，steps = 1。为了突出程序优化，模型保留 KF </a:t>
            </a: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的预测和更新结构，但把状态转移和观测关系简化到更直接的矩阵更新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25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182880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65960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6CBE"/>
                </a:solidFill>
                <a:latin typeface="微软雅黑" panose="020B0503020204020204" charset="-122"/>
              </a:rPr>
              <a:t>预测协方差</a:t>
            </a:r>
            <a:endParaRPr sz="11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0" y="1938528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92D4E"/>
                </a:solidFill>
                <a:latin typeface="Consolas" panose="020B0609020204030204"/>
              </a:rPr>
              <a:t>P = P + Q</a:t>
            </a:r>
            <a:endParaRPr sz="1600" b="1">
              <a:solidFill>
                <a:srgbClr val="192D4E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" y="2359152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dirty="0" err="1">
                <a:solidFill>
                  <a:srgbClr val="1C2330"/>
                </a:solidFill>
                <a:latin typeface="微软雅黑" panose="020B0503020204020204" charset="-122"/>
              </a:rPr>
              <a:t>把过程噪声</a:t>
            </a:r>
            <a:r>
              <a:rPr sz="1000" b="0" dirty="0">
                <a:solidFill>
                  <a:srgbClr val="1C2330"/>
                </a:solidFill>
                <a:latin typeface="微软雅黑" panose="020B0503020204020204" charset="-122"/>
              </a:rPr>
              <a:t> Q </a:t>
            </a:r>
            <a:r>
              <a:rPr sz="1000" b="0" dirty="0" err="1">
                <a:solidFill>
                  <a:srgbClr val="1C2330"/>
                </a:solidFill>
                <a:latin typeface="微软雅黑" panose="020B0503020204020204" charset="-122"/>
              </a:rPr>
              <a:t>加到当前协方差</a:t>
            </a:r>
            <a:r>
              <a:rPr sz="100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00" b="0" dirty="0" err="1">
                <a:solidFill>
                  <a:srgbClr val="1C2330"/>
                </a:solidFill>
                <a:latin typeface="微软雅黑" panose="020B0503020204020204" charset="-122"/>
              </a:rPr>
              <a:t>P，表示预测后不确定性增加</a:t>
            </a:r>
            <a:r>
              <a:rPr sz="100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00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65960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6CBE"/>
                </a:solidFill>
                <a:latin typeface="微软雅黑" panose="020B0503020204020204" charset="-122"/>
              </a:rPr>
              <a:t>计算增益</a:t>
            </a:r>
            <a:endParaRPr sz="11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2128" y="1938528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92D4E"/>
                </a:solidFill>
                <a:latin typeface="Consolas" panose="020B0609020204030204"/>
              </a:rPr>
              <a:t>K = P · inv(P + R)</a:t>
            </a:r>
            <a:endParaRPr sz="1600" b="1">
              <a:solidFill>
                <a:srgbClr val="192D4E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3952" y="2359152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C2330"/>
                </a:solidFill>
                <a:latin typeface="微软雅黑" panose="020B0503020204020204" charset="-122"/>
              </a:rPr>
              <a:t>根据预测不确定性 P 和测量噪声 R 得到 Kalman Gain。</a:t>
            </a:r>
            <a:endParaRPr sz="10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3232" y="324612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383279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6CBE"/>
                </a:solidFill>
                <a:latin typeface="微软雅黑" panose="020B0503020204020204" charset="-122"/>
              </a:rPr>
              <a:t>更新状态</a:t>
            </a:r>
            <a:endParaRPr sz="11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0" y="3355848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92D4E"/>
                </a:solidFill>
                <a:latin typeface="Consolas" panose="020B0609020204030204"/>
              </a:rPr>
              <a:t>x = x + K · (z - x)</a:t>
            </a:r>
            <a:endParaRPr sz="1600" b="1">
              <a:solidFill>
                <a:srgbClr val="192D4E"/>
              </a:solidFill>
              <a:latin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7824" y="3776472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C2330"/>
                </a:solidFill>
                <a:latin typeface="微软雅黑" panose="020B0503020204020204" charset="-122"/>
              </a:rPr>
              <a:t>z - x 是测量残差，K 决定修正幅度。</a:t>
            </a:r>
            <a:endParaRPr sz="10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9360" y="324612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383279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6CBE"/>
                </a:solidFill>
                <a:latin typeface="微软雅黑" panose="020B0503020204020204" charset="-122"/>
              </a:rPr>
              <a:t>更新协方差</a:t>
            </a:r>
            <a:endParaRPr sz="11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82128" y="3355848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92D4E"/>
                </a:solidFill>
                <a:latin typeface="Consolas" panose="020B0609020204030204"/>
              </a:rPr>
              <a:t>P = (I - K) · P_old</a:t>
            </a:r>
            <a:endParaRPr sz="1600" b="1">
              <a:solidFill>
                <a:srgbClr val="192D4E"/>
              </a:solidFill>
              <a:latin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73952" y="3776472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C2330"/>
                </a:solidFill>
                <a:latin typeface="微软雅黑" panose="020B0503020204020204" charset="-122"/>
              </a:rPr>
              <a:t>状态被测量修正后，估计不确定性降低。</a:t>
            </a:r>
            <a:endParaRPr sz="10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4892040"/>
            <a:ext cx="10652760" cy="786384"/>
          </a:xfrm>
          <a:prstGeom prst="rect">
            <a:avLst/>
          </a:prstGeom>
          <a:solidFill>
            <a:srgbClr val="EDF4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2"/>
            <a:ext cx="10241280" cy="2381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1" dirty="0">
                <a:solidFill>
                  <a:srgbClr val="192D4E"/>
                </a:solidFill>
                <a:latin typeface="微软雅黑" panose="020B0503020204020204" charset="-122"/>
              </a:rPr>
              <a:t>horizon </a:t>
            </a:r>
            <a:r>
              <a:rPr sz="1220" b="1" dirty="0" err="1">
                <a:solidFill>
                  <a:srgbClr val="192D4E"/>
                </a:solidFill>
                <a:latin typeface="微软雅黑" panose="020B0503020204020204" charset="-122"/>
              </a:rPr>
              <a:t>在接口中是规模参数，在我们的实现里直接作为</a:t>
            </a:r>
            <a:r>
              <a:rPr sz="1220" b="1" dirty="0">
                <a:solidFill>
                  <a:srgbClr val="192D4E"/>
                </a:solidFill>
                <a:latin typeface="微软雅黑" panose="020B0503020204020204" charset="-122"/>
              </a:rPr>
              <a:t> KF </a:t>
            </a:r>
            <a:r>
              <a:rPr sz="1220" b="1" dirty="0" err="1">
                <a:solidFill>
                  <a:srgbClr val="192D4E"/>
                </a:solidFill>
                <a:latin typeface="微软雅黑" panose="020B0503020204020204" charset="-122"/>
              </a:rPr>
              <a:t>状态向量和矩阵的维度</a:t>
            </a:r>
            <a:r>
              <a:rPr sz="1220" b="1" dirty="0">
                <a:solidFill>
                  <a:srgbClr val="192D4E"/>
                </a:solidFill>
                <a:latin typeface="微软雅黑" panose="020B0503020204020204" charset="-122"/>
              </a:rPr>
              <a:t> </a:t>
            </a:r>
            <a:r>
              <a:rPr sz="1220" b="1" dirty="0" err="1">
                <a:solidFill>
                  <a:srgbClr val="192D4E"/>
                </a:solidFill>
                <a:latin typeface="微软雅黑" panose="020B0503020204020204" charset="-122"/>
              </a:rPr>
              <a:t>dim；后续所有优化都保持这组公式和输出</a:t>
            </a:r>
            <a:r>
              <a:rPr sz="1220" b="1" dirty="0">
                <a:solidFill>
                  <a:srgbClr val="192D4E"/>
                </a:solidFill>
                <a:latin typeface="微软雅黑" panose="020B0503020204020204" charset="-122"/>
              </a:rPr>
              <a:t> </a:t>
            </a:r>
            <a:r>
              <a:rPr sz="1220" b="1" dirty="0" err="1">
                <a:solidFill>
                  <a:srgbClr val="192D4E"/>
                </a:solidFill>
                <a:latin typeface="微软雅黑" panose="020B0503020204020204" charset="-122"/>
              </a:rPr>
              <a:t>final_sum</a:t>
            </a:r>
            <a:r>
              <a:rPr sz="1220" b="1" dirty="0">
                <a:solidFill>
                  <a:srgbClr val="192D4E"/>
                </a:solidFill>
                <a:latin typeface="微软雅黑" panose="020B0503020204020204" charset="-122"/>
              </a:rPr>
              <a:t> </a:t>
            </a:r>
            <a:r>
              <a:rPr sz="1220" b="1" dirty="0" err="1">
                <a:solidFill>
                  <a:srgbClr val="192D4E"/>
                </a:solidFill>
                <a:latin typeface="微软雅黑" panose="020B0503020204020204" charset="-122"/>
              </a:rPr>
              <a:t>不变</a:t>
            </a:r>
            <a:r>
              <a:rPr sz="1220" b="1" dirty="0">
                <a:solidFill>
                  <a:srgbClr val="192D4E"/>
                </a:solidFill>
                <a:latin typeface="微软雅黑" panose="020B0503020204020204" charset="-122"/>
              </a:rPr>
              <a:t>。</a:t>
            </a:r>
            <a:endParaRPr sz="1220" b="1" dirty="0">
              <a:solidFill>
                <a:srgbClr val="192D4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流程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简化 KF 程序流程图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097280"/>
            <a:ext cx="1691640" cy="749808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准备输入
测量 z、workspace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0" y="1097280"/>
            <a:ext cx="1691640" cy="749808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接口检查
horizon / input / output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73168" y="1097280"/>
            <a:ext cx="1508760" cy="749808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预测
P = P + Q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01968" y="1097280"/>
            <a:ext cx="1737360" cy="749808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计算 K
P · inv(P + R)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68512" y="1097280"/>
            <a:ext cx="1325880" cy="749808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残差
z - x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87000" y="1097280"/>
            <a:ext cx="1417320" cy="749808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状态更新
x = x + K(z-x)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404872" y="1472184"/>
            <a:ext cx="338328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34840" y="1472184"/>
            <a:ext cx="338328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81928" y="1472184"/>
            <a:ext cx="320040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39327" y="1472184"/>
            <a:ext cx="329185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94392" y="1472184"/>
            <a:ext cx="292608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91088" y="1874519"/>
            <a:ext cx="0" cy="1097281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70848" y="2926080"/>
            <a:ext cx="1920240" cy="777240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协方差更新
P = (I-K)P_old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1737360" cy="777240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循环 step
本实验 steps=1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986784" y="2926080"/>
            <a:ext cx="1600200" cy="777240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92D4E"/>
                </a:solidFill>
                <a:latin typeface="微软雅黑" panose="020B0503020204020204" charset="-122"/>
              </a:rPr>
              <a:t>汇总输出
final_sum</a:t>
            </a:r>
            <a:endParaRPr sz="11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>
            <a:stCxn id="17" idx="1"/>
          </p:cNvCxnSpPr>
          <p:nvPr/>
        </p:nvCxnSpPr>
        <p:spPr>
          <a:xfrm flipH="1" flipV="1">
            <a:off x="8046720" y="3310128"/>
            <a:ext cx="1024255" cy="4445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586984" y="3310128"/>
            <a:ext cx="722376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13232" y="4572000"/>
            <a:ext cx="10972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28032"/>
            <a:ext cx="104698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92D4E"/>
                </a:solidFill>
                <a:latin typeface="微软雅黑" panose="020B0503020204020204" charset="-122"/>
              </a:rPr>
              <a:t>流程中的核心耗时集中在两个 mat_mul：K = P · inv(P+R) 和 P = (I-K) · P_old。因为 dim=298，矩阵乘法访问模式会直接影响 Cache 命中率，这也是后面优化最主要的切入点。</a:t>
            </a:r>
            <a:endParaRPr sz="125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接口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343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zh-CN" sz="2400" b="1">
                <a:solidFill>
                  <a:srgbClr val="192D4E"/>
                </a:solidFill>
                <a:latin typeface="微软雅黑" panose="020B0503020204020204" charset="-122"/>
              </a:rPr>
              <a:t>文件</a:t>
            </a: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与接口完成情况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972800" cy="2277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0" dirty="0" err="1">
                <a:solidFill>
                  <a:srgbClr val="1C2330"/>
                </a:solidFill>
                <a:latin typeface="微软雅黑" panose="020B0503020204020204" charset="-122"/>
              </a:rPr>
              <a:t>三个</a:t>
            </a:r>
            <a:r>
              <a:rPr sz="1230" b="0" dirty="0">
                <a:solidFill>
                  <a:srgbClr val="1C2330"/>
                </a:solidFill>
                <a:latin typeface="微软雅黑" panose="020B0503020204020204" charset="-122"/>
              </a:rPr>
              <a:t> KF </a:t>
            </a:r>
            <a:r>
              <a:rPr sz="1230" b="0" dirty="0" err="1">
                <a:solidFill>
                  <a:srgbClr val="1C2330"/>
                </a:solidFill>
                <a:latin typeface="微软雅黑" panose="020B0503020204020204" charset="-122"/>
              </a:rPr>
              <a:t>接口已经</a:t>
            </a:r>
            <a:r>
              <a:rPr lang="zh-CN" altLang="en-US" sz="1230" b="0" dirty="0">
                <a:solidFill>
                  <a:srgbClr val="1C2330"/>
                </a:solidFill>
                <a:latin typeface="微软雅黑" panose="020B0503020204020204" charset="-122"/>
              </a:rPr>
              <a:t>按</a:t>
            </a:r>
            <a:r>
              <a:rPr sz="1230" b="0" dirty="0" err="1">
                <a:solidFill>
                  <a:srgbClr val="1C2330"/>
                </a:solidFill>
                <a:latin typeface="微软雅黑" panose="020B0503020204020204" charset="-122"/>
              </a:rPr>
              <a:t>要求实现，计时接口独立放在</a:t>
            </a:r>
            <a:r>
              <a:rPr sz="1230" b="0" dirty="0">
                <a:solidFill>
                  <a:srgbClr val="1C2330"/>
                </a:solidFill>
                <a:latin typeface="微软雅黑" panose="020B0503020204020204" charset="-122"/>
              </a:rPr>
              <a:t> timestamp </a:t>
            </a:r>
            <a:r>
              <a:rPr sz="1230" b="0" dirty="0" err="1">
                <a:solidFill>
                  <a:srgbClr val="1C2330"/>
                </a:solidFill>
                <a:latin typeface="微软雅黑" panose="020B0503020204020204" charset="-122"/>
              </a:rPr>
              <a:t>文件中</a:t>
            </a:r>
            <a:r>
              <a:rPr sz="123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23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27080" cy="2197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 err="1">
                <a:solidFill>
                  <a:srgbClr val="1C2330"/>
                </a:solidFill>
                <a:latin typeface="宋体" panose="02010600030101010101" pitchFamily="2" charset="-122"/>
              </a:rPr>
              <a:t>要求接口及完成情况</a:t>
            </a:r>
            <a:endParaRPr sz="1250" b="0" dirty="0">
              <a:solidFill>
                <a:srgbClr val="1C233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27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6080760"/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接口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参数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完成情况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kf_linux_iopointer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int horizon, void *input, void *output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标准计算入口。检查参数后使用外部输入和输出，执行简化 KF，最终写入 output.final_sum。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kf_linux_ioself_profiling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int horizon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自生成输入，调用 iopointer，并用 timestamp 包围计算过程，输出 horizon、耗时、平台、算子、状态和 final_sum。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kf_linux_ioself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int horizon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自生成输入并调用 iopointer，不打印计时信息，适合作为功能正确性入口。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timestamp / timestamp_diff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start, end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封装 clock_gettime 和纳秒差值计算，为 profiling 接口提供统一计时。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773168"/>
            <a:ext cx="1092708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001768"/>
            <a:ext cx="10378440" cy="2260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92D4E"/>
                </a:solidFill>
                <a:latin typeface="微软雅黑" panose="020B0503020204020204" charset="-122"/>
              </a:rPr>
              <a:t>六个文件：kf_linux.h 定义接口；kf_linux.c 实现 KF 主体；kf_linux_test.c 负责测试入口；timestamp.h / timestamp.c 负责计时；readme.txt</a:t>
            </a:r>
            <a:r>
              <a:rPr lang="zh-CN" sz="1150" b="1">
                <a:solidFill>
                  <a:srgbClr val="192D4E"/>
                </a:solidFill>
                <a:latin typeface="微软雅黑" panose="020B0503020204020204" charset="-122"/>
              </a:rPr>
              <a:t>。</a:t>
            </a:r>
            <a:endParaRPr lang="zh-CN" sz="115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路线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整体优化路线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C2330"/>
                </a:solidFill>
                <a:latin typeface="微软雅黑" panose="020B0503020204020204" charset="-122"/>
              </a:rPr>
              <a:t>整体路线分成两层：先把老师的基础 KF 程序整理成可稳定测试的 dense 矩阵主线，再逐步优化 C 代码访问模式，最后利用 ARM Linux 平台上的编译器和存储层次特性继续加速。</a:t>
            </a:r>
            <a:endParaRPr sz="12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685800" y="1874519"/>
            <a:ext cx="2213366" cy="1457583"/>
          </a:xfrm>
          <a:prstGeom prst="rect">
            <a:avLst/>
          </a:prstGeom>
          <a:solidFill>
            <a:srgbClr val="FFFFFF"/>
          </a:solidFill>
          <a:ln w="9525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47754" y="2090458"/>
            <a:ext cx="18894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246CBE"/>
                </a:solidFill>
                <a:latin typeface="微软雅黑" panose="020B0503020204020204" charset="-122"/>
              </a:rPr>
              <a:t>基础实现</a:t>
            </a:r>
            <a:endParaRPr sz="125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80144" y="2554726"/>
            <a:ext cx="1835476" cy="350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完成接口、输入准备、计时与正确性输出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3277060" y="1874519"/>
            <a:ext cx="2213366" cy="1457583"/>
          </a:xfrm>
          <a:prstGeom prst="rect">
            <a:avLst/>
          </a:prstGeom>
          <a:solidFill>
            <a:srgbClr val="FFFFFF"/>
          </a:solidFill>
          <a:ln w="9525">
            <a:solidFill>
              <a:srgbClr val="009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3439013" y="2090458"/>
            <a:ext cx="18894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09AB0"/>
                </a:solidFill>
                <a:latin typeface="微软雅黑" panose="020B0503020204020204" charset="-122"/>
              </a:rPr>
              <a:t>算子层优化</a:t>
            </a:r>
            <a:endParaRPr sz="1250" b="1">
              <a:solidFill>
                <a:srgbClr val="009AB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3471404" y="2554726"/>
            <a:ext cx="1835476" cy="19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改变代码组织和循环访问方式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6192227" y="1874519"/>
            <a:ext cx="2213366" cy="1457583"/>
          </a:xfrm>
          <a:prstGeom prst="rect">
            <a:avLst/>
          </a:prstGeom>
          <a:solidFill>
            <a:srgbClr val="FFFFFF"/>
          </a:solidFill>
          <a:ln w="9525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354180" y="2090458"/>
            <a:ext cx="18894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368F58"/>
                </a:solidFill>
                <a:latin typeface="微软雅黑" panose="020B0503020204020204" charset="-122"/>
              </a:rPr>
              <a:t>ARM 平台优化</a:t>
            </a:r>
            <a:endParaRPr sz="125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6386570" y="2554726"/>
            <a:ext cx="1835476" cy="19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利用编译器、对齐和预取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9215363" y="1874519"/>
            <a:ext cx="2213366" cy="1457583"/>
          </a:xfrm>
          <a:prstGeom prst="rect">
            <a:avLst/>
          </a:prstGeom>
          <a:solidFill>
            <a:srgbClr val="FFFFFF"/>
          </a:solidFill>
          <a:ln w="9525">
            <a:solidFill>
              <a:srgbClr val="D9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9377316" y="2090458"/>
            <a:ext cx="188946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D98435"/>
                </a:solidFill>
                <a:latin typeface="微软雅黑" panose="020B0503020204020204" charset="-122"/>
              </a:rPr>
              <a:t>最终版本</a:t>
            </a:r>
            <a:endParaRPr sz="1250" b="1">
              <a:solidFill>
                <a:srgbClr val="D9843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9409707" y="2554726"/>
            <a:ext cx="1835476" cy="19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70.333 ms，final_sum 一致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>
            <p:custDataLst>
              <p:tags r:id="rId13"/>
            </p:custDataLst>
          </p:nvPr>
        </p:nvCxnSpPr>
        <p:spPr>
          <a:xfrm>
            <a:off x="2899168" y="2597913"/>
            <a:ext cx="377892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>
            <p:custDataLst>
              <p:tags r:id="rId14"/>
            </p:custDataLst>
          </p:nvPr>
        </p:nvCxnSpPr>
        <p:spPr>
          <a:xfrm>
            <a:off x="5490427" y="2597913"/>
            <a:ext cx="701799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>
            <p:custDataLst>
              <p:tags r:id="rId15"/>
            </p:custDataLst>
          </p:nvPr>
        </p:nvCxnSpPr>
        <p:spPr>
          <a:xfrm>
            <a:off x="8405594" y="2597913"/>
            <a:ext cx="809769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算子层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算子层优化：先优化 C 代码本身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C2330"/>
                </a:solidFill>
                <a:latin typeface="微软雅黑" panose="020B0503020204020204" charset="-122"/>
              </a:rPr>
              <a:t>这一部分不依赖 ARM 特定指令，也不先让编译器替我们处理问题，而是直接检查 KF 程序中哪些代码结构会造成额外开销。重点是两类问题：内存反复申请释放，以及 dense 矩阵计算中的访存顺序。</a:t>
            </a:r>
            <a:endParaRPr sz="12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21408"/>
            <a:ext cx="5669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246CBE"/>
                </a:solidFill>
                <a:latin typeface="微软雅黑" panose="020B0503020204020204" charset="-122"/>
              </a:rPr>
              <a:t>01</a:t>
            </a:r>
            <a:endParaRPr sz="20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4480" y="215798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workspace 预分配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3271" y="2788920"/>
            <a:ext cx="2697480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C2330"/>
                </a:solidFill>
                <a:latin typeface="微软雅黑" panose="020B0503020204020204" charset="-122"/>
              </a:rPr>
              <a:t>把 x、P、Q、R、K 和临时矩阵集中放进工作区，减少计算入口的内存管理负担。</a:t>
            </a:r>
            <a:endParaRPr sz="11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80559" y="192024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9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1" y="2121408"/>
            <a:ext cx="5669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009AB0"/>
                </a:solidFill>
                <a:latin typeface="微软雅黑" panose="020B0503020204020204" charset="-122"/>
              </a:rPr>
              <a:t>02</a:t>
            </a:r>
            <a:endParaRPr sz="2000" b="1">
              <a:solidFill>
                <a:srgbClr val="009AB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57799" y="215798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mat_mul 循环顺序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6592" y="2788920"/>
            <a:ext cx="2697480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C2330"/>
                </a:solidFill>
                <a:latin typeface="微软雅黑" panose="020B0503020204020204" charset="-122"/>
              </a:rPr>
              <a:t>把矩阵乘法从 i-j-l 改成 i-l-j，让最内层连续访问 b_row 与 result_row。</a:t>
            </a:r>
            <a:endParaRPr sz="11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83879" y="192024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2121408"/>
            <a:ext cx="5669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368F58"/>
                </a:solidFill>
                <a:latin typeface="微软雅黑" panose="020B0503020204020204" charset="-122"/>
              </a:rPr>
              <a:t>03</a:t>
            </a:r>
            <a:endParaRPr sz="20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1119" y="215798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循环展开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39911" y="2788920"/>
            <a:ext cx="2697480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C2330"/>
                </a:solidFill>
                <a:latin typeface="微软雅黑" panose="020B0503020204020204" charset="-122"/>
              </a:rPr>
              <a:t>对线性数组遍历做 4 路展开，减少循环控制开销，补齐局部热点。</a:t>
            </a:r>
            <a:endParaRPr sz="11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算子层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优化 1：workspace 预分配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621792" y="960120"/>
            <a:ext cx="5303520" cy="2880360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621792" y="960120"/>
            <a:ext cx="5303520" cy="274320"/>
          </a:xfrm>
          <a:prstGeom prst="rect">
            <a:avLst/>
          </a:prstGeom>
          <a:solidFill>
            <a:srgbClr val="BE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94944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优化前：iopointer 内部申请和释放临时数组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94944" y="1307592"/>
            <a:ext cx="5157216" cy="12668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RetCode_t kf_linux_iopointer(...)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double *p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double *q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double *r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double *k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...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free(p); free(q); free(r); free(k);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6263640" y="960120"/>
            <a:ext cx="5303520" cy="2880360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6263640" y="960120"/>
            <a:ext cx="5303520" cy="274320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336792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优化后：输入准备阶段统一创建 workspace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336792" y="1307592"/>
            <a:ext cx="5157216" cy="1583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static RetCode_t create_workspace(size_t dim, KfWorkspace **out)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KfWorkspace *w = calloc(1, sizeof(*w));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w-&gt;p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w-&gt;q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w-&gt;r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w-&gt;k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*out = w;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return K_RET_OK;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" y="4160520"/>
            <a:ext cx="10945368" cy="868680"/>
          </a:xfrm>
          <a:prstGeom prst="rect">
            <a:avLst/>
          </a:prstGeom>
          <a:solidFill>
            <a:srgbClr val="EDF4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52544"/>
            <a:ext cx="1046988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C2330"/>
                </a:solidFill>
                <a:latin typeface="微软雅黑" panose="020B0503020204020204" charset="-122"/>
              </a:rPr>
              <a:t>优化原理：把 KF 运行中反复使用的 x、P、Q、R、K 和临时矩阵集中放进 workspace，避免计算入口承担大量内存申请释放逻辑，也让后续优化可以直接围绕连续数组和工作区展开。由于本实验 steps=1 且矩阵乘法占主导，这一步收益不大，但它让程序结构更清晰。</a:t>
            </a:r>
            <a:endParaRPr sz="108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" y="5321808"/>
            <a:ext cx="10945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449824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性能结果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00784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C2330"/>
                </a:solidFill>
                <a:latin typeface="微软雅黑" panose="020B0503020204020204" charset="-122"/>
              </a:rPr>
              <a:t>526.087</a:t>
            </a:r>
            <a:endParaRPr sz="1500" b="1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5596128"/>
            <a:ext cx="576072" cy="0"/>
          </a:xfrm>
          <a:prstGeom prst="line">
            <a:avLst/>
          </a:prstGeom>
          <a:ln w="1524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94760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6CBE"/>
                </a:solidFill>
                <a:latin typeface="微软雅黑" panose="020B0503020204020204" charset="-122"/>
              </a:rPr>
              <a:t>524.148</a:t>
            </a:r>
            <a:endParaRPr sz="15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2392" y="5422392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368F58"/>
                </a:solidFill>
                <a:latin typeface="微软雅黑" panose="020B0503020204020204" charset="-122"/>
              </a:rPr>
              <a:t>0.37%</a:t>
            </a:r>
            <a:endParaRPr sz="15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76872" y="5477256"/>
            <a:ext cx="445312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667080"/>
                </a:solidFill>
                <a:latin typeface="微软雅黑" panose="020B0503020204020204" charset="-122"/>
              </a:rPr>
              <a:t>final_sum 保持 33407.632487，说明优化没有改变计算结果。</a:t>
            </a:r>
            <a:endParaRPr sz="92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算子层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优化 2：mat_mul 循环顺序优化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792" y="960120"/>
            <a:ext cx="5303520" cy="2852928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960120"/>
            <a:ext cx="5303520" cy="274320"/>
          </a:xfrm>
          <a:prstGeom prst="rect">
            <a:avLst/>
          </a:prstGeom>
          <a:solidFill>
            <a:srgbClr val="BE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优化前：i-j-l，内层访问 b 的列方向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5157216" cy="142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for (size_t i = 0; i &lt; n; i++)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for (size_t j = 0; j &lt; m; j++)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double sum = 0.0;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for (size_t l = 0; l &lt; k_common; l++)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    sum += a[i*k_common+l] * b[l*m+j];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result[i*m+j] = sum;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5303520" cy="2852928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60120"/>
            <a:ext cx="5303520" cy="274320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优化后：i-l-j，内层连续访问 b_row 和 result_row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36792" y="1307592"/>
            <a:ext cx="5157216" cy="1741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memset(result, 0, sizeof(double) * n * m);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for (size_t i = 0; i &lt; n; i++)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double *result_row = result + i * m;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for (size_t l = 0; l &lt; k_common; l++)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double a_value = a[i*k_common+l];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const double *b_row = b + l * m;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for (size_t j = 0; j &lt; m; j++)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    result_row[j] += a_value * b_row[j];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" y="4133087"/>
            <a:ext cx="10945368" cy="896112"/>
          </a:xfrm>
          <a:prstGeom prst="rect">
            <a:avLst/>
          </a:prstGeom>
          <a:solidFill>
            <a:srgbClr val="EDF4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34256"/>
            <a:ext cx="1046988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优化原理：C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的二维矩阵按行连续存储。原来的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i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-j-l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写法在最内层沿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b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的列方向取数，地址跨度为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m，Cache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line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利用率低；改成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i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-l-j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后，b_row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[j]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和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result_row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[j]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都在内层连续前进，同时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a_value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可以在寄存器中复用。KF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C2330"/>
                </a:solidFill>
                <a:latin typeface="微软雅黑" panose="020B0503020204020204" charset="-122"/>
              </a:rPr>
              <a:t>中两次大矩阵乘法都受益，所以这是算子层最大的提升</a:t>
            </a:r>
            <a:r>
              <a:rPr sz="108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08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" y="5321808"/>
            <a:ext cx="10945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449824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性能结果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00784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C2330"/>
                </a:solidFill>
                <a:latin typeface="微软雅黑" panose="020B0503020204020204" charset="-122"/>
              </a:rPr>
              <a:t>524.148</a:t>
            </a:r>
            <a:endParaRPr sz="1500" b="1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5596128"/>
            <a:ext cx="576072" cy="0"/>
          </a:xfrm>
          <a:prstGeom prst="line">
            <a:avLst/>
          </a:prstGeom>
          <a:ln w="1524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94760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6CBE"/>
                </a:solidFill>
                <a:latin typeface="微软雅黑" panose="020B0503020204020204" charset="-122"/>
              </a:rPr>
              <a:t>371.959</a:t>
            </a:r>
            <a:endParaRPr sz="15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2392" y="5422392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368F58"/>
                </a:solidFill>
                <a:latin typeface="微软雅黑" panose="020B0503020204020204" charset="-122"/>
              </a:rPr>
              <a:t>29.04%</a:t>
            </a:r>
            <a:endParaRPr sz="15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76872" y="5477256"/>
            <a:ext cx="445312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667080"/>
                </a:solidFill>
                <a:latin typeface="微软雅黑" panose="020B0503020204020204" charset="-122"/>
              </a:rPr>
              <a:t>final_sum 保持 33407.632487，说明优化没有改变计算结果。</a:t>
            </a:r>
            <a:endParaRPr sz="92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算子层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优化 3：循环展开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792" y="960120"/>
            <a:ext cx="5303520" cy="2697480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960120"/>
            <a:ext cx="5303520" cy="274320"/>
          </a:xfrm>
          <a:prstGeom prst="rect">
            <a:avLst/>
          </a:prstGeom>
          <a:solidFill>
            <a:srgbClr val="BE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优化前：每次循环处理一个元素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5157216" cy="1108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for (size_t i = 0; i &lt; dim; i++)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z_minus_x[i] = z[i] - x[i];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endParaRPr sz="1200"/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for (size_t i = 0; i &lt; total_count; i++)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result[i] = a[i] + b[i];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5303520" cy="2697480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60120"/>
            <a:ext cx="5303520" cy="274320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优化后：4 路展开，尾部循环处理剩余元素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36792" y="1307592"/>
            <a:ext cx="5157216" cy="142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for (; i + 3 &lt; dim; i += 4)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z_minus_x[i]     = z[i]     - x[i];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z_minus_x[i + 1] = z[i + 1] - x[i + 1];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z_minus_x[i + 2] = z[i + 2] - x[i + 2];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z_minus_x[i + 3] = z[i + 3] - x[i + 3];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for (; i &lt; dim; i++)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z_minus_x[i] = z[i] - x[i];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" y="4041648"/>
            <a:ext cx="10945368" cy="987552"/>
          </a:xfrm>
          <a:prstGeom prst="rect">
            <a:avLst/>
          </a:prstGeom>
          <a:solidFill>
            <a:srgbClr val="EDF4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42816"/>
            <a:ext cx="104698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C2330"/>
                </a:solidFill>
                <a:latin typeface="微软雅黑" panose="020B0503020204020204" charset="-122"/>
              </a:rPr>
              <a:t>优化原理：对 mat_add、mat_sub、z_minus_x、x 更新和 final_sum 等简单循环做 4 路展开，减少循环判断、索引递增和分支跳转次数，也给编译器更多指令调度空间。因为主要耗时已经集中在 mat_mul，这一步的收益较小，但它补齐了 KF 中大量线性数组遍历的局部开销。</a:t>
            </a:r>
            <a:endParaRPr sz="108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" y="5321808"/>
            <a:ext cx="10945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449824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性能结果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00784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C2330"/>
                </a:solidFill>
                <a:latin typeface="微软雅黑" panose="020B0503020204020204" charset="-122"/>
              </a:rPr>
              <a:t>371.959</a:t>
            </a:r>
            <a:endParaRPr sz="1500" b="1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5596128"/>
            <a:ext cx="576072" cy="0"/>
          </a:xfrm>
          <a:prstGeom prst="line">
            <a:avLst/>
          </a:prstGeom>
          <a:ln w="1524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94760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6CBE"/>
                </a:solidFill>
                <a:latin typeface="微软雅黑" panose="020B0503020204020204" charset="-122"/>
              </a:rPr>
              <a:t>370.698</a:t>
            </a:r>
            <a:endParaRPr sz="15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2392" y="5422392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368F58"/>
                </a:solidFill>
                <a:latin typeface="微软雅黑" panose="020B0503020204020204" charset="-122"/>
              </a:rPr>
              <a:t>0.34%</a:t>
            </a:r>
            <a:endParaRPr sz="15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76872" y="5477256"/>
            <a:ext cx="445312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667080"/>
                </a:solidFill>
                <a:latin typeface="微软雅黑" panose="020B0503020204020204" charset="-122"/>
              </a:rPr>
              <a:t>final_sum 保持 33407.632487，说明优化没有改变计算结果。</a:t>
            </a:r>
            <a:endParaRPr sz="92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算子层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算子层优化结果总览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2708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C2330"/>
                </a:solidFill>
                <a:latin typeface="宋体" panose="02010600030101010101" pitchFamily="2" charset="-122"/>
              </a:rPr>
              <a:t>算子层性能优化方法及其实验效果</a:t>
            </a:r>
            <a:endParaRPr sz="1250" b="0">
              <a:solidFill>
                <a:srgbClr val="1C233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61872"/>
          <a:ext cx="99669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920240"/>
                <a:gridCol w="2514600"/>
                <a:gridCol w="1965960"/>
                <a:gridCol w="1005840"/>
              </a:tblGrid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算子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平台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执行时间优化前（ms)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优化方法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执行时间优化后(ms)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加速%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ARM Linux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526.086937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workspace 预分配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524.148291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0.37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ARM Linux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524.148291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mat_mul 循环顺序优化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371.959041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29.04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ARM Linux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371.959041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循环展开优化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370.698124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0.34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4069080"/>
            <a:ext cx="2971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78808"/>
            <a:ext cx="2752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算子层总降幅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" y="4453128"/>
            <a:ext cx="275234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368F58"/>
                </a:solidFill>
                <a:latin typeface="微软雅黑" panose="020B0503020204020204" charset="-122"/>
              </a:rPr>
              <a:t>29.54%</a:t>
            </a:r>
            <a:endParaRPr sz="22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4855464"/>
            <a:ext cx="2752344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526.087 ms -&gt; 370.698 ms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41648" y="4069080"/>
            <a:ext cx="2971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1376" y="4178808"/>
            <a:ext cx="2752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最大贡献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1376" y="4453128"/>
            <a:ext cx="275234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246CBE"/>
                </a:solidFill>
                <a:latin typeface="微软雅黑" panose="020B0503020204020204" charset="-122"/>
              </a:rPr>
              <a:t>mat_mul</a:t>
            </a:r>
            <a:endParaRPr sz="22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1376" y="4855464"/>
            <a:ext cx="2752344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循环顺序优化贡献最明显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60336" y="4069080"/>
            <a:ext cx="2971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4178808"/>
            <a:ext cx="2752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正确性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70064" y="4453128"/>
            <a:ext cx="275234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9AB0"/>
                </a:solidFill>
                <a:latin typeface="微软雅黑" panose="020B0503020204020204" charset="-122"/>
              </a:rPr>
              <a:t>一致</a:t>
            </a:r>
            <a:endParaRPr sz="2200" b="1">
              <a:solidFill>
                <a:srgbClr val="009AB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70064" y="4855464"/>
            <a:ext cx="2752344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final_sum = 33407.632487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5504688"/>
            <a:ext cx="9509760" cy="2139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endParaRPr sz="108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ARM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ARM 平台优化：再利用处理器执行特性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4386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这一部分从算子层</a:t>
            </a:r>
            <a:r>
              <a:rPr lang="zh-CN" altLang="en-US" sz="1250" b="0" dirty="0">
                <a:solidFill>
                  <a:srgbClr val="1C2330"/>
                </a:solidFill>
                <a:latin typeface="微软雅黑" panose="020B0503020204020204" charset="-122"/>
              </a:rPr>
              <a:t>向</a:t>
            </a:r>
            <a:r>
              <a:rPr lang="en-US" altLang="zh-CN" sz="1250" dirty="0">
                <a:solidFill>
                  <a:srgbClr val="1C2330"/>
                </a:solidFill>
                <a:latin typeface="微软雅黑" panose="020B0503020204020204" charset="-122"/>
              </a:rPr>
              <a:t>ISA</a:t>
            </a:r>
            <a:r>
              <a:rPr lang="zh-CN" altLang="en-US" sz="1250" dirty="0">
                <a:solidFill>
                  <a:srgbClr val="1C2330"/>
                </a:solidFill>
                <a:latin typeface="微软雅黑" panose="020B0503020204020204" charset="-122"/>
              </a:rPr>
              <a:t>层优化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。KF </a:t>
            </a: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的公式、接口和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 dense </a:t>
            </a: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矩阵流程都不再变化，优化目标转向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 ARM Linux </a:t>
            </a: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平台上的执行效率：让编译器生成更好的机器码，让数据地址更适合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 </a:t>
            </a:r>
            <a:r>
              <a:rPr sz="1250" b="0" dirty="0" err="1">
                <a:solidFill>
                  <a:srgbClr val="1C2330"/>
                </a:solidFill>
                <a:latin typeface="微软雅黑" panose="020B0503020204020204" charset="-122"/>
              </a:rPr>
              <a:t>Cache，让热点循环提前准备后续数据</a:t>
            </a:r>
            <a:r>
              <a:rPr sz="125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25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21408"/>
            <a:ext cx="5669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246CBE"/>
                </a:solidFill>
                <a:latin typeface="微软雅黑" panose="020B0503020204020204" charset="-122"/>
              </a:rPr>
              <a:t>01</a:t>
            </a:r>
            <a:endParaRPr sz="20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4480" y="215798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GCC -O2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3271" y="2788920"/>
            <a:ext cx="2697480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dirty="0" err="1">
                <a:solidFill>
                  <a:srgbClr val="1C2330"/>
                </a:solidFill>
                <a:latin typeface="微软雅黑" panose="020B0503020204020204" charset="-122"/>
              </a:rPr>
              <a:t>源代码不变，通过编译器自动完成寄存器分配、指令调度、公共表达式消除等优化</a:t>
            </a:r>
            <a:r>
              <a:rPr sz="1100" b="0" dirty="0">
                <a:solidFill>
                  <a:srgbClr val="1C2330"/>
                </a:solidFill>
                <a:latin typeface="微软雅黑" panose="020B0503020204020204" charset="-122"/>
              </a:rPr>
              <a:t>。</a:t>
            </a:r>
            <a:endParaRPr sz="110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80559" y="192024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9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1" y="2121408"/>
            <a:ext cx="5669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009AB0"/>
                </a:solidFill>
                <a:latin typeface="微软雅黑" panose="020B0503020204020204" charset="-122"/>
              </a:rPr>
              <a:t>02</a:t>
            </a:r>
            <a:endParaRPr sz="2000" b="1">
              <a:solidFill>
                <a:srgbClr val="009AB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57799" y="215798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数据对齐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6592" y="2788920"/>
            <a:ext cx="2697480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C2330"/>
                </a:solidFill>
                <a:latin typeface="微软雅黑" panose="020B0503020204020204" charset="-122"/>
              </a:rPr>
              <a:t>把高频访问数组按 64 字节对齐，减少跨 Cache line 访问，让连续扫描更稳定。</a:t>
            </a:r>
            <a:endParaRPr sz="11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83879" y="192024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2121408"/>
            <a:ext cx="5669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368F58"/>
                </a:solidFill>
                <a:latin typeface="微软雅黑" panose="020B0503020204020204" charset="-122"/>
              </a:rPr>
              <a:t>03</a:t>
            </a:r>
            <a:endParaRPr sz="20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1119" y="2157984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92D4E"/>
                </a:solidFill>
                <a:latin typeface="微软雅黑" panose="020B0503020204020204" charset="-122"/>
              </a:rPr>
              <a:t>软件预取</a:t>
            </a:r>
            <a:endParaRPr sz="1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39911" y="2788920"/>
            <a:ext cx="2697480" cy="6949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C2330"/>
                </a:solidFill>
                <a:latin typeface="微软雅黑" panose="020B0503020204020204" charset="-122"/>
              </a:rPr>
              <a:t>在 mat_mul 内层提前预取后续 b_row 和 result_row，隐藏一部分内存等待。</a:t>
            </a:r>
            <a:endParaRPr sz="110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ARM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ARM 优化 1：GCC -O2 编译器优化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5074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1417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46CBE"/>
                </a:solidFill>
                <a:latin typeface="微软雅黑" panose="020B0503020204020204" charset="-122"/>
              </a:rPr>
              <a:t>寄存器分配</a:t>
            </a:r>
            <a:endParaRPr sz="115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50008" y="1874519"/>
            <a:ext cx="3246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1C2330"/>
                </a:solidFill>
                <a:latin typeface="微软雅黑" panose="020B0503020204020204" charset="-122"/>
              </a:rPr>
              <a:t>尽量把循环变量、临时值和频繁访问的地址保存在寄存器中，减少内存读写。</a:t>
            </a:r>
            <a:endParaRPr sz="98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36208" y="1737360"/>
            <a:ext cx="5074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92807"/>
            <a:ext cx="1417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46CBE"/>
                </a:solidFill>
                <a:latin typeface="微软雅黑" panose="020B0503020204020204" charset="-122"/>
              </a:rPr>
              <a:t>公共表达式与强度削弱</a:t>
            </a:r>
            <a:endParaRPr sz="115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36408" y="1874519"/>
            <a:ext cx="3246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1C2330"/>
                </a:solidFill>
                <a:latin typeface="微软雅黑" panose="020B0503020204020204" charset="-122"/>
              </a:rPr>
              <a:t>把重复计算的地址、乘法索引等表达式提前或改写，降低循环内部指令数量。</a:t>
            </a:r>
            <a:endParaRPr sz="98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9808" y="2999232"/>
            <a:ext cx="5074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79"/>
            <a:ext cx="1417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46CBE"/>
                </a:solidFill>
                <a:latin typeface="微软雅黑" panose="020B0503020204020204" charset="-122"/>
              </a:rPr>
              <a:t>函数内联与指令调度</a:t>
            </a:r>
            <a:endParaRPr sz="115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50008" y="3136391"/>
            <a:ext cx="3246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1C2330"/>
                </a:solidFill>
                <a:latin typeface="微软雅黑" panose="020B0503020204020204" charset="-122"/>
              </a:rPr>
              <a:t>减少小函数调用成本，并重排指令以更好利用 ARM 流水线。</a:t>
            </a:r>
            <a:endParaRPr sz="98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36208" y="2999232"/>
            <a:ext cx="5074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79"/>
            <a:ext cx="1417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46CBE"/>
                </a:solidFill>
                <a:latin typeface="微软雅黑" panose="020B0503020204020204" charset="-122"/>
              </a:rPr>
              <a:t>死代码和冗余访问消除</a:t>
            </a:r>
            <a:endParaRPr sz="115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36408" y="3136391"/>
            <a:ext cx="3246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>
                <a:solidFill>
                  <a:srgbClr val="1C2330"/>
                </a:solidFill>
                <a:latin typeface="微软雅黑" panose="020B0503020204020204" charset="-122"/>
              </a:rPr>
              <a:t>删掉对结果无影响的中间操作，让热点循环更短。</a:t>
            </a:r>
            <a:endParaRPr sz="98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9808" y="5074920"/>
            <a:ext cx="10625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202936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性能结果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5175504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C2330"/>
                </a:solidFill>
                <a:latin typeface="微软雅黑" panose="020B0503020204020204" charset="-122"/>
              </a:rPr>
              <a:t>370.698</a:t>
            </a:r>
            <a:endParaRPr sz="1500" b="1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236976" y="5349240"/>
            <a:ext cx="576072" cy="0"/>
          </a:xfrm>
          <a:prstGeom prst="line">
            <a:avLst/>
          </a:prstGeom>
          <a:ln w="15240">
            <a:solidFill>
              <a:srgbClr val="368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22776" y="5175504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368F58"/>
                </a:solidFill>
                <a:latin typeface="微软雅黑" panose="020B0503020204020204" charset="-122"/>
              </a:rPr>
              <a:t>89.479</a:t>
            </a:r>
            <a:endParaRPr sz="15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50408" y="5175504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368F58"/>
                </a:solidFill>
                <a:latin typeface="微软雅黑" panose="020B0503020204020204" charset="-122"/>
              </a:rPr>
              <a:t>75.86%</a:t>
            </a:r>
            <a:endParaRPr sz="15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04888" y="5230368"/>
            <a:ext cx="4133087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667080"/>
                </a:solidFill>
                <a:latin typeface="微软雅黑" panose="020B0503020204020204" charset="-122"/>
              </a:rPr>
              <a:t>final_sum 保持 33407.632487，说明优化没有改变计算结果。</a:t>
            </a:r>
            <a:endParaRPr sz="92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ARM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ARM 优化 2：数据对齐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792" y="960120"/>
            <a:ext cx="5303520" cy="2788920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960120"/>
            <a:ext cx="5303520" cy="274320"/>
          </a:xfrm>
          <a:prstGeom prst="rect">
            <a:avLst/>
          </a:prstGeom>
          <a:solidFill>
            <a:srgbClr val="BE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优化前：普通 calloc，地址不保证按 Cache line 对齐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5157216" cy="1108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input-&gt;measurements = calloc(measurement_count,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endParaRPr sz="1200"/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workspace-&gt;p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workspace-&gt;q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workspace-&gt;r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workspace-&gt;k = calloc(matrix_count, sizeof(double));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5303520" cy="2788920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60120"/>
            <a:ext cx="5303520" cy="274320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优化后：64 字节对齐申请高频访问数组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36792" y="1307592"/>
            <a:ext cx="5157216" cy="1583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#define KF_ALIGNMENT_BYTES 64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endParaRPr sz="1200"/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static void *aligned_calloc(size_t count, size_t size)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void *ptr = NULL;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size_t total_size = count * size;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if (posix_memalign(&amp;ptr, 64, total_size) != 0) return NULL;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memset(ptr, 0, total_size);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return ptr;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" y="4069080"/>
            <a:ext cx="10945368" cy="960120"/>
          </a:xfrm>
          <a:prstGeom prst="rect">
            <a:avLst/>
          </a:prstGeom>
          <a:solidFill>
            <a:srgbClr val="EDF4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79392"/>
            <a:ext cx="1046988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C2330"/>
                </a:solidFill>
                <a:latin typeface="微软雅黑" panose="020B0503020204020204" charset="-122"/>
              </a:rPr>
              <a:t>优化原理：ARM 平台上 Cache line 通常以固定字节块搬运数据。把 P、Q、R、K、测量数组和临时矩阵按 64 字节对齐，可以减少跨 Cache line 的拆分访问，让连续矩阵扫描更稳定，也为后续预取提供更整齐的地址边界。</a:t>
            </a:r>
            <a:endParaRPr sz="108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" y="5321808"/>
            <a:ext cx="10945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449824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性能结果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00784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C2330"/>
                </a:solidFill>
                <a:latin typeface="微软雅黑" panose="020B0503020204020204" charset="-122"/>
              </a:rPr>
              <a:t>89.479</a:t>
            </a:r>
            <a:endParaRPr sz="1500" b="1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5596128"/>
            <a:ext cx="576072" cy="0"/>
          </a:xfrm>
          <a:prstGeom prst="line">
            <a:avLst/>
          </a:prstGeom>
          <a:ln w="1524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94760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6CBE"/>
                </a:solidFill>
                <a:latin typeface="微软雅黑" panose="020B0503020204020204" charset="-122"/>
              </a:rPr>
              <a:t>86.529</a:t>
            </a:r>
            <a:endParaRPr sz="15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2392" y="5422392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368F58"/>
                </a:solidFill>
                <a:latin typeface="微软雅黑" panose="020B0503020204020204" charset="-122"/>
              </a:rPr>
              <a:t>3.30%</a:t>
            </a:r>
            <a:endParaRPr sz="15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76872" y="5477256"/>
            <a:ext cx="445312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667080"/>
                </a:solidFill>
                <a:latin typeface="微软雅黑" panose="020B0503020204020204" charset="-122"/>
              </a:rPr>
              <a:t>final_sum 保持 33407.632487，说明优化没有改变计算结果。</a:t>
            </a:r>
            <a:endParaRPr sz="92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ARM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ARM 优化 3：软件预取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792" y="960120"/>
            <a:ext cx="5303520" cy="2606040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960120"/>
            <a:ext cx="5303520" cy="274320"/>
          </a:xfrm>
          <a:prstGeom prst="rect">
            <a:avLst/>
          </a:prstGeom>
          <a:solidFill>
            <a:srgbClr val="BE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优化前：只依赖硬件自动预取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5157216" cy="474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for (; j &lt; m; j++)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result_row[j] += a_value * b_row[j];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5303520" cy="2606040"/>
          </a:xfrm>
          <a:prstGeom prst="rect">
            <a:avLst/>
          </a:prstGeom>
          <a:solidFill>
            <a:srgbClr val="F9FA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60120"/>
            <a:ext cx="5303520" cy="274320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010412"/>
            <a:ext cx="515721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优化后：提前预取后续 b_row 和 result_row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36792" y="1307592"/>
            <a:ext cx="5157216" cy="1583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for (; j + 3 &lt; m; j += 4)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if (j + 16 &lt; m) {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__builtin_prefetch(b_row + j + 16, 0, 1);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    __builtin_prefetch(result_row + j + 16, 1, 1);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result_row[j]     += a_value * b_row[j];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result_row[j + 1] += a_value * b_row[j + 1];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result_row[j + 2] += a_value * b_row[j + 2];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    result_row[j + 3] += a_value * b_row[j + 3];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232A36"/>
                </a:solidFill>
                <a:latin typeface="Consolas" panose="020B0609020204030204"/>
              </a:rPr>
              <a:t>}</a:t>
            </a:r>
            <a:endParaRPr sz="1200">
              <a:solidFill>
                <a:srgbClr val="232A36"/>
              </a:solidFill>
              <a:latin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" y="3977639"/>
            <a:ext cx="10945368" cy="1051560"/>
          </a:xfrm>
          <a:prstGeom prst="rect">
            <a:avLst/>
          </a:prstGeom>
          <a:solidFill>
            <a:srgbClr val="EDF4FC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87952"/>
            <a:ext cx="104698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C2330"/>
                </a:solidFill>
                <a:latin typeface="微软雅黑" panose="020B0503020204020204" charset="-122"/>
              </a:rPr>
              <a:t>优化原理：mat_mul 的内层已经变成连续访问，但矩阵规模较大时仍会不断触发新的 Cache line。使用 __builtin_prefetch 提前把后面要读的 b_row 和要写的 result_row 拉入缓存，可以把一部分内存等待隐藏在当前计算之后；同时保留 4 路展开，增加每次预取之间可执行的计算量。</a:t>
            </a:r>
            <a:endParaRPr sz="108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" y="5321808"/>
            <a:ext cx="10945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449824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性能结果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00784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C2330"/>
                </a:solidFill>
                <a:latin typeface="微软雅黑" panose="020B0503020204020204" charset="-122"/>
              </a:rPr>
              <a:t>86.529</a:t>
            </a:r>
            <a:endParaRPr sz="1500" b="1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5596128"/>
            <a:ext cx="576072" cy="0"/>
          </a:xfrm>
          <a:prstGeom prst="line">
            <a:avLst/>
          </a:prstGeom>
          <a:ln w="1524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94760" y="5422392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6CBE"/>
                </a:solidFill>
                <a:latin typeface="微软雅黑" panose="020B0503020204020204" charset="-122"/>
              </a:rPr>
              <a:t>70.333</a:t>
            </a:r>
            <a:endParaRPr sz="15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2392" y="5422392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368F58"/>
                </a:solidFill>
                <a:latin typeface="微软雅黑" panose="020B0503020204020204" charset="-122"/>
              </a:rPr>
              <a:t>18.72%</a:t>
            </a:r>
            <a:endParaRPr sz="15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76872" y="5477256"/>
            <a:ext cx="445312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20" b="0">
                <a:solidFill>
                  <a:srgbClr val="667080"/>
                </a:solidFill>
                <a:latin typeface="微软雅黑" panose="020B0503020204020204" charset="-122"/>
              </a:rPr>
              <a:t>final_sum 保持 33407.632487，说明优化没有改变计算结果。</a:t>
            </a:r>
            <a:endParaRPr sz="920" b="0">
              <a:solidFill>
                <a:srgbClr val="66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ARM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ARM 平台优化结果总览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2708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C2330"/>
                </a:solidFill>
                <a:latin typeface="宋体" panose="02010600030101010101" pitchFamily="2" charset="-122"/>
              </a:rPr>
              <a:t> ARM 平台性能优化方法及其实验效果</a:t>
            </a:r>
            <a:endParaRPr sz="1250" b="0">
              <a:solidFill>
                <a:srgbClr val="1C233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61872"/>
          <a:ext cx="99669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920240"/>
                <a:gridCol w="2606040"/>
                <a:gridCol w="1874519"/>
                <a:gridCol w="1005840"/>
              </a:tblGrid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算子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平台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执行时间优化前（ms)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优化方法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执行时间优化后(ms)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加速%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ARM Linux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370.698124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GCC -O2 编译器优化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89.478562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75.86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ARM Linux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89.478562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数据对齐优化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86.528937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3.30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KF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ARM Linux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86.528937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软件预取 + mat_mul 内层展开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70.332875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18.72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4069080"/>
            <a:ext cx="2971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78808"/>
            <a:ext cx="2752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ARM 层总降幅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" y="4453128"/>
            <a:ext cx="275234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368F58"/>
                </a:solidFill>
                <a:latin typeface="微软雅黑" panose="020B0503020204020204" charset="-122"/>
              </a:rPr>
              <a:t>81.03%</a:t>
            </a:r>
            <a:endParaRPr sz="22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4855464"/>
            <a:ext cx="2752344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370.698 ms -&gt; 70.333 ms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41648" y="4069080"/>
            <a:ext cx="2971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1376" y="4178808"/>
            <a:ext cx="2752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最大贡献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1376" y="4453128"/>
            <a:ext cx="275234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246CBE"/>
                </a:solidFill>
                <a:latin typeface="微软雅黑" panose="020B0503020204020204" charset="-122"/>
              </a:rPr>
              <a:t>GCC -O2</a:t>
            </a:r>
            <a:endParaRPr sz="22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1376" y="4855464"/>
            <a:ext cx="2752344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自动优化带来 75.86% 加速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5504688"/>
            <a:ext cx="9509760" cy="2139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endParaRPr sz="108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6CBE"/>
                </a:solidFill>
                <a:latin typeface="微软雅黑" panose="020B0503020204020204" charset="-122"/>
              </a:rPr>
              <a:t>结果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420624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92D4E"/>
                </a:solidFill>
                <a:latin typeface="微软雅黑" panose="020B0503020204020204" charset="-122"/>
              </a:rPr>
              <a:t>总体优化结果</a:t>
            </a:r>
            <a:endParaRPr sz="2400" b="1">
              <a:solidFill>
                <a:srgbClr val="192D4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078992"/>
            <a:ext cx="2606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188719"/>
            <a:ext cx="238658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起点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" y="1463039"/>
            <a:ext cx="238658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BE4A44"/>
                </a:solidFill>
                <a:latin typeface="微软雅黑" panose="020B0503020204020204" charset="-122"/>
              </a:rPr>
              <a:t>526.087 ms</a:t>
            </a:r>
            <a:endParaRPr sz="2200" b="1">
              <a:solidFill>
                <a:srgbClr val="BE4A4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2386584" cy="1843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dirty="0" err="1">
                <a:solidFill>
                  <a:srgbClr val="1C2330"/>
                </a:solidFill>
                <a:latin typeface="微软雅黑" panose="020B0503020204020204" charset="-122"/>
              </a:rPr>
              <a:t>接口基础版</a:t>
            </a:r>
            <a:r>
              <a:rPr sz="950" b="0" dirty="0">
                <a:solidFill>
                  <a:srgbClr val="1C2330"/>
                </a:solidFill>
                <a:latin typeface="微软雅黑" panose="020B0503020204020204" charset="-122"/>
              </a:rPr>
              <a:t> dense </a:t>
            </a:r>
            <a:r>
              <a:rPr sz="950" b="0" dirty="0" err="1">
                <a:solidFill>
                  <a:srgbClr val="1C2330"/>
                </a:solidFill>
                <a:latin typeface="微软雅黑" panose="020B0503020204020204" charset="-122"/>
              </a:rPr>
              <a:t>矩阵</a:t>
            </a:r>
            <a:r>
              <a:rPr sz="950" b="0" dirty="0">
                <a:solidFill>
                  <a:srgbClr val="1C2330"/>
                </a:solidFill>
                <a:latin typeface="微软雅黑" panose="020B0503020204020204" charset="-122"/>
              </a:rPr>
              <a:t> KF</a:t>
            </a:r>
            <a:endParaRPr sz="950" b="0" dirty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11880" y="1078992"/>
            <a:ext cx="2606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188719"/>
            <a:ext cx="238658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算子层后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21608" y="1463039"/>
            <a:ext cx="238658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246CBE"/>
                </a:solidFill>
                <a:latin typeface="微软雅黑" panose="020B0503020204020204" charset="-122"/>
              </a:rPr>
              <a:t>370.698 ms</a:t>
            </a:r>
            <a:endParaRPr sz="22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21608" y="1865376"/>
            <a:ext cx="2386584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C 代码结构与循环访问优化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73952" y="1078992"/>
            <a:ext cx="2606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188719"/>
            <a:ext cx="238658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最终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39"/>
            <a:ext cx="238658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368F58"/>
                </a:solidFill>
                <a:latin typeface="微软雅黑" panose="020B0503020204020204" charset="-122"/>
              </a:rPr>
              <a:t>70.333 ms</a:t>
            </a:r>
            <a:endParaRPr sz="2200" b="1">
              <a:solidFill>
                <a:srgbClr val="368F5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1865376"/>
            <a:ext cx="2386584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ARM 平台优化后版本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308592" y="1078992"/>
            <a:ext cx="21488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188719"/>
            <a:ext cx="192938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67080"/>
                </a:solidFill>
                <a:latin typeface="微软雅黑" panose="020B0503020204020204" charset="-122"/>
              </a:rPr>
              <a:t>总体加速</a:t>
            </a:r>
            <a:endParaRPr sz="900" b="1">
              <a:solidFill>
                <a:srgbClr val="66708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18319" y="1463039"/>
            <a:ext cx="192938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9AB0"/>
                </a:solidFill>
                <a:latin typeface="微软雅黑" panose="020B0503020204020204" charset="-122"/>
              </a:rPr>
              <a:t>7.48x</a:t>
            </a:r>
            <a:endParaRPr sz="2200" b="1">
              <a:solidFill>
                <a:srgbClr val="009AB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18319" y="1865376"/>
            <a:ext cx="1929384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C2330"/>
                </a:solidFill>
                <a:latin typeface="微软雅黑" panose="020B0503020204020204" charset="-122"/>
              </a:rPr>
              <a:t>执行时间降低约 86.63%</a:t>
            </a:r>
            <a:endParaRPr sz="950" b="0">
              <a:solidFill>
                <a:srgbClr val="1C2330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355848" y="1645920"/>
            <a:ext cx="256032" cy="0"/>
          </a:xfrm>
          <a:prstGeom prst="line">
            <a:avLst/>
          </a:prstGeom>
          <a:ln w="19050">
            <a:solidFill>
              <a:srgbClr val="24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17920" y="1645920"/>
            <a:ext cx="256032" cy="0"/>
          </a:xfrm>
          <a:prstGeom prst="line">
            <a:avLst/>
          </a:prstGeom>
          <a:ln w="19050">
            <a:solidFill>
              <a:srgbClr val="368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2880360"/>
            <a:ext cx="10561320" cy="2432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C2330"/>
                </a:solidFill>
                <a:latin typeface="宋体" panose="02010600030101010101" pitchFamily="2" charset="-122"/>
              </a:rPr>
              <a:t>主线优化结果汇总</a:t>
            </a:r>
            <a:endParaRPr sz="1250" b="0">
              <a:solidFill>
                <a:srgbClr val="1C233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49808" y="3227832"/>
          <a:ext cx="10561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1920240"/>
                <a:gridCol w="4251960"/>
              </a:tblGrid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阶段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执行时间(ms)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相对上一阶段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2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主要原因</a:t>
                      </a:r>
                      <a:endParaRPr sz="102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基础版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526.086937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-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 dirty="0" err="1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完成KF</a:t>
                      </a:r>
                      <a:r>
                        <a:rPr sz="980" b="0" dirty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 </a:t>
                      </a:r>
                      <a:r>
                        <a:rPr sz="980" b="0" dirty="0" err="1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接口和</a:t>
                      </a:r>
                      <a:r>
                        <a:rPr sz="980" b="0" dirty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 dense </a:t>
                      </a:r>
                      <a:r>
                        <a:rPr sz="980" b="0" dirty="0" err="1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矩阵流程</a:t>
                      </a:r>
                      <a:endParaRPr sz="980" b="0" dirty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算子层最终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370.698124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29.54%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mat_mul 访问模式从跨行变成连续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ARM 层最终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70.332875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81.03%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编译器优化、数据对齐、软件预取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总体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526.086937 -&gt; 70.332875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7.48x</a:t>
                      </a:r>
                      <a:endParaRPr sz="980" b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80" b="0" dirty="0" err="1">
                          <a:solidFill>
                            <a:srgbClr val="1C2330"/>
                          </a:solidFill>
                          <a:latin typeface="微软雅黑" panose="020B0503020204020204" charset="-122"/>
                        </a:rPr>
                        <a:t>算法结果保持一致，性能逐层提升</a:t>
                      </a:r>
                      <a:endParaRPr sz="980" b="0" dirty="0">
                        <a:solidFill>
                          <a:srgbClr val="1C2330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lnL w="6350">
                      <a:solidFill>
                        <a:srgbClr val="C8CDD6"/>
                      </a:solidFill>
                      <a:prstDash val="solid"/>
                    </a:lnL>
                    <a:lnR w="6350">
                      <a:solidFill>
                        <a:srgbClr val="C8CDD6"/>
                      </a:solidFill>
                      <a:prstDash val="solid"/>
                    </a:lnR>
                    <a:lnT w="6350">
                      <a:solidFill>
                        <a:srgbClr val="C8CDD6"/>
                      </a:solidFill>
                      <a:prstDash val="solid"/>
                    </a:lnT>
                    <a:lnB w="6350">
                      <a:solidFill>
                        <a:srgbClr val="C8C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24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46CBE"/>
                </a:solidFill>
                <a:latin typeface="微软雅黑" panose="020B0503020204020204" charset="-122"/>
              </a:rPr>
              <a:t>总结</a:t>
            </a:r>
            <a:endParaRPr sz="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94005" y="603250"/>
            <a:ext cx="11515090" cy="59601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005840"/>
            <a:ext cx="1028700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r>
              <a:rPr sz="1500" b="1" dirty="0" err="1">
                <a:solidFill>
                  <a:srgbClr val="1F2937"/>
                </a:solidFill>
                <a:latin typeface="微软雅黑" panose="020B0503020204020204" charset="-122"/>
              </a:rPr>
              <a:t>核心结论：按“接口正确</a:t>
            </a:r>
            <a:r>
              <a:rPr sz="1500" b="1" dirty="0">
                <a:solidFill>
                  <a:srgbClr val="1F2937"/>
                </a:solidFill>
                <a:latin typeface="微软雅黑" panose="020B0503020204020204" charset="-122"/>
              </a:rPr>
              <a:t> → </a:t>
            </a:r>
            <a:r>
              <a:rPr sz="1500" b="1" dirty="0" err="1">
                <a:solidFill>
                  <a:srgbClr val="1F2937"/>
                </a:solidFill>
                <a:latin typeface="微软雅黑" panose="020B0503020204020204" charset="-122"/>
              </a:rPr>
              <a:t>热点定位</a:t>
            </a:r>
            <a:r>
              <a:rPr sz="1500" b="1" dirty="0">
                <a:solidFill>
                  <a:srgbClr val="1F2937"/>
                </a:solidFill>
                <a:latin typeface="微软雅黑" panose="020B0503020204020204" charset="-122"/>
              </a:rPr>
              <a:t> → </a:t>
            </a:r>
            <a:r>
              <a:rPr sz="1500" b="1" dirty="0" err="1">
                <a:solidFill>
                  <a:srgbClr val="1F2937"/>
                </a:solidFill>
                <a:latin typeface="微软雅黑" panose="020B0503020204020204" charset="-122"/>
              </a:rPr>
              <a:t>分层优化</a:t>
            </a:r>
            <a:r>
              <a:rPr sz="1500" b="1" dirty="0">
                <a:solidFill>
                  <a:srgbClr val="1F2937"/>
                </a:solidFill>
                <a:latin typeface="微软雅黑" panose="020B0503020204020204" charset="-122"/>
              </a:rPr>
              <a:t> → </a:t>
            </a:r>
            <a:r>
              <a:rPr sz="1500" b="1" dirty="0" err="1">
                <a:solidFill>
                  <a:srgbClr val="1F2937"/>
                </a:solidFill>
                <a:latin typeface="微软雅黑" panose="020B0503020204020204" charset="-122"/>
              </a:rPr>
              <a:t>结果</a:t>
            </a:r>
            <a:r>
              <a:rPr lang="zh-CN" altLang="en-US" sz="1500" b="1">
                <a:solidFill>
                  <a:srgbClr val="1F2937"/>
                </a:solidFill>
                <a:latin typeface="微软雅黑" panose="020B0503020204020204" charset="-122"/>
              </a:rPr>
              <a:t>对拍</a:t>
            </a:r>
            <a:r>
              <a:rPr sz="1500" b="1">
                <a:solidFill>
                  <a:srgbClr val="1F2937"/>
                </a:solidFill>
                <a:latin typeface="微软雅黑" panose="020B0503020204020204" charset="-122"/>
              </a:rPr>
              <a:t>”</a:t>
            </a:r>
            <a:r>
              <a:rPr sz="1500" b="1" dirty="0" err="1">
                <a:solidFill>
                  <a:srgbClr val="1F2937"/>
                </a:solidFill>
                <a:latin typeface="微软雅黑" panose="020B0503020204020204" charset="-122"/>
              </a:rPr>
              <a:t>的顺序，把</a:t>
            </a:r>
            <a:r>
              <a:rPr sz="1500" b="1" dirty="0">
                <a:solidFill>
                  <a:srgbClr val="1F2937"/>
                </a:solidFill>
                <a:latin typeface="微软雅黑" panose="020B0503020204020204" charset="-122"/>
              </a:rPr>
              <a:t> KF dense </a:t>
            </a:r>
            <a:r>
              <a:rPr sz="1500" b="1" dirty="0" err="1">
                <a:solidFill>
                  <a:srgbClr val="1F2937"/>
                </a:solidFill>
                <a:latin typeface="微软雅黑" panose="020B0503020204020204" charset="-122"/>
              </a:rPr>
              <a:t>矩阵代码一步步改得更适合</a:t>
            </a:r>
            <a:r>
              <a:rPr sz="1500" b="1" dirty="0">
                <a:solidFill>
                  <a:srgbClr val="1F2937"/>
                </a:solidFill>
                <a:latin typeface="微软雅黑" panose="020B0503020204020204" charset="-122"/>
              </a:rPr>
              <a:t> ARM </a:t>
            </a:r>
            <a:r>
              <a:rPr sz="1500" b="1" dirty="0" err="1">
                <a:solidFill>
                  <a:srgbClr val="1F2937"/>
                </a:solidFill>
                <a:latin typeface="微软雅黑" panose="020B0503020204020204" charset="-122"/>
              </a:rPr>
              <a:t>执行</a:t>
            </a:r>
            <a:r>
              <a:rPr sz="1500" b="1" dirty="0">
                <a:solidFill>
                  <a:srgbClr val="1F2937"/>
                </a:solidFill>
                <a:latin typeface="微软雅黑" panose="020B0503020204020204" charset="-122"/>
              </a:rPr>
              <a:t>。</a:t>
            </a:r>
            <a:endParaRPr sz="1500" b="1" dirty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32688" y="1572768"/>
            <a:ext cx="10287000" cy="841248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C7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737360"/>
            <a:ext cx="347472" cy="347472"/>
          </a:xfrm>
          <a:prstGeom prst="ellipse">
            <a:avLst/>
          </a:prstGeom>
          <a:solidFill>
            <a:srgbClr val="246CBE"/>
          </a:solidFill>
          <a:ln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1682495"/>
            <a:ext cx="9500616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1350" b="1">
                <a:solidFill>
                  <a:srgbClr val="1C4885"/>
                </a:solidFill>
                <a:latin typeface="微软雅黑" panose="020B0503020204020204" charset="-122"/>
              </a:rPr>
              <a:t>正确性是底线：每一步只改变一个因素</a:t>
            </a:r>
            <a:endParaRPr sz="1350" b="1">
              <a:solidFill>
                <a:srgbClr val="1C488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54480" y="1993392"/>
            <a:ext cx="9500616" cy="338328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r>
              <a:rPr sz="1180" b="0">
                <a:solidFill>
                  <a:srgbClr val="404958"/>
                </a:solidFill>
                <a:latin typeface="微软雅黑" panose="020B0503020204020204" charset="-122"/>
              </a:rPr>
              <a:t>老师源码中 horizon 实际对应 dim；dense 主线统一保持 dim=298、steps=1。所有成功版本 final_sum 都保持 33407.632487，用结果对拍证明优化没有改变 KF 数学含义。</a:t>
            </a:r>
            <a:endParaRPr sz="1180" b="0">
              <a:solidFill>
                <a:srgbClr val="40495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32688" y="2542032"/>
            <a:ext cx="10287000" cy="841248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C7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706624"/>
            <a:ext cx="347472" cy="347472"/>
          </a:xfrm>
          <a:prstGeom prst="ellipse">
            <a:avLst/>
          </a:prstGeom>
          <a:solidFill>
            <a:srgbClr val="246CBE"/>
          </a:solidFill>
          <a:ln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54480" y="2651760"/>
            <a:ext cx="9500616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1350" b="1">
                <a:solidFill>
                  <a:srgbClr val="1C4885"/>
                </a:solidFill>
                <a:latin typeface="微软雅黑" panose="020B0503020204020204" charset="-122"/>
              </a:rPr>
              <a:t>算子层抓主要矛盾：矩阵乘法的访问模式</a:t>
            </a:r>
            <a:endParaRPr sz="1350" b="1">
              <a:solidFill>
                <a:srgbClr val="1C4885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656"/>
            <a:ext cx="9500616" cy="338328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r>
              <a:rPr sz="1180" b="0">
                <a:solidFill>
                  <a:srgbClr val="404958"/>
                </a:solidFill>
                <a:latin typeface="微软雅黑" panose="020B0503020204020204" charset="-122"/>
              </a:rPr>
              <a:t>workspace 让代码结构更清楚；真正明显的收益来自 mat_mul 循环顺序优化，把 i-j-l 改成 i-l-j，让 b_row 和 result_row 在内层连续访问，减少 Cache 不友好的跨行访存。</a:t>
            </a:r>
            <a:endParaRPr sz="1180" b="0">
              <a:solidFill>
                <a:srgbClr val="404958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32688" y="3511296"/>
            <a:ext cx="10287000" cy="841248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C7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3675887"/>
            <a:ext cx="347472" cy="347472"/>
          </a:xfrm>
          <a:prstGeom prst="ellipse">
            <a:avLst/>
          </a:prstGeom>
          <a:solidFill>
            <a:srgbClr val="246CBE"/>
          </a:solidFill>
          <a:ln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54480" y="3621024"/>
            <a:ext cx="9500616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1350" b="1">
                <a:solidFill>
                  <a:srgbClr val="1C4885"/>
                </a:solidFill>
                <a:latin typeface="微软雅黑" panose="020B0503020204020204" charset="-122"/>
              </a:rPr>
              <a:t>ARM 层继续压缩执行开销：编译器 + Cache</a:t>
            </a:r>
            <a:endParaRPr sz="1350" b="1">
              <a:solidFill>
                <a:srgbClr val="1C4885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4480" y="3931920"/>
            <a:ext cx="9500616" cy="338328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r>
              <a:rPr sz="1180" b="0">
                <a:solidFill>
                  <a:srgbClr val="404958"/>
                </a:solidFill>
                <a:latin typeface="微软雅黑" panose="020B0503020204020204" charset="-122"/>
              </a:rPr>
              <a:t>GCC -O2 负责寄存器分配、指令调度和冗余访问消除；64 字节对齐让数组访问更规整；软件预取提前加载后续数据，进一步降低矩阵乘法中的访存等待。</a:t>
            </a:r>
            <a:endParaRPr sz="1180" b="0">
              <a:solidFill>
                <a:srgbClr val="404958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32688" y="4617720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81728"/>
            <a:ext cx="2185415" cy="20116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950" b="1">
                <a:solidFill>
                  <a:srgbClr val="5B6779"/>
                </a:solidFill>
                <a:latin typeface="微软雅黑" panose="020B0503020204020204" charset="-122"/>
              </a:rPr>
              <a:t>算子层总降幅</a:t>
            </a:r>
            <a:endParaRPr sz="950" b="1">
              <a:solidFill>
                <a:srgbClr val="5B677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4901183"/>
            <a:ext cx="2185415" cy="3383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800" b="1">
                <a:solidFill>
                  <a:srgbClr val="246CBE"/>
                </a:solidFill>
                <a:latin typeface="微软雅黑" panose="020B0503020204020204" charset="-122"/>
              </a:rPr>
              <a:t>29.54%</a:t>
            </a:r>
            <a:endParaRPr sz="1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2185415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微软雅黑" panose="020B0503020204020204" charset="-122"/>
              </a:rPr>
              <a:t>526.087 → 370.698 ms</a:t>
            </a:r>
            <a:endParaRPr sz="850" b="0">
              <a:solidFill>
                <a:srgbClr val="5B6779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538728" y="4617720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4681728"/>
            <a:ext cx="2185415" cy="20116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950" b="1">
                <a:solidFill>
                  <a:srgbClr val="5B6779"/>
                </a:solidFill>
                <a:latin typeface="微软雅黑" panose="020B0503020204020204" charset="-122"/>
              </a:rPr>
              <a:t>ARM 层总降幅</a:t>
            </a:r>
            <a:endParaRPr sz="950" b="1">
              <a:solidFill>
                <a:srgbClr val="5B677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11880" y="4901183"/>
            <a:ext cx="2185415" cy="3383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800" b="1">
                <a:solidFill>
                  <a:srgbClr val="246CBE"/>
                </a:solidFill>
                <a:latin typeface="微软雅黑" panose="020B0503020204020204" charset="-122"/>
              </a:rPr>
              <a:t>81.03%</a:t>
            </a:r>
            <a:endParaRPr sz="1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11880" y="5257800"/>
            <a:ext cx="2185415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微软雅黑" panose="020B0503020204020204" charset="-122"/>
              </a:rPr>
              <a:t>370.698 → 70.333 ms</a:t>
            </a:r>
            <a:endParaRPr sz="850" b="0">
              <a:solidFill>
                <a:srgbClr val="5B6779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44768" y="4617720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681728"/>
            <a:ext cx="2185415" cy="20116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950" b="1">
                <a:solidFill>
                  <a:srgbClr val="5B6779"/>
                </a:solidFill>
                <a:latin typeface="微软雅黑" panose="020B0503020204020204" charset="-122"/>
              </a:rPr>
              <a:t>最终加速比</a:t>
            </a:r>
            <a:endParaRPr sz="950" b="1">
              <a:solidFill>
                <a:srgbClr val="5B6779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7920" y="4901183"/>
            <a:ext cx="2185415" cy="3383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800" b="1">
                <a:solidFill>
                  <a:srgbClr val="246CBE"/>
                </a:solidFill>
                <a:latin typeface="微软雅黑" panose="020B0503020204020204" charset="-122"/>
              </a:rPr>
              <a:t>7.48×</a:t>
            </a:r>
            <a:endParaRPr sz="1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7920" y="5257800"/>
            <a:ext cx="2185415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微软雅黑" panose="020B0503020204020204" charset="-122"/>
              </a:rPr>
              <a:t>526.087 → 70.333 ms</a:t>
            </a:r>
            <a:endParaRPr sz="850" b="0">
              <a:solidFill>
                <a:srgbClr val="5B6779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750808" y="461772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4681728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950" b="1">
                <a:solidFill>
                  <a:srgbClr val="5B6779"/>
                </a:solidFill>
                <a:latin typeface="微软雅黑" panose="020B0503020204020204" charset="-122"/>
              </a:rPr>
              <a:t>结果一致性</a:t>
            </a:r>
            <a:endParaRPr sz="950" b="1">
              <a:solidFill>
                <a:srgbClr val="5B6779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23960" y="4901183"/>
            <a:ext cx="2322576" cy="33832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800" b="1">
                <a:solidFill>
                  <a:srgbClr val="246CBE"/>
                </a:solidFill>
                <a:latin typeface="微软雅黑" panose="020B0503020204020204" charset="-122"/>
              </a:rPr>
              <a:t>final_sum</a:t>
            </a:r>
            <a:endParaRPr sz="1800" b="1">
              <a:solidFill>
                <a:srgbClr val="246CBE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23960" y="5257800"/>
            <a:ext cx="2322576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微软雅黑" panose="020B0503020204020204" charset="-122"/>
              </a:rPr>
              <a:t>33407.632487</a:t>
            </a:r>
            <a:endParaRPr sz="850" b="0">
              <a:solidFill>
                <a:srgbClr val="5B6779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32688" y="5687568"/>
            <a:ext cx="10287000" cy="292608"/>
          </a:xfrm>
          <a:prstGeom prst="roundRect">
            <a:avLst/>
          </a:prstGeom>
          <a:solidFill>
            <a:srgbClr val="246CBE"/>
          </a:solidFill>
          <a:ln>
            <a:solidFill>
              <a:srgbClr val="24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728716"/>
            <a:ext cx="10104120" cy="20116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2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3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4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5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6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7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8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9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0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1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2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3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4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5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6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7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8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19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20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21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22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23.xml><?xml version="1.0" encoding="utf-8"?>
<p:tagLst xmlns:p="http://schemas.openxmlformats.org/presentationml/2006/main">
  <p:tag name="KSO_WM_DIAGRAM_VIRTUALLY_FRAME" val="{&quot;height&quot;:322.56000000000006,&quot;left&quot;:51.839999999999996,&quot;top&quot;:90,&quot;width&quot;:835.2}"/>
</p:tagLst>
</file>

<file path=ppt/tags/tag24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25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26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27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28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29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0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1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2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3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4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5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6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7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8.xml><?xml version="1.0" encoding="utf-8"?>
<p:tagLst xmlns:p="http://schemas.openxmlformats.org/presentationml/2006/main">
  <p:tag name="KSO_WM_DIAGRAM_VIRTUALLY_FRAME" val="{&quot;height&quot;:147.95000000000002,&quot;left&quot;:54,&quot;top&quot;:147.59992125984252,&quot;width&quot;:845.8999212598426}"/>
</p:tagLst>
</file>

<file path=ppt/tags/tag39.xml><?xml version="1.0" encoding="utf-8"?>
<p:tagLst xmlns:p="http://schemas.openxmlformats.org/presentationml/2006/main">
  <p:tag name="KSO_WM_DIAGRAM_VIRTUALLY_FRAME" val="{&quot;height&quot;:226.8,&quot;left&quot;:48.959999999999994,&quot;top&quot;:75.6,&quot;width&quot;:861.8399999999999}"/>
</p:tagLst>
</file>

<file path=ppt/tags/tag40.xml><?xml version="1.0" encoding="utf-8"?>
<p:tagLst xmlns:p="http://schemas.openxmlformats.org/presentationml/2006/main">
  <p:tag name="KSO_WM_DIAGRAM_VIRTUALLY_FRAME" val="{&quot;height&quot;:226.8,&quot;left&quot;:48.959999999999994,&quot;top&quot;:75.6,&quot;width&quot;:861.8399999999999}"/>
</p:tagLst>
</file>

<file path=ppt/tags/tag41.xml><?xml version="1.0" encoding="utf-8"?>
<p:tagLst xmlns:p="http://schemas.openxmlformats.org/presentationml/2006/main">
  <p:tag name="KSO_WM_DIAGRAM_VIRTUALLY_FRAME" val="{&quot;height&quot;:226.8,&quot;left&quot;:48.959999999999994,&quot;top&quot;:75.6,&quot;width&quot;:861.8399999999999}"/>
</p:tagLst>
</file>

<file path=ppt/tags/tag42.xml><?xml version="1.0" encoding="utf-8"?>
<p:tagLst xmlns:p="http://schemas.openxmlformats.org/presentationml/2006/main">
  <p:tag name="KSO_WM_DIAGRAM_VIRTUALLY_FRAME" val="{&quot;height&quot;:226.8,&quot;left&quot;:48.959999999999994,&quot;top&quot;:75.6,&quot;width&quot;:861.8399999999999}"/>
</p:tagLst>
</file>

<file path=ppt/tags/tag43.xml><?xml version="1.0" encoding="utf-8"?>
<p:tagLst xmlns:p="http://schemas.openxmlformats.org/presentationml/2006/main">
  <p:tag name="KSO_WM_DIAGRAM_VIRTUALLY_FRAME" val="{&quot;height&quot;:226.8,&quot;left&quot;:48.959999999999994,&quot;top&quot;:75.6,&quot;width&quot;:861.8399999999999}"/>
</p:tagLst>
</file>

<file path=ppt/tags/tag44.xml><?xml version="1.0" encoding="utf-8"?>
<p:tagLst xmlns:p="http://schemas.openxmlformats.org/presentationml/2006/main">
  <p:tag name="KSO_WM_DIAGRAM_VIRTUALLY_FRAME" val="{&quot;height&quot;:226.8,&quot;left&quot;:48.959999999999994,&quot;top&quot;:75.6,&quot;width&quot;:861.8399999999999}"/>
</p:tagLst>
</file>

<file path=ppt/tags/tag45.xml><?xml version="1.0" encoding="utf-8"?>
<p:tagLst xmlns:p="http://schemas.openxmlformats.org/presentationml/2006/main">
  <p:tag name="KSO_WM_DIAGRAM_VIRTUALLY_FRAME" val="{&quot;height&quot;:226.8,&quot;left&quot;:48.959999999999994,&quot;top&quot;:75.6,&quot;width&quot;:861.8399999999999}"/>
</p:tagLst>
</file>

<file path=ppt/tags/tag46.xml><?xml version="1.0" encoding="utf-8"?>
<p:tagLst xmlns:p="http://schemas.openxmlformats.org/presentationml/2006/main">
  <p:tag name="KSO_WM_DIAGRAM_VIRTUALLY_FRAME" val="{&quot;height&quot;:226.8,&quot;left&quot;:48.959999999999994,&quot;top&quot;:75.6,&quot;width&quot;:861.83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8272</Words>
  <Application>WPS 演示</Application>
  <PresentationFormat>宽屏</PresentationFormat>
  <Paragraphs>738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仔</cp:lastModifiedBy>
  <cp:revision>10</cp:revision>
  <dcterms:created xsi:type="dcterms:W3CDTF">2013-01-27T09:14:00Z</dcterms:created>
  <dcterms:modified xsi:type="dcterms:W3CDTF">2026-06-06T09:15:34Z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A0A4401479564EA09E35438D1400AF6F_13</vt:lpwstr>
  </property>
</Properties>
</file>