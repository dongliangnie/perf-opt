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3"/>
  </p:handoutMasterIdLst>
  <p:sldIdLst>
    <p:sldId id="633" r:id="rId3"/>
    <p:sldId id="634" r:id="rId5"/>
    <p:sldId id="631" r:id="rId6"/>
    <p:sldId id="654" r:id="rId7"/>
    <p:sldId id="632" r:id="rId8"/>
    <p:sldId id="635" r:id="rId9"/>
    <p:sldId id="636" r:id="rId10"/>
    <p:sldId id="652" r:id="rId11"/>
    <p:sldId id="647" r:id="rId12"/>
    <p:sldId id="646" r:id="rId13"/>
    <p:sldId id="648" r:id="rId14"/>
    <p:sldId id="639" r:id="rId15"/>
    <p:sldId id="640" r:id="rId16"/>
    <p:sldId id="642" r:id="rId17"/>
    <p:sldId id="641" r:id="rId18"/>
    <p:sldId id="643" r:id="rId19"/>
    <p:sldId id="649" r:id="rId20"/>
    <p:sldId id="644" r:id="rId21"/>
    <p:sldId id="65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1" userDrawn="1">
          <p15:clr>
            <a:srgbClr val="A4A3A4"/>
          </p15:clr>
        </p15:guide>
        <p15:guide id="2" pos="386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sus2" initials="a" lastIdx="12" clrIdx="0"/>
  <p:cmAuthor id="1" name="支小莉" initials="支小莉" lastIdx="1" clrIdx="0"/>
  <p:cmAuthor id="2" name="陈 程" initials="陈"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B"/>
    <a:srgbClr val="F5FAF1"/>
    <a:srgbClr val="F5FAFE"/>
    <a:srgbClr val="F7FBFE"/>
    <a:srgbClr val="F0F0F0"/>
    <a:srgbClr val="FFFCF3"/>
    <a:srgbClr val="F7FB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94660"/>
  </p:normalViewPr>
  <p:slideViewPr>
    <p:cSldViewPr snapToGrid="0" showGuides="1">
      <p:cViewPr varScale="1">
        <p:scale>
          <a:sx n="73" d="100"/>
          <a:sy n="73" d="100"/>
        </p:scale>
        <p:origin x="306" y="42"/>
      </p:cViewPr>
      <p:guideLst>
        <p:guide orient="horz" pos="2281"/>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606585-1C82-4249-9E18-BDA40079DD2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CD23D8-31E4-4E4E-B9F6-C9829AE0A88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均方误差（</a:t>
            </a:r>
            <a:r>
              <a:rPr lang="en-US" altLang="zh-CN"/>
              <a:t>MSE）</a:t>
            </a:r>
            <a:r>
              <a:rPr lang="zh-CN" altLang="en-US"/>
              <a:t>达到理论上的最小值</a:t>
            </a:r>
            <a:br>
              <a:rPr lang="zh-CN" altLang="en-US"/>
            </a:br>
            <a:r>
              <a:rPr lang="zh-CN" altLang="en-US"/>
              <a:t>线性 + 高斯噪声 → 卡尔曼滤波能算出 “均值误差最小” 的最优估计</a:t>
            </a:r>
            <a:br>
              <a:rPr lang="zh-CN" altLang="en-US"/>
            </a:br>
            <a:r>
              <a:rPr lang="zh-CN" altLang="en-US"/>
              <a:t>惯性测量单元</a:t>
            </a:r>
            <a:endParaRPr lang="zh-CN" altLang="en-US"/>
          </a:p>
          <a:p>
            <a:r>
              <a:rPr lang="zh-CN" altLang="en-US"/>
              <a:t>三轴加速度计：测量物体在三维空间里的线加速度（比如前后、左右、上下的运动）</a:t>
            </a:r>
            <a:endParaRPr lang="zh-CN" altLang="en-US"/>
          </a:p>
          <a:p>
            <a:r>
              <a:rPr lang="zh-CN" altLang="en-US"/>
              <a:t>三轴陀螺仪：测量物体的旋转角速度（比如翻滚、俯仰、转向的速度）部分高端型号还会集成磁力计（也叫电子罗盘），用来辅助修正方向误差。</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卡尔曼滤波的过程分为两个关键阶段：预测（</a:t>
            </a:r>
            <a:r>
              <a:rPr lang="en-US" altLang="zh-CN"/>
              <a:t>Prediction）</a:t>
            </a:r>
            <a:r>
              <a:rPr lang="zh-CN" altLang="en-US"/>
              <a:t>和更新（</a:t>
            </a:r>
            <a:r>
              <a:rPr lang="en-US" altLang="zh-CN"/>
              <a:t>Update），</a:t>
            </a:r>
            <a:r>
              <a:rPr lang="zh-CN" altLang="en-US"/>
              <a:t>并不断循环迭代。</a:t>
            </a:r>
            <a:endParaRPr lang="zh-CN" altLang="en-US"/>
          </a:p>
          <a:p>
            <a:r>
              <a:rPr lang="zh-CN" altLang="en-US"/>
              <a:t>初始状态：</a:t>
            </a:r>
            <a:r>
              <a:rPr lang="en-US" altLang="zh-CN"/>
              <a:t>Prior knowledge of state</a:t>
            </a:r>
            <a:endParaRPr lang="en-US" altLang="zh-CN"/>
          </a:p>
          <a:p>
            <a:r>
              <a:rPr lang="zh-CN" altLang="en-US"/>
              <a:t>算法开始时，我们对系统状态有一个初始估计，包括</a:t>
            </a:r>
            <a:endParaRPr lang="zh-CN" altLang="en-US"/>
          </a:p>
          <a:p>
            <a:r>
              <a:rPr lang="zh-CN" altLang="en-US"/>
              <a:t>状态均值 </a:t>
            </a:r>
            <a:r>
              <a:rPr lang="en-US" altLang="zh-CN"/>
              <a:t>x^k−1∣k−1</a:t>
            </a:r>
            <a:endParaRPr lang="en-US" altLang="zh-CN"/>
          </a:p>
          <a:p>
            <a:r>
              <a:rPr lang="en-US" altLang="zh-CN"/>
              <a:t>​</a:t>
            </a:r>
            <a:r>
              <a:rPr lang="zh-CN" altLang="en-US"/>
              <a:t>和它的不确定性（协方差矩阵）</a:t>
            </a:r>
            <a:r>
              <a:rPr lang="en-US" altLang="zh-CN"/>
              <a:t>P k−1∣k−1</a:t>
            </a:r>
            <a:endParaRPr lang="en-US" altLang="zh-CN"/>
          </a:p>
          <a:p>
            <a:r>
              <a:rPr lang="en-US" altLang="zh-CN"/>
              <a:t>​</a:t>
            </a:r>
            <a:r>
              <a:rPr lang="zh-CN" altLang="en-US"/>
              <a:t>左上角的蓝色模糊区域，代表了这个初始估计的概率分布：中心是最可能的状态，模糊程度代表不确定性（噪声）。</a:t>
            </a:r>
            <a:endParaRPr lang="zh-CN" altLang="en-US"/>
          </a:p>
          <a:p>
            <a:r>
              <a:rPr lang="zh-CN" altLang="en-US"/>
              <a:t>预测阶段（</a:t>
            </a:r>
            <a:r>
              <a:rPr lang="en-US" altLang="zh-CN"/>
              <a:t>Prediction step）</a:t>
            </a:r>
            <a:endParaRPr lang="en-US" altLang="zh-CN"/>
          </a:p>
          <a:p>
            <a:r>
              <a:rPr lang="zh-CN" altLang="en-US"/>
              <a:t>基于上一时刻的状态，通过物理模型或系统方程，预测下一时刻的状态：</a:t>
            </a:r>
            <a:endParaRPr lang="zh-CN" altLang="en-US"/>
          </a:p>
          <a:p>
            <a:r>
              <a:rPr lang="zh-CN" altLang="en-US"/>
              <a:t>预测状态：</a:t>
            </a:r>
            <a:r>
              <a:rPr lang="en-US" altLang="zh-CN"/>
              <a:t>x^k∣k−1</a:t>
            </a:r>
            <a:endParaRPr lang="en-US" altLang="zh-CN"/>
          </a:p>
          <a:p>
            <a:r>
              <a:rPr lang="en-US" altLang="zh-CN"/>
              <a:t>​</a:t>
            </a:r>
            <a:r>
              <a:rPr lang="zh-CN" altLang="en-US"/>
              <a:t>预测协方差：</a:t>
            </a:r>
            <a:r>
              <a:rPr lang="en-US" altLang="zh-CN"/>
              <a:t>P k∣k−1</a:t>
            </a:r>
            <a:endParaRPr lang="en-US" altLang="zh-CN"/>
          </a:p>
          <a:p>
            <a:r>
              <a:rPr lang="en-US" altLang="zh-CN"/>
              <a:t>​</a:t>
            </a:r>
            <a:r>
              <a:rPr lang="zh-CN" altLang="en-US"/>
              <a:t>这个过程会让不确定性变大（预测误差累积），对应图中预测阶段的状态估计。</a:t>
            </a:r>
            <a:endParaRPr lang="zh-CN" altLang="en-US"/>
          </a:p>
          <a:p>
            <a:r>
              <a:rPr lang="zh-CN" altLang="en-US"/>
              <a:t>更新阶段（</a:t>
            </a:r>
            <a:r>
              <a:rPr lang="en-US" altLang="zh-CN"/>
              <a:t>Update step）</a:t>
            </a:r>
            <a:endParaRPr lang="en-US" altLang="zh-CN"/>
          </a:p>
          <a:p>
            <a:r>
              <a:rPr lang="zh-CN" altLang="en-US"/>
              <a:t>我们得到了当前时刻的实际测量值 </a:t>
            </a:r>
            <a:r>
              <a:rPr lang="en-US" altLang="zh-CN"/>
              <a:t>y k</a:t>
            </a:r>
            <a:r>
              <a:rPr lang="zh-CN" altLang="en-US"/>
              <a:t>（右侧的测量分布），但测量本身也有噪声。</a:t>
            </a:r>
            <a:endParaRPr lang="zh-CN" altLang="en-US"/>
          </a:p>
          <a:p>
            <a:r>
              <a:rPr lang="zh-CN" altLang="en-US"/>
              <a:t>算法会把预测值和测量值结合起来，计算出一个更优的状态估计：</a:t>
            </a:r>
            <a:endParaRPr lang="zh-CN" altLang="en-US"/>
          </a:p>
          <a:p>
            <a:r>
              <a:rPr lang="zh-CN" altLang="en-US"/>
              <a:t>后验状态：</a:t>
            </a:r>
            <a:r>
              <a:rPr lang="en-US" altLang="zh-CN"/>
              <a:t>x^k∣k</a:t>
            </a:r>
            <a:endParaRPr lang="en-US" altLang="zh-CN"/>
          </a:p>
          <a:p>
            <a:r>
              <a:rPr lang="en-US" altLang="zh-CN"/>
              <a:t>​</a:t>
            </a:r>
            <a:r>
              <a:rPr lang="zh-CN" altLang="en-US"/>
              <a:t>后验协方差：</a:t>
            </a:r>
            <a:r>
              <a:rPr lang="en-US" altLang="zh-CN"/>
              <a:t>P k∣k</a:t>
            </a:r>
            <a:endParaRPr lang="en-US" altLang="zh-CN"/>
          </a:p>
          <a:p>
            <a:r>
              <a:rPr lang="en-US" altLang="zh-CN"/>
              <a:t>​</a:t>
            </a:r>
            <a:r>
              <a:rPr lang="zh-CN" altLang="en-US"/>
              <a:t>左下角的蓝色区域，就是更新后的估计，它的不确定性会比纯预测或纯测量都更小，也就是我们要的最终估计。</a:t>
            </a:r>
            <a:endParaRPr lang="zh-CN" altLang="en-US"/>
          </a:p>
          <a:p>
            <a:r>
              <a:rPr lang="zh-CN" altLang="en-US"/>
              <a:t>循环迭代输出的 </a:t>
            </a:r>
            <a:r>
              <a:rPr lang="en-US" altLang="zh-CN"/>
              <a:t>x^k∣k</a:t>
            </a:r>
            <a:r>
              <a:rPr lang="zh-CN" altLang="en-US"/>
              <a:t>和 </a:t>
            </a:r>
            <a:r>
              <a:rPr lang="en-US" altLang="zh-CN"/>
              <a:t>P k∣k</a:t>
            </a:r>
            <a:endParaRPr lang="en-US" altLang="zh-CN"/>
          </a:p>
          <a:p>
            <a:r>
              <a:rPr lang="en-US" altLang="zh-CN"/>
              <a:t>​</a:t>
            </a:r>
            <a:r>
              <a:rPr lang="zh-CN" altLang="en-US"/>
              <a:t>会作为下一轮的初始状态（</a:t>
            </a:r>
            <a:r>
              <a:rPr lang="en-US" altLang="zh-CN"/>
              <a:t>k←k+1</a:t>
            </a:r>
            <a:r>
              <a:rPr lang="zh-CN" altLang="en-US"/>
              <a:t>），不断重复 “预测 - 更新” 的过程。</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符号	名称	含义</a:t>
            </a:r>
            <a:endParaRPr lang="zh-CN" altLang="en-US"/>
          </a:p>
          <a:p>
            <a:r>
              <a:rPr lang="en-US" altLang="zh-CN"/>
              <a:t>x^	</a:t>
            </a:r>
            <a:r>
              <a:rPr lang="zh-CN" altLang="en-US"/>
              <a:t>状态估计	系统状态的估计值，比如无人机的位置、速度</a:t>
            </a:r>
            <a:endParaRPr lang="zh-CN" altLang="en-US"/>
          </a:p>
          <a:p>
            <a:r>
              <a:rPr lang="en-US" altLang="zh-CN"/>
              <a:t>P	</a:t>
            </a:r>
            <a:r>
              <a:rPr lang="zh-CN" altLang="en-US"/>
              <a:t>协方差矩阵	状态估计的不确定性 / 误差大小，数值越大表示估计越不准</a:t>
            </a:r>
            <a:endParaRPr lang="zh-CN" altLang="en-US"/>
          </a:p>
          <a:p>
            <a:r>
              <a:rPr lang="en-US" altLang="zh-CN"/>
              <a:t>t	</a:t>
            </a:r>
            <a:r>
              <a:rPr lang="zh-CN" altLang="en-US"/>
              <a:t>时间步	当前时刻</a:t>
            </a:r>
            <a:endParaRPr lang="zh-CN" altLang="en-US"/>
          </a:p>
          <a:p>
            <a:r>
              <a:rPr lang="en-US" altLang="zh-CN"/>
              <a:t>t−1	</a:t>
            </a:r>
            <a:r>
              <a:rPr lang="zh-CN" altLang="en-US"/>
              <a:t>时间步	上一时刻</a:t>
            </a:r>
            <a:endParaRPr lang="zh-CN" altLang="en-US"/>
          </a:p>
          <a:p>
            <a:r>
              <a:rPr lang="zh-CN" altLang="en-US"/>
              <a:t>上标 −	预测值	还没用到测量数据，纯靠模型推出来的结果</a:t>
            </a:r>
            <a:endParaRPr lang="zh-CN" altLang="en-US"/>
          </a:p>
          <a:p>
            <a:r>
              <a:rPr lang="en-US" altLang="zh-CN"/>
              <a:t>F	</a:t>
            </a:r>
            <a:r>
              <a:rPr lang="zh-CN" altLang="en-US"/>
              <a:t>状态转移矩阵	描述系统状态如何随时间变化（比如匀速运动模型）</a:t>
            </a:r>
            <a:endParaRPr lang="zh-CN" altLang="en-US"/>
          </a:p>
          <a:p>
            <a:r>
              <a:rPr lang="en-US" altLang="zh-CN"/>
              <a:t>B	</a:t>
            </a:r>
            <a:r>
              <a:rPr lang="zh-CN" altLang="en-US"/>
              <a:t>控制输入矩阵	描述控制量（比如油门、推力）如何影响状态</a:t>
            </a:r>
            <a:endParaRPr lang="zh-CN" altLang="en-US"/>
          </a:p>
          <a:p>
            <a:r>
              <a:rPr lang="en-US" altLang="zh-CN"/>
              <a:t>u	</a:t>
            </a:r>
            <a:r>
              <a:rPr lang="zh-CN" altLang="en-US"/>
              <a:t>控制输入	外部施加给系统的控制信号</a:t>
            </a:r>
            <a:endParaRPr lang="zh-CN" altLang="en-US"/>
          </a:p>
          <a:p>
            <a:r>
              <a:rPr lang="en-US" altLang="zh-CN"/>
              <a:t>Q	</a:t>
            </a:r>
            <a:r>
              <a:rPr lang="zh-CN" altLang="en-US"/>
              <a:t>过程噪声协方差	系统模型本身的不确定性（比如风扰、模型误差）</a:t>
            </a:r>
            <a:endParaRPr lang="zh-CN" altLang="en-US"/>
          </a:p>
          <a:p>
            <a:r>
              <a:rPr lang="en-US" altLang="zh-CN"/>
              <a:t>H	</a:t>
            </a:r>
            <a:r>
              <a:rPr lang="zh-CN" altLang="en-US"/>
              <a:t>测量矩阵	把状态向量转换成和测量值同维度的形式</a:t>
            </a:r>
            <a:endParaRPr lang="zh-CN" altLang="en-US"/>
          </a:p>
          <a:p>
            <a:r>
              <a:rPr lang="en-US" altLang="zh-CN"/>
              <a:t>z	</a:t>
            </a:r>
            <a:r>
              <a:rPr lang="zh-CN" altLang="en-US"/>
              <a:t>测量值	传感器实际测到的数据（比如 </a:t>
            </a:r>
            <a:r>
              <a:rPr lang="en-US" altLang="zh-CN"/>
              <a:t>GPS </a:t>
            </a:r>
            <a:r>
              <a:rPr lang="zh-CN" altLang="en-US"/>
              <a:t>读数）</a:t>
            </a:r>
            <a:endParaRPr lang="zh-CN" altLang="en-US"/>
          </a:p>
          <a:p>
            <a:r>
              <a:rPr lang="en-US" altLang="zh-CN"/>
              <a:t>R	</a:t>
            </a:r>
            <a:r>
              <a:rPr lang="zh-CN" altLang="en-US"/>
              <a:t>测量噪声协方差	传感器本身的误差大小（比如 </a:t>
            </a:r>
            <a:r>
              <a:rPr lang="en-US" altLang="zh-CN"/>
              <a:t>GPS </a:t>
            </a:r>
            <a:r>
              <a:rPr lang="zh-CN" altLang="en-US"/>
              <a:t>的精度）</a:t>
            </a:r>
            <a:endParaRPr lang="zh-CN" altLang="en-US"/>
          </a:p>
          <a:p>
            <a:r>
              <a:rPr lang="en-US" altLang="zh-CN"/>
              <a:t>Kt​	</a:t>
            </a:r>
            <a:r>
              <a:rPr lang="zh-CN" altLang="en-US"/>
              <a:t>卡尔曼增益	决定 “更相信预测” 还是 “更相信测量” 的权重系数</a:t>
            </a:r>
            <a:endParaRPr lang="zh-CN" altLang="en-US"/>
          </a:p>
          <a:p>
            <a:r>
              <a:rPr lang="en-US" altLang="zh-CN"/>
              <a:t>I	</a:t>
            </a:r>
            <a:r>
              <a:rPr lang="zh-CN" altLang="en-US"/>
              <a:t>单位矩阵	矩阵运算中的单位元，和数字里的 1 类似</a:t>
            </a:r>
            <a:br>
              <a:rPr lang="zh-CN" altLang="en-US"/>
            </a:br>
            <a:r>
              <a:rPr lang="zh-CN" altLang="en-US"/>
              <a:t>除了输出的式子，其他的都是为了这个式子服务的</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符号	名称	含义</a:t>
            </a:r>
            <a:endParaRPr lang="zh-CN" altLang="en-US"/>
          </a:p>
          <a:p>
            <a:r>
              <a:rPr lang="en-US" altLang="zh-CN"/>
              <a:t>x^	</a:t>
            </a:r>
            <a:r>
              <a:rPr lang="zh-CN" altLang="en-US"/>
              <a:t>状态估计	系统状态的估计值，比如无人机的位置、速度</a:t>
            </a:r>
            <a:endParaRPr lang="zh-CN" altLang="en-US"/>
          </a:p>
          <a:p>
            <a:r>
              <a:rPr lang="en-US" altLang="zh-CN"/>
              <a:t>P	</a:t>
            </a:r>
            <a:r>
              <a:rPr lang="zh-CN" altLang="en-US"/>
              <a:t>协方差矩阵	状态估计的不确定性 / 误差大小，数值越大表示估计越不准</a:t>
            </a:r>
            <a:endParaRPr lang="zh-CN" altLang="en-US"/>
          </a:p>
          <a:p>
            <a:r>
              <a:rPr lang="en-US" altLang="zh-CN"/>
              <a:t>t	</a:t>
            </a:r>
            <a:r>
              <a:rPr lang="zh-CN" altLang="en-US"/>
              <a:t>时间步	当前时刻</a:t>
            </a:r>
            <a:endParaRPr lang="zh-CN" altLang="en-US"/>
          </a:p>
          <a:p>
            <a:r>
              <a:rPr lang="en-US" altLang="zh-CN"/>
              <a:t>t−1	</a:t>
            </a:r>
            <a:r>
              <a:rPr lang="zh-CN" altLang="en-US"/>
              <a:t>时间步	上一时刻</a:t>
            </a:r>
            <a:endParaRPr lang="zh-CN" altLang="en-US"/>
          </a:p>
          <a:p>
            <a:r>
              <a:rPr lang="zh-CN" altLang="en-US"/>
              <a:t>上标 −	预测值	还没用到测量数据，纯靠模型推出来的结果</a:t>
            </a:r>
            <a:endParaRPr lang="zh-CN" altLang="en-US"/>
          </a:p>
          <a:p>
            <a:r>
              <a:rPr lang="en-US" altLang="zh-CN"/>
              <a:t>F	</a:t>
            </a:r>
            <a:r>
              <a:rPr lang="zh-CN" altLang="en-US"/>
              <a:t>状态转移矩阵	描述系统状态如何随时间变化（比如匀速运动模型）</a:t>
            </a:r>
            <a:endParaRPr lang="zh-CN" altLang="en-US"/>
          </a:p>
          <a:p>
            <a:r>
              <a:rPr lang="en-US" altLang="zh-CN"/>
              <a:t>B	</a:t>
            </a:r>
            <a:r>
              <a:rPr lang="zh-CN" altLang="en-US"/>
              <a:t>控制输入矩阵	描述控制量（比如油门、推力）如何影响状态</a:t>
            </a:r>
            <a:endParaRPr lang="zh-CN" altLang="en-US"/>
          </a:p>
          <a:p>
            <a:r>
              <a:rPr lang="en-US" altLang="zh-CN"/>
              <a:t>u	</a:t>
            </a:r>
            <a:r>
              <a:rPr lang="zh-CN" altLang="en-US"/>
              <a:t>控制输入	外部施加给系统的控制信号</a:t>
            </a:r>
            <a:endParaRPr lang="zh-CN" altLang="en-US"/>
          </a:p>
          <a:p>
            <a:r>
              <a:rPr lang="en-US" altLang="zh-CN"/>
              <a:t>Q	</a:t>
            </a:r>
            <a:r>
              <a:rPr lang="zh-CN" altLang="en-US"/>
              <a:t>过程噪声协方差	系统模型本身的不确定性（比如风扰、模型误差）</a:t>
            </a:r>
            <a:endParaRPr lang="zh-CN" altLang="en-US"/>
          </a:p>
          <a:p>
            <a:r>
              <a:rPr lang="en-US" altLang="zh-CN"/>
              <a:t>H	</a:t>
            </a:r>
            <a:r>
              <a:rPr lang="zh-CN" altLang="en-US"/>
              <a:t>测量矩阵	把状态向量转换成和测量值同维度的形式</a:t>
            </a:r>
            <a:endParaRPr lang="zh-CN" altLang="en-US"/>
          </a:p>
          <a:p>
            <a:r>
              <a:rPr lang="en-US" altLang="zh-CN"/>
              <a:t>z	</a:t>
            </a:r>
            <a:r>
              <a:rPr lang="zh-CN" altLang="en-US"/>
              <a:t>测量值	传感器实际测到的数据（比如 </a:t>
            </a:r>
            <a:r>
              <a:rPr lang="en-US" altLang="zh-CN"/>
              <a:t>GPS </a:t>
            </a:r>
            <a:r>
              <a:rPr lang="zh-CN" altLang="en-US"/>
              <a:t>读数）</a:t>
            </a:r>
            <a:endParaRPr lang="zh-CN" altLang="en-US"/>
          </a:p>
          <a:p>
            <a:r>
              <a:rPr lang="en-US" altLang="zh-CN"/>
              <a:t>R	</a:t>
            </a:r>
            <a:r>
              <a:rPr lang="zh-CN" altLang="en-US"/>
              <a:t>测量噪声协方差	传感器本身的误差大小（比如 </a:t>
            </a:r>
            <a:r>
              <a:rPr lang="en-US" altLang="zh-CN"/>
              <a:t>GPS </a:t>
            </a:r>
            <a:r>
              <a:rPr lang="zh-CN" altLang="en-US"/>
              <a:t>的精度）</a:t>
            </a:r>
            <a:endParaRPr lang="zh-CN" altLang="en-US"/>
          </a:p>
          <a:p>
            <a:r>
              <a:rPr lang="en-US" altLang="zh-CN"/>
              <a:t>Kt​	</a:t>
            </a:r>
            <a:r>
              <a:rPr lang="zh-CN" altLang="en-US"/>
              <a:t>卡尔曼增益	决定 “更相信预测” 还是 “更相信测量” 的权重系数</a:t>
            </a:r>
            <a:endParaRPr lang="zh-CN" altLang="en-US"/>
          </a:p>
          <a:p>
            <a:r>
              <a:rPr lang="en-US" altLang="zh-CN"/>
              <a:t>I	</a:t>
            </a:r>
            <a:r>
              <a:rPr lang="zh-CN" altLang="en-US"/>
              <a:t>单位矩阵	矩阵运算中的单位元，和数字里的 1 类似</a:t>
            </a:r>
            <a:br>
              <a:rPr lang="zh-CN" altLang="en-US"/>
            </a:br>
            <a:r>
              <a:rPr lang="zh-CN" altLang="en-US"/>
              <a:t>除了输出的式子，其他的都是为了这个式子服务的</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首先，真实世界的系统都是非线性的。我们用 </a:t>
            </a:r>
            <a:r>
              <a:rPr lang="en-US" altLang="zh-CN"/>
              <a:t>xk=f(xk−1,uk,ω k)</a:t>
            </a:r>
            <a:r>
              <a:rPr lang="zh-CN" altLang="en-US"/>
              <a:t>表示状态转移，</a:t>
            </a:r>
            <a:r>
              <a:rPr lang="en-US" altLang="zh-CN"/>
              <a:t>zk=h(xk,νk)</a:t>
            </a:r>
            <a:r>
              <a:rPr lang="zh-CN" altLang="en-US"/>
              <a:t>表示观测方程，这里面的</a:t>
            </a:r>
            <a:r>
              <a:rPr lang="en-US" altLang="zh-CN"/>
              <a:t>f</a:t>
            </a:r>
            <a:r>
              <a:rPr lang="zh-CN" altLang="en-US"/>
              <a:t>和</a:t>
            </a:r>
            <a:r>
              <a:rPr lang="en-US" altLang="zh-CN"/>
              <a:t>h</a:t>
            </a:r>
            <a:r>
              <a:rPr lang="zh-CN" altLang="en-US"/>
              <a:t>都是非线性函数，标准卡尔曼滤波处理不了这种非线性，所以我们要用扩展卡尔曼滤波，把它线性化。</a:t>
            </a:r>
            <a:endParaRPr lang="zh-CN" altLang="en-US"/>
          </a:p>
          <a:p>
            <a:r>
              <a:rPr lang="zh-CN" altLang="en-US"/>
              <a:t>线性化的方法，就是对非线性函数做泰勒展开，取一阶近似。这里的 </a:t>
            </a:r>
            <a:r>
              <a:rPr lang="en-US" altLang="zh-CN"/>
              <a:t>Ak</a:t>
            </a:r>
            <a:r>
              <a:rPr lang="zh-CN" altLang="en-US"/>
              <a:t>，</a:t>
            </a:r>
            <a:r>
              <a:rPr lang="en-US" altLang="zh-CN"/>
              <a:t>Wk、Hk、Vk</a:t>
            </a:r>
            <a:r>
              <a:rPr lang="zh-CN" altLang="en-US"/>
              <a:t>，就是展开后得到的雅可比矩阵：</a:t>
            </a:r>
            <a:endParaRPr lang="zh-CN" altLang="en-US"/>
          </a:p>
          <a:p>
            <a:r>
              <a:rPr lang="en-US" altLang="zh-CN"/>
              <a:t>Ak</a:t>
            </a:r>
            <a:r>
              <a:rPr lang="zh-CN" altLang="en-US"/>
              <a:t>是状态转移函数</a:t>
            </a:r>
            <a:r>
              <a:rPr lang="en-US" altLang="zh-CN"/>
              <a:t>f</a:t>
            </a:r>
            <a:r>
              <a:rPr lang="zh-CN" altLang="en-US"/>
              <a:t>对状态</a:t>
            </a:r>
            <a:r>
              <a:rPr lang="en-US" altLang="zh-CN"/>
              <a:t>x</a:t>
            </a:r>
            <a:r>
              <a:rPr lang="zh-CN" altLang="en-US"/>
              <a:t>求偏导，描述状态变化对自身的影响；</a:t>
            </a:r>
            <a:endParaRPr lang="zh-CN" altLang="en-US"/>
          </a:p>
          <a:p>
            <a:r>
              <a:rPr lang="en-US" altLang="zh-CN"/>
              <a:t>Wk</a:t>
            </a:r>
            <a:r>
              <a:rPr lang="zh-CN" altLang="en-US"/>
              <a:t>是</a:t>
            </a:r>
            <a:r>
              <a:rPr lang="en-US" altLang="zh-CN"/>
              <a:t>f</a:t>
            </a:r>
            <a:r>
              <a:rPr lang="zh-CN" altLang="en-US"/>
              <a:t>对过程噪声</a:t>
            </a:r>
            <a:r>
              <a:rPr lang="en-US" altLang="zh-CN"/>
              <a:t>ω</a:t>
            </a:r>
            <a:r>
              <a:rPr lang="zh-CN" altLang="en-US"/>
              <a:t>求偏导，描述噪声如何影响状态；</a:t>
            </a:r>
            <a:endParaRPr lang="zh-CN" altLang="en-US"/>
          </a:p>
          <a:p>
            <a:r>
              <a:rPr lang="en-US" altLang="zh-CN"/>
              <a:t>Hk</a:t>
            </a:r>
            <a:r>
              <a:rPr lang="zh-CN" altLang="en-US"/>
              <a:t>是观测函数</a:t>
            </a:r>
            <a:r>
              <a:rPr lang="en-US" altLang="zh-CN"/>
              <a:t>h</a:t>
            </a:r>
            <a:r>
              <a:rPr lang="zh-CN" altLang="en-US"/>
              <a:t>对状态</a:t>
            </a:r>
            <a:r>
              <a:rPr lang="en-US" altLang="zh-CN"/>
              <a:t>x</a:t>
            </a:r>
            <a:r>
              <a:rPr lang="zh-CN" altLang="en-US"/>
              <a:t>求偏导，描述状态变化如何影响观测值；</a:t>
            </a:r>
            <a:endParaRPr lang="zh-CN" altLang="en-US"/>
          </a:p>
          <a:p>
            <a:r>
              <a:rPr lang="en-US" altLang="zh-CN"/>
              <a:t>Vk</a:t>
            </a:r>
            <a:r>
              <a:rPr lang="zh-CN" altLang="en-US"/>
              <a:t>是</a:t>
            </a:r>
            <a:r>
              <a:rPr lang="en-US" altLang="zh-CN"/>
              <a:t>h</a:t>
            </a:r>
            <a:r>
              <a:rPr lang="zh-CN" altLang="en-US"/>
              <a:t>对观测噪声</a:t>
            </a:r>
            <a:r>
              <a:rPr lang="en-US" altLang="zh-CN"/>
              <a:t>ν</a:t>
            </a:r>
            <a:r>
              <a:rPr lang="zh-CN" altLang="en-US"/>
              <a:t>求偏导，描述观测噪声对测量的影响。</a:t>
            </a:r>
            <a:endParaRPr lang="zh-CN" altLang="en-US"/>
          </a:p>
          <a:p>
            <a:r>
              <a:rPr lang="zh-CN" altLang="en-US"/>
              <a:t>这四个矩阵，就是我们把非线性模型掰成线性模型的关键工具。</a:t>
            </a:r>
            <a:br>
              <a:rPr lang="zh-CN" altLang="en-US"/>
            </a:br>
            <a:r>
              <a:rPr lang="zh-CN" altLang="en-US"/>
              <a:t>协方差矩阵用来记误差有多大、长什么样；雅可比矩阵告诉误差会放大还是缩小；最后一起算卡尔曼增益，决定更信预测还是更信传感器，让整体误差越来越小。</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独立性保证</a:t>
            </a:r>
            <a:r>
              <a:rPr lang="en-US" altLang="zh-CN"/>
              <a:t>,</a:t>
            </a:r>
            <a:r>
              <a:rPr lang="zh-CN" altLang="en-US"/>
              <a:t>每次调用 </a:t>
            </a:r>
            <a:r>
              <a:rPr lang="en-US" altLang="zh-CN"/>
              <a:t>kf_linux_ioself_profiling </a:t>
            </a:r>
            <a:r>
              <a:rPr lang="zh-CN" altLang="en-US"/>
              <a:t>均独立分配并释放所有临时内存，无任何跨次调用的状态共享。核心算子内部固定随机种子与初始参数，相同维度的多次采样耗时高度一致，不同维度间相互无影响。</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同一程序多次运行，得到的时间不完全相同</a:t>
            </a:r>
            <a:r>
              <a:rPr lang="en-US" altLang="zh-CN">
                <a:sym typeface="+mn-ea"/>
              </a:rPr>
              <a:t>.</a:t>
            </a:r>
            <a:r>
              <a:rPr lang="zh-CN" altLang="en-US">
                <a:sym typeface="+mn-ea"/>
              </a:rPr>
              <a:t>操作系统调度和多任务干扰</a:t>
            </a:r>
            <a:r>
              <a:rPr lang="en-US" altLang="zh-CN">
                <a:sym typeface="+mn-ea"/>
              </a:rPr>
              <a:t>,CPU </a:t>
            </a:r>
            <a:r>
              <a:rPr lang="zh-CN" altLang="en-US">
                <a:sym typeface="+mn-ea"/>
              </a:rPr>
              <a:t>动态频率调节</a:t>
            </a:r>
            <a:r>
              <a:rPr lang="en-US" altLang="zh-CN">
                <a:sym typeface="+mn-ea"/>
              </a:rPr>
              <a:t>,</a:t>
            </a:r>
            <a:r>
              <a:rPr lang="zh-CN" altLang="en-US">
                <a:sym typeface="+mn-ea"/>
              </a:rPr>
              <a:t>温度等</a:t>
            </a:r>
            <a:r>
              <a:rPr lang="en-US" altLang="zh-CN">
                <a:sym typeface="+mn-ea"/>
              </a:rPr>
              <a:t>,</a:t>
            </a:r>
            <a:r>
              <a:rPr lang="zh-CN" altLang="en-US">
                <a:sym typeface="+mn-ea"/>
              </a:rPr>
              <a:t>可能不能很准确的复现，上述取平均值，无法准确复现，会有波动</a:t>
            </a:r>
            <a:endParaRPr lang="en-US" altLang="zh-CN">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 -</a:t>
            </a:r>
            <a:r>
              <a:rPr lang="en-US" altLang="zh-CN"/>
              <a:t>O2 </a:t>
            </a:r>
            <a:r>
              <a:rPr lang="zh-CN" altLang="en-US"/>
              <a:t>能有这么大的作用？因为它对程序中大量重复、可预测的代码模式进行了自动精简：</a:t>
            </a:r>
            <a:endParaRPr lang="zh-CN" altLang="en-US"/>
          </a:p>
          <a:p>
            <a:r>
              <a:rPr lang="zh-CN" altLang="en-US"/>
              <a:t>消除循环内冗余的地址计算</a:t>
            </a:r>
            <a:endParaRPr lang="zh-CN" altLang="en-US"/>
          </a:p>
          <a:p>
            <a:r>
              <a:rPr lang="zh-CN" altLang="en-US"/>
              <a:t>矩阵乘法的三重循环里，到处都是 </a:t>
            </a:r>
            <a:r>
              <a:rPr lang="en-US" altLang="zh-CN"/>
              <a:t>i * k + l、l * m + j </a:t>
            </a:r>
            <a:r>
              <a:rPr lang="zh-CN" altLang="en-US"/>
              <a:t>这样的索引乘法。-</a:t>
            </a:r>
            <a:r>
              <a:rPr lang="en-US" altLang="zh-CN"/>
              <a:t>O0 </a:t>
            </a:r>
            <a:r>
              <a:rPr lang="zh-CN" altLang="en-US"/>
              <a:t>会忠实地每次迭代都重新计算一遍乘法。-</a:t>
            </a:r>
            <a:r>
              <a:rPr lang="en-US" altLang="zh-CN"/>
              <a:t>O2 </a:t>
            </a:r>
            <a:r>
              <a:rPr lang="zh-CN" altLang="en-US"/>
              <a:t>则通过公共子表达式消除和循环不变量外提，将不变的部分提出来，或者用加法递推代替乘法，使得最内层循环的指令数大幅下降。寄存器分配优化</a:t>
            </a:r>
            <a:endParaRPr lang="zh-CN" altLang="en-US"/>
          </a:p>
          <a:p>
            <a:r>
              <a:rPr lang="en-US" altLang="zh-CN"/>
              <a:t>-O0 </a:t>
            </a:r>
            <a:r>
              <a:rPr lang="zh-CN" altLang="en-US"/>
              <a:t>把局部变量（比如累加器 </a:t>
            </a:r>
            <a:r>
              <a:rPr lang="en-US" altLang="zh-CN"/>
              <a:t>sum、</a:t>
            </a:r>
            <a:r>
              <a:rPr lang="zh-CN" altLang="en-US"/>
              <a:t>循环变量）都放在栈上，每次访问都要读写内存。-</a:t>
            </a:r>
            <a:r>
              <a:rPr lang="en-US" altLang="zh-CN"/>
              <a:t>O2 </a:t>
            </a:r>
            <a:r>
              <a:rPr lang="zh-CN" altLang="en-US"/>
              <a:t>会尽可能把这些热变量分配到 </a:t>
            </a:r>
            <a:r>
              <a:rPr lang="en-US" altLang="zh-CN"/>
              <a:t>CPU </a:t>
            </a:r>
            <a:r>
              <a:rPr lang="zh-CN" altLang="en-US"/>
              <a:t>寄存器中，使得核心循环几乎不再访问数据缓存，速度成倍提升。</a:t>
            </a:r>
            <a:endParaRPr lang="zh-CN" altLang="en-US"/>
          </a:p>
          <a:p>
            <a:r>
              <a:rPr lang="zh-CN" altLang="en-US"/>
              <a:t>常量折叠与传播</a:t>
            </a:r>
            <a:endParaRPr lang="zh-CN" altLang="en-US"/>
          </a:p>
          <a:p>
            <a:r>
              <a:rPr lang="zh-CN" altLang="en-US"/>
              <a:t>代码中的 </a:t>
            </a:r>
            <a:r>
              <a:rPr lang="en-US" altLang="zh-CN"/>
              <a:t>sqrt(R[i*dim+i]) </a:t>
            </a:r>
            <a:r>
              <a:rPr lang="zh-CN" altLang="en-US"/>
              <a:t>实际上每次都在计算 </a:t>
            </a:r>
            <a:r>
              <a:rPr lang="en-US" altLang="zh-CN"/>
              <a:t>sqrt(0.5)。-O2 </a:t>
            </a:r>
            <a:r>
              <a:rPr lang="zh-CN" altLang="en-US"/>
              <a:t>在编译时就把它替换成常数 0.707...，连 </a:t>
            </a:r>
            <a:r>
              <a:rPr lang="en-US" altLang="zh-CN"/>
              <a:t>sqrt </a:t>
            </a:r>
            <a:r>
              <a:rPr lang="zh-CN" altLang="en-US"/>
              <a:t>函数调用都省了。</a:t>
            </a:r>
            <a:endParaRPr lang="zh-CN" altLang="en-US"/>
          </a:p>
          <a:p>
            <a:r>
              <a:rPr lang="zh-CN" altLang="en-US"/>
              <a:t>指令调度</a:t>
            </a:r>
            <a:endParaRPr lang="zh-CN" altLang="en-US"/>
          </a:p>
          <a:p>
            <a:r>
              <a:rPr lang="en-US" altLang="zh-CN"/>
              <a:t>-O2 </a:t>
            </a:r>
            <a:r>
              <a:rPr lang="zh-CN" altLang="en-US"/>
              <a:t>重新排列指令顺序，把加载数据的指令提前，把算术运算插入等待间隙，让 </a:t>
            </a:r>
            <a:r>
              <a:rPr lang="en-US" altLang="zh-CN"/>
              <a:t>CPU </a:t>
            </a:r>
            <a:r>
              <a:rPr lang="zh-CN" altLang="en-US"/>
              <a:t>流水线保持忙碌，减少停顿。</a:t>
            </a:r>
            <a:endParaRPr lang="en-US" altLang="zh-CN"/>
          </a:p>
          <a:p>
            <a:r>
              <a:rPr lang="zh-CN" altLang="en-US"/>
              <a:t>基本的函数内联</a:t>
            </a:r>
            <a:endParaRPr lang="zh-CN" altLang="en-US"/>
          </a:p>
          <a:p>
            <a:r>
              <a:rPr lang="zh-CN" altLang="en-US"/>
              <a:t>像 </a:t>
            </a:r>
            <a:r>
              <a:rPr lang="en-US" altLang="zh-CN"/>
              <a:t>mat_add、mat_sub </a:t>
            </a:r>
            <a:r>
              <a:rPr lang="zh-CN" altLang="en-US"/>
              <a:t>这样短小的静态函数，-</a:t>
            </a:r>
            <a:r>
              <a:rPr lang="en-US" altLang="zh-CN"/>
              <a:t>O2 </a:t>
            </a:r>
            <a:r>
              <a:rPr lang="zh-CN" altLang="en-US"/>
              <a:t>会把它们的代码直接嵌入调用处，省去函数调用、参数传递和栈帧管理的开销。</a:t>
            </a:r>
            <a:r>
              <a:rPr lang="en-US" altLang="zh-CN"/>
              <a:t>-O3 </a:t>
            </a:r>
            <a:r>
              <a:rPr lang="zh-CN" altLang="en-US"/>
              <a:t>在 -</a:t>
            </a:r>
            <a:r>
              <a:rPr lang="en-US" altLang="zh-CN"/>
              <a:t>O2 </a:t>
            </a:r>
            <a:r>
              <a:rPr lang="zh-CN" altLang="en-US"/>
              <a:t>的基础上增加了更激进的优化：循环展开、更广泛的内联、自动向量化等。但这些在这个程序里遇到了瓶颈：</a:t>
            </a:r>
            <a:endParaRPr lang="zh-CN" altLang="en-US"/>
          </a:p>
          <a:p>
            <a:r>
              <a:rPr lang="zh-CN" altLang="en-US"/>
              <a:t>大量零元素运算无法被跳过</a:t>
            </a:r>
            <a:endParaRPr lang="zh-CN" altLang="en-US"/>
          </a:p>
          <a:p>
            <a:r>
              <a:rPr lang="zh-CN" altLang="en-US"/>
              <a:t>所有矩阵表面上是稠密的，实际上非对角线元素全为零。编译器不知道这个数学性质，它只能用 </a:t>
            </a:r>
            <a:r>
              <a:rPr lang="en-US" altLang="zh-CN"/>
              <a:t>SIMD </a:t>
            </a:r>
            <a:r>
              <a:rPr lang="zh-CN" altLang="en-US"/>
              <a:t>指令去“更快地算零”，并不能减少计算总量。自动向量化因此收效甚微。</a:t>
            </a:r>
            <a:endParaRPr lang="zh-CN" altLang="en-US"/>
          </a:p>
          <a:p>
            <a:r>
              <a:rPr lang="en-US" altLang="zh-CN"/>
              <a:t>B </a:t>
            </a:r>
            <a:r>
              <a:rPr lang="zh-CN" altLang="en-US"/>
              <a:t>矩阵列访问不连续，限制了向量化效率</a:t>
            </a:r>
            <a:endParaRPr lang="zh-CN" altLang="en-US"/>
          </a:p>
          <a:p>
            <a:r>
              <a:rPr lang="zh-CN" altLang="en-US"/>
              <a:t>即使编译器尝试生成 </a:t>
            </a:r>
            <a:r>
              <a:rPr lang="en-US" altLang="zh-CN"/>
              <a:t>NEON </a:t>
            </a:r>
            <a:r>
              <a:rPr lang="zh-CN" altLang="en-US"/>
              <a:t>指令，由于 </a:t>
            </a:r>
            <a:r>
              <a:rPr lang="en-US" altLang="zh-CN"/>
              <a:t>B[l*m+j] </a:t>
            </a:r>
            <a:r>
              <a:rPr lang="zh-CN" altLang="en-US"/>
              <a:t>的跨行访问模式，数据无法连续加载，需要分散加载和重组，开销极大。</a:t>
            </a:r>
            <a:endParaRPr lang="en-US" altLang="zh-CN"/>
          </a:p>
          <a:p>
            <a:r>
              <a:rPr lang="zh-CN" altLang="en-US"/>
              <a:t>代码膨胀可能挤占指令缓存</a:t>
            </a:r>
            <a:endParaRPr lang="zh-CN" altLang="en-US"/>
          </a:p>
          <a:p>
            <a:r>
              <a:rPr lang="zh-CN" altLang="en-US"/>
              <a:t>激进的内联和循环展开会让可执行代码变大。如果热循环体超出了 </a:t>
            </a:r>
            <a:r>
              <a:rPr lang="en-US" altLang="zh-CN"/>
              <a:t>L1 </a:t>
            </a:r>
            <a:r>
              <a:rPr lang="zh-CN" altLang="en-US"/>
              <a:t>指令缓存，反而会增加 </a:t>
            </a:r>
            <a:r>
              <a:rPr lang="en-US" altLang="zh-CN"/>
              <a:t>cache miss，</a:t>
            </a:r>
            <a:r>
              <a:rPr lang="zh-CN" altLang="en-US"/>
              <a:t>抵消优化收益。</a:t>
            </a:r>
            <a:endParaRPr lang="zh-CN" altLang="en-US"/>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即使编译器开启 -</a:t>
            </a:r>
            <a:r>
              <a:rPr lang="en-US" altLang="zh-CN"/>
              <a:t>O2 </a:t>
            </a:r>
            <a:r>
              <a:rPr lang="zh-CN" altLang="en-US"/>
              <a:t>优化，这些稠密矩阵运算依然会消耗大量 </a:t>
            </a:r>
            <a:r>
              <a:rPr lang="en-US" altLang="zh-CN"/>
              <a:t>CPU </a:t>
            </a:r>
            <a:r>
              <a:rPr lang="zh-CN" altLang="en-US"/>
              <a:t>时间。在不改变算法（即仍保留完整的 </a:t>
            </a:r>
            <a:r>
              <a:rPr lang="en-US" altLang="zh-CN"/>
              <a:t>dim×dim </a:t>
            </a:r>
            <a:r>
              <a:rPr lang="zh-CN" altLang="en-US"/>
              <a:t>矩阵存储和通用矩阵乘法）的前提下，我们尝试利用 </a:t>
            </a:r>
            <a:r>
              <a:rPr lang="en-US" altLang="zh-CN"/>
              <a:t>ARM Cortex‑A72 </a:t>
            </a:r>
            <a:r>
              <a:rPr lang="zh-CN" altLang="en-US"/>
              <a:t>的硬件特性，通过指令级并行、线程级并行和数据宽度优化，逐步降低单次迭代的执行时间。</a:t>
            </a:r>
            <a:endParaRPr lang="zh-CN" altLang="en-US"/>
          </a:p>
          <a:p>
            <a:r>
              <a:rPr lang="zh-CN" altLang="en-US"/>
              <a:t>循环分块（</a:t>
            </a:r>
            <a:r>
              <a:rPr lang="en-US" altLang="zh-CN"/>
              <a:t>Tiling）：</a:t>
            </a:r>
            <a:r>
              <a:rPr lang="zh-CN" altLang="en-US"/>
              <a:t>将矩阵乘法的三重循环按 </a:t>
            </a:r>
            <a:r>
              <a:rPr lang="en-US" altLang="zh-CN"/>
              <a:t>BLK=64 </a:t>
            </a:r>
            <a:r>
              <a:rPr lang="zh-CN" altLang="en-US"/>
              <a:t>切分成小块，</a:t>
            </a:r>
            <a:endParaRPr lang="zh-CN" altLang="en-US"/>
          </a:p>
          <a:p>
            <a:r>
              <a:rPr lang="zh-CN" altLang="en-US"/>
              <a:t>使得每个小块的数据能完全装入 </a:t>
            </a:r>
            <a:r>
              <a:rPr lang="en-US" altLang="zh-CN"/>
              <a:t>L1 </a:t>
            </a:r>
            <a:r>
              <a:rPr lang="zh-CN" altLang="en-US"/>
              <a:t>数据缓存（32 </a:t>
            </a:r>
            <a:r>
              <a:rPr lang="en-US" altLang="zh-CN"/>
              <a:t>KB），</a:t>
            </a:r>
            <a:r>
              <a:rPr lang="zh-CN" altLang="en-US"/>
              <a:t>大幅减少 </a:t>
            </a:r>
            <a:r>
              <a:rPr lang="en-US" altLang="zh-CN"/>
              <a:t>cache miss，</a:t>
            </a:r>
            <a:r>
              <a:rPr lang="zh-CN" altLang="en-US"/>
              <a:t>提高了数据局部性。</a:t>
            </a:r>
            <a:r>
              <a:rPr lang="en-US" altLang="zh-CN"/>
              <a:t>NEON </a:t>
            </a:r>
            <a:r>
              <a:rPr lang="zh-CN" altLang="en-US"/>
              <a:t>向量化：用 </a:t>
            </a:r>
            <a:r>
              <a:rPr lang="en-US" altLang="zh-CN"/>
              <a:t>arm_neon.h intrinsic </a:t>
            </a:r>
            <a:r>
              <a:rPr lang="zh-CN" altLang="en-US"/>
              <a:t>手写 </a:t>
            </a:r>
            <a:r>
              <a:rPr lang="en-US" altLang="zh-CN"/>
              <a:t>SIMD，</a:t>
            </a:r>
            <a:r>
              <a:rPr lang="zh-CN" altLang="en-US"/>
              <a:t>使用 </a:t>
            </a:r>
            <a:r>
              <a:rPr lang="en-US" altLang="zh-CN"/>
              <a:t>float64x2_t </a:t>
            </a:r>
            <a:r>
              <a:rPr lang="zh-CN" altLang="en-US"/>
              <a:t>一次处理两个 </a:t>
            </a:r>
            <a:r>
              <a:rPr lang="en-US" altLang="zh-CN"/>
              <a:t>double </a:t>
            </a:r>
            <a:r>
              <a:rPr lang="zh-CN" altLang="en-US"/>
              <a:t>的乘累加，代替原本逐标量的 </a:t>
            </a:r>
            <a:r>
              <a:rPr lang="en-US" altLang="zh-CN"/>
              <a:t>sum += A * B。</a:t>
            </a:r>
            <a:endParaRPr lang="en-US" altLang="zh-CN"/>
          </a:p>
          <a:p>
            <a:r>
              <a:rPr lang="zh-CN" altLang="en-US"/>
              <a:t>循环展开：最内层循环的步长从 </a:t>
            </a:r>
            <a:r>
              <a:rPr lang="en-US" altLang="zh-CN"/>
              <a:t>l++ </a:t>
            </a:r>
            <a:r>
              <a:rPr lang="zh-CN" altLang="en-US"/>
              <a:t>改为 </a:t>
            </a:r>
            <a:r>
              <a:rPr lang="en-US" altLang="zh-CN"/>
              <a:t>l+=2，</a:t>
            </a:r>
            <a:r>
              <a:rPr lang="zh-CN" altLang="en-US"/>
              <a:t>迭代次数减半，分支跳转指令的频率随之下降，循环控制开销降低。</a:t>
            </a:r>
            <a:endParaRPr lang="zh-CN" altLang="en-US"/>
          </a:p>
          <a:p>
            <a:r>
              <a:rPr lang="zh-CN" altLang="en-US"/>
              <a:t>为什么只提升了 32%，而不是理论上的 2×</a:t>
            </a:r>
            <a:endParaRPr lang="zh-CN" altLang="en-US"/>
          </a:p>
          <a:p>
            <a:r>
              <a:rPr lang="zh-CN" altLang="en-US"/>
              <a:t>矩阵 </a:t>
            </a:r>
            <a:r>
              <a:rPr lang="en-US" altLang="zh-CN"/>
              <a:t>B </a:t>
            </a:r>
            <a:r>
              <a:rPr lang="zh-CN" altLang="en-US"/>
              <a:t>的访问模式是 </a:t>
            </a:r>
            <a:r>
              <a:rPr lang="en-US" altLang="zh-CN"/>
              <a:t>B[l*m+j]，</a:t>
            </a:r>
            <a:r>
              <a:rPr lang="zh-CN" altLang="en-US"/>
              <a:t>在列方向上不连续。</a:t>
            </a:r>
            <a:r>
              <a:rPr lang="en-US" altLang="zh-CN"/>
              <a:t>NEON </a:t>
            </a:r>
            <a:r>
              <a:rPr lang="zh-CN" altLang="en-US"/>
              <a:t>无法用 </a:t>
            </a:r>
            <a:r>
              <a:rPr lang="en-US" altLang="zh-CN"/>
              <a:t>vld1q </a:t>
            </a:r>
            <a:r>
              <a:rPr lang="zh-CN" altLang="en-US"/>
              <a:t>直接连续加载，必须用 </a:t>
            </a:r>
            <a:r>
              <a:rPr lang="en-US" altLang="zh-CN"/>
              <a:t>vsetq_lane </a:t>
            </a:r>
            <a:r>
              <a:rPr lang="zh-CN" altLang="en-US"/>
              <a:t>逐个元素拼装向量，构造开销抵消了相当一部分 </a:t>
            </a:r>
            <a:r>
              <a:rPr lang="en-US" altLang="zh-CN"/>
              <a:t>SIMD </a:t>
            </a:r>
            <a:r>
              <a:rPr lang="zh-CN" altLang="en-US"/>
              <a:t>收益。</a:t>
            </a:r>
            <a:endParaRPr lang="zh-CN" altLang="en-US"/>
          </a:p>
          <a:p>
            <a:r>
              <a:rPr lang="zh-CN" altLang="en-US"/>
              <a:t>矩阵中大量元素实际上都是零（因为所有矩阵都是对角阵），</a:t>
            </a:r>
            <a:r>
              <a:rPr lang="en-US" altLang="zh-CN"/>
              <a:t>NEON </a:t>
            </a:r>
            <a:r>
              <a:rPr lang="zh-CN" altLang="en-US"/>
              <a:t>只是“更快地算零”，并没有减少总计算量。这说明在算法层面消除冗余计算之前，</a:t>
            </a:r>
            <a:r>
              <a:rPr lang="en-US" altLang="zh-CN"/>
              <a:t>SIMD </a:t>
            </a:r>
            <a:r>
              <a:rPr lang="zh-CN" altLang="en-US"/>
              <a:t>的潜力被严重压制。</a:t>
            </a:r>
            <a:endParaRPr lang="zh-CN" altLang="en-US"/>
          </a:p>
          <a:p>
            <a:r>
              <a:rPr lang="zh-CN" altLang="en-US"/>
              <a:t>加入 </a:t>
            </a:r>
            <a:r>
              <a:rPr lang="en-US" altLang="zh-CN"/>
              <a:t>OpenMP </a:t>
            </a:r>
            <a:r>
              <a:rPr lang="zh-CN" altLang="en-US"/>
              <a:t>多核并行</a:t>
            </a:r>
            <a:endParaRPr lang="zh-CN" altLang="en-US"/>
          </a:p>
          <a:p>
            <a:r>
              <a:rPr lang="zh-CN" altLang="en-US"/>
              <a:t>线程创建、销毁和同步有固有开销，尤其在小维度时反而可能拖慢速度。4 个核心共享同一内存控制器，大量并行访存容易触发内存带宽瓶颈，使得每个核不能同时满负荷运行</a:t>
            </a:r>
            <a:r>
              <a:rPr lang="en-US" altLang="zh-CN"/>
              <a:t>.</a:t>
            </a:r>
            <a:r>
              <a:rPr lang="zh-CN" altLang="en-US"/>
              <a:t>分块边界不一定能完美均分到各线程，部分线程可能较早完成而处于等待状态。</a:t>
            </a:r>
            <a:br>
              <a:rPr lang="zh-CN" altLang="en-US"/>
            </a:br>
            <a:r>
              <a:rPr lang="zh-CN" altLang="en-US"/>
              <a:t>数据类型由 </a:t>
            </a:r>
            <a:r>
              <a:rPr lang="en-US" altLang="zh-CN"/>
              <a:t>double </a:t>
            </a:r>
            <a:r>
              <a:rPr lang="zh-CN" altLang="en-US"/>
              <a:t>改为 </a:t>
            </a:r>
            <a:r>
              <a:rPr lang="en-US" altLang="zh-CN"/>
              <a:t>float</a:t>
            </a:r>
            <a:br>
              <a:rPr lang="en-US" altLang="zh-CN"/>
            </a:br>
            <a:r>
              <a:rPr lang="zh-CN" altLang="en-US"/>
              <a:t>将所有矩阵和向量的数据类型从 </a:t>
            </a:r>
            <a:r>
              <a:rPr lang="en-US" altLang="zh-CN"/>
              <a:t>double（8 </a:t>
            </a:r>
            <a:r>
              <a:rPr lang="zh-CN" altLang="en-US"/>
              <a:t>字节）统一改为 </a:t>
            </a:r>
            <a:r>
              <a:rPr lang="en-US" altLang="zh-CN"/>
              <a:t>float（4 </a:t>
            </a:r>
            <a:r>
              <a:rPr lang="zh-CN" altLang="en-US"/>
              <a:t>字节）。</a:t>
            </a:r>
            <a:endParaRPr lang="zh-CN" altLang="en-US"/>
          </a:p>
          <a:p>
            <a:r>
              <a:rPr lang="zh-CN" altLang="en-US"/>
              <a:t>数学函数相应换成 </a:t>
            </a:r>
            <a:r>
              <a:rPr lang="en-US" altLang="zh-CN"/>
              <a:t>sqrtf，</a:t>
            </a:r>
            <a:r>
              <a:rPr lang="zh-CN" altLang="en-US"/>
              <a:t>常量加 </a:t>
            </a:r>
            <a:r>
              <a:rPr lang="en-US" altLang="zh-CN"/>
              <a:t>f </a:t>
            </a:r>
            <a:r>
              <a:rPr lang="zh-CN" altLang="en-US"/>
              <a:t>后缀。</a:t>
            </a:r>
            <a:endParaRPr lang="zh-CN" altLang="en-US"/>
          </a:p>
          <a:p>
            <a:r>
              <a:rPr lang="en-US" altLang="zh-CN"/>
              <a:t>NEON intrinsic </a:t>
            </a:r>
            <a:r>
              <a:rPr lang="zh-CN" altLang="en-US"/>
              <a:t>从 </a:t>
            </a:r>
            <a:r>
              <a:rPr lang="en-US" altLang="zh-CN"/>
              <a:t>float64x2_t </a:t>
            </a:r>
            <a:r>
              <a:rPr lang="zh-CN" altLang="en-US"/>
              <a:t>升级为 </a:t>
            </a:r>
            <a:r>
              <a:rPr lang="en-US" altLang="zh-CN"/>
              <a:t>float32x4_t，</a:t>
            </a:r>
            <a:r>
              <a:rPr lang="zh-CN" altLang="en-US"/>
              <a:t>一次处理 4 个 </a:t>
            </a:r>
            <a:r>
              <a:rPr lang="en-US" altLang="zh-CN"/>
              <a:t>float，SIMD </a:t>
            </a:r>
            <a:r>
              <a:rPr lang="zh-CN" altLang="en-US"/>
              <a:t>宽度翻倍。</a:t>
            </a:r>
            <a:endParaRPr lang="zh-CN" altLang="en-US"/>
          </a:p>
          <a:p>
            <a:r>
              <a:rPr lang="zh-CN" altLang="en-US"/>
              <a:t>多核并行已经将内存带宽占用推高，带宽成为瓶颈，进一步增加 </a:t>
            </a:r>
            <a:r>
              <a:rPr lang="en-US" altLang="zh-CN"/>
              <a:t>SIMD </a:t>
            </a:r>
            <a:r>
              <a:rPr lang="zh-CN" altLang="en-US"/>
              <a:t>吞吐的边际收益递减。</a:t>
            </a:r>
            <a:endParaRPr lang="zh-CN" altLang="en-US"/>
          </a:p>
          <a:p>
            <a:r>
              <a:rPr lang="en-US" altLang="zh-CN"/>
              <a:t>B </a:t>
            </a:r>
            <a:r>
              <a:rPr lang="zh-CN" altLang="en-US"/>
              <a:t>矩阵的列访问不连续依然是硬伤，无法充分发挥连续加载的优势。</a:t>
            </a:r>
            <a:endParaRPr lang="zh-CN" altLang="en-US"/>
          </a:p>
          <a:p>
            <a:r>
              <a:rPr lang="zh-CN" altLang="en-US"/>
              <a:t>转换为 </a:t>
            </a:r>
            <a:r>
              <a:rPr lang="en-US" altLang="zh-CN"/>
              <a:t>float </a:t>
            </a:r>
            <a:r>
              <a:rPr lang="zh-CN" altLang="en-US"/>
              <a:t>带来了精度损失（有效位数从 15 位降至 6～7 位），在这个简化模型中虽可接受，但在长时迭代或病态矩阵场景下可能导致滤波发散。</a:t>
            </a:r>
            <a:r>
              <a:rPr lang="en-US" altLang="zh-CN"/>
              <a:t>NEON </a:t>
            </a:r>
            <a:r>
              <a:rPr lang="zh-CN" altLang="en-US"/>
              <a:t>提供了指令级并行，</a:t>
            </a:r>
            <a:r>
              <a:rPr lang="en-US" altLang="zh-CN"/>
              <a:t>OpenMP </a:t>
            </a:r>
            <a:r>
              <a:rPr lang="zh-CN" altLang="en-US"/>
              <a:t>提供了线程级并行，</a:t>
            </a:r>
            <a:r>
              <a:rPr lang="en-US" altLang="zh-CN"/>
              <a:t>float </a:t>
            </a:r>
            <a:r>
              <a:rPr lang="zh-CN" altLang="en-US"/>
              <a:t>通过缩小数据宽度提升了内存效率和 </a:t>
            </a:r>
            <a:r>
              <a:rPr lang="en-US" altLang="zh-CN"/>
              <a:t>SIMD </a:t>
            </a:r>
            <a:r>
              <a:rPr lang="zh-CN" altLang="en-US"/>
              <a:t>吞吐。</a:t>
            </a:r>
            <a:endParaRPr lang="zh-CN" altLang="en-US"/>
          </a:p>
          <a:p>
            <a:r>
              <a:rPr lang="zh-CN" altLang="en-US"/>
              <a:t>三者在保留稠密矩阵算法的前提下协同作用，将单次迭代从 92.7 </a:t>
            </a:r>
            <a:r>
              <a:rPr lang="en-US" altLang="zh-CN"/>
              <a:t>ms </a:t>
            </a:r>
            <a:r>
              <a:rPr lang="zh-CN" altLang="en-US"/>
              <a:t>压缩到 23.9 </a:t>
            </a:r>
            <a:r>
              <a:rPr lang="en-US" altLang="zh-CN"/>
              <a:t>ms，</a:t>
            </a:r>
            <a:r>
              <a:rPr lang="zh-CN" altLang="en-US"/>
              <a:t>加速约 3.88 倍。</a:t>
            </a:r>
            <a:endParaRPr lang="zh-CN" altLang="en-US"/>
          </a:p>
          <a:p>
            <a:r>
              <a:rPr lang="zh-CN" altLang="en-US"/>
              <a:t>尽管与算法优化（对角阵特化，5800× 加速）相差三个数量级，但充分证明了在算法确定后，系统结构级优化仍能带来稳定且可观的提升。</a:t>
            </a:r>
            <a:endParaRPr lang="zh-CN" altLang="en-US"/>
          </a:p>
          <a:p>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主要是针对这个程序，矩阵乘法是 </a:t>
            </a:r>
            <a:r>
              <a:rPr lang="en-US" altLang="zh-CN">
                <a:sym typeface="+mn-ea"/>
              </a:rPr>
              <a:t>O(n³) </a:t>
            </a:r>
            <a:r>
              <a:rPr lang="zh-CN" altLang="en-US">
                <a:sym typeface="+mn-ea"/>
              </a:rPr>
              <a:t>的，每次迭代要执行多次 </a:t>
            </a:r>
            <a:r>
              <a:rPr lang="en-US" altLang="zh-CN">
                <a:sym typeface="+mn-ea"/>
              </a:rPr>
              <a:t>mat_mul</a:t>
            </a:r>
            <a:r>
              <a:rPr lang="zh-CN" altLang="en-US">
                <a:sym typeface="+mn-ea"/>
              </a:rPr>
              <a:t>三重循环内部有大量 </a:t>
            </a:r>
            <a:r>
              <a:rPr lang="en-US" altLang="zh-CN">
                <a:sym typeface="+mn-ea"/>
              </a:rPr>
              <a:t>i * k + l </a:t>
            </a:r>
            <a:r>
              <a:rPr lang="zh-CN" altLang="en-US">
                <a:sym typeface="+mn-ea"/>
              </a:rPr>
              <a:t>这样的索引乘法，数量级也是 </a:t>
            </a:r>
            <a:r>
              <a:rPr lang="en-US" altLang="zh-CN">
                <a:sym typeface="+mn-ea"/>
              </a:rPr>
              <a:t>O(n³)</a:t>
            </a:r>
            <a:endParaRPr lang="en-US" altLang="zh-CN">
              <a:sym typeface="+mn-ea"/>
            </a:endParaRPr>
          </a:p>
          <a:p>
            <a:r>
              <a:rPr lang="zh-CN" altLang="en-US"/>
              <a:t>在这个系统里，协方差矩阵 </a:t>
            </a:r>
            <a:r>
              <a:rPr lang="en-US" altLang="zh-CN"/>
              <a:t>P、</a:t>
            </a:r>
            <a:r>
              <a:rPr lang="zh-CN" altLang="en-US"/>
              <a:t>过程噪声 </a:t>
            </a:r>
            <a:r>
              <a:rPr lang="en-US" altLang="zh-CN"/>
              <a:t>Q、</a:t>
            </a:r>
            <a:r>
              <a:rPr lang="zh-CN" altLang="en-US"/>
              <a:t>测量噪声 </a:t>
            </a:r>
            <a:r>
              <a:rPr lang="en-US" altLang="zh-CN"/>
              <a:t>R，</a:t>
            </a:r>
            <a:r>
              <a:rPr lang="zh-CN" altLang="en-US"/>
              <a:t>以及计算出的卡尔曼增益 </a:t>
            </a:r>
            <a:r>
              <a:rPr lang="en-US" altLang="zh-CN"/>
              <a:t>K，</a:t>
            </a:r>
            <a:r>
              <a:rPr lang="zh-CN" altLang="en-US"/>
              <a:t>自始至终都是对角矩阵。一旦确认了这一点，我们就可以做算法级重构，而不是简单的代码调优。不再用 </a:t>
            </a:r>
            <a:r>
              <a:rPr lang="en-US" altLang="zh-CN"/>
              <a:t>dim × dim </a:t>
            </a:r>
            <a:r>
              <a:rPr lang="zh-CN" altLang="en-US"/>
              <a:t>的二维数组，改用长度为 </a:t>
            </a:r>
            <a:r>
              <a:rPr lang="en-US" altLang="zh-CN"/>
              <a:t>dim </a:t>
            </a:r>
            <a:r>
              <a:rPr lang="zh-CN" altLang="en-US"/>
              <a:t>的一维向量，只存对角线元素。矩阵加法变成逐元素标量加法。矩阵乘法变成逐元素标量乘法。矩阵求逆退化为取倒数。整个卡尔曼滤波的五个步骤，全部可以从矩阵公式退化成一个简单的标量 </a:t>
            </a:r>
            <a:r>
              <a:rPr lang="en-US" altLang="zh-CN"/>
              <a:t>for </a:t>
            </a:r>
            <a:r>
              <a:rPr lang="zh-CN" altLang="en-US"/>
              <a:t>循环，复杂度从 </a:t>
            </a:r>
            <a:r>
              <a:rPr lang="en-US" altLang="zh-CN"/>
              <a:t>O(n³) </a:t>
            </a:r>
            <a:r>
              <a:rPr lang="zh-CN" altLang="en-US"/>
              <a:t>直接降到 </a:t>
            </a:r>
            <a:r>
              <a:rPr lang="en-US" altLang="zh-CN"/>
              <a:t>O(n)，</a:t>
            </a:r>
            <a:r>
              <a:rPr lang="zh-CN" altLang="en-US"/>
              <a:t>索引乘法彻底消失。</a:t>
            </a:r>
            <a:br>
              <a:rPr lang="zh-CN" altLang="en-US"/>
            </a:br>
            <a:r>
              <a:rPr lang="zh-CN" altLang="en-US"/>
              <a:t>第一步：对角矩阵优化</a:t>
            </a:r>
            <a:endParaRPr lang="zh-CN" altLang="en-US"/>
          </a:p>
          <a:p>
            <a:r>
              <a:rPr lang="zh-CN" altLang="en-US"/>
              <a:t>这是质变的一步。我们彻底抛弃了矩阵乘法和二维存储，改为标量循环。时间从 92.7</a:t>
            </a:r>
            <a:r>
              <a:rPr lang="en-US" altLang="zh-CN"/>
              <a:t>ms </a:t>
            </a:r>
            <a:r>
              <a:rPr lang="zh-CN" altLang="en-US"/>
              <a:t>降到 0.016</a:t>
            </a:r>
            <a:r>
              <a:rPr lang="en-US" altLang="zh-CN"/>
              <a:t>ms，</a:t>
            </a:r>
            <a:r>
              <a:rPr lang="zh-CN" altLang="en-US"/>
              <a:t>加速近 5800 倍。这一步贡献了绝大部分的收益。</a:t>
            </a:r>
            <a:endParaRPr lang="zh-CN" altLang="en-US"/>
          </a:p>
          <a:p>
            <a:r>
              <a:rPr lang="zh-CN" altLang="en-US"/>
              <a:t>第二步：常量折叠和标量化</a:t>
            </a:r>
            <a:endParaRPr lang="zh-CN" altLang="en-US"/>
          </a:p>
          <a:p>
            <a:r>
              <a:rPr lang="zh-CN" altLang="en-US"/>
              <a:t>因为 </a:t>
            </a:r>
            <a:r>
              <a:rPr lang="en-US" altLang="zh-CN"/>
              <a:t>Q </a:t>
            </a:r>
            <a:r>
              <a:rPr lang="zh-CN" altLang="en-US"/>
              <a:t>和 </a:t>
            </a:r>
            <a:r>
              <a:rPr lang="en-US" altLang="zh-CN"/>
              <a:t>R </a:t>
            </a:r>
            <a:r>
              <a:rPr lang="zh-CN" altLang="en-US"/>
              <a:t>在这个场景下是常量 0.5，我们直接把常数写进表达式，同时省掉了 </a:t>
            </a:r>
            <a:r>
              <a:rPr lang="en-US" altLang="zh-CN"/>
              <a:t>K、z </a:t>
            </a:r>
            <a:r>
              <a:rPr lang="zh-CN" altLang="en-US"/>
              <a:t>等临时数组。时间进一步从 0.016</a:t>
            </a:r>
            <a:r>
              <a:rPr lang="en-US" altLang="zh-CN"/>
              <a:t>ms </a:t>
            </a:r>
            <a:r>
              <a:rPr lang="zh-CN" altLang="en-US"/>
              <a:t>降到 0.0125</a:t>
            </a:r>
            <a:r>
              <a:rPr lang="en-US" altLang="zh-CN"/>
              <a:t>ms。</a:t>
            </a:r>
            <a:endParaRPr lang="en-US" altLang="zh-CN"/>
          </a:p>
          <a:p>
            <a:r>
              <a:rPr lang="zh-CN" altLang="en-US"/>
              <a:t>第三步：尝试 </a:t>
            </a:r>
            <a:r>
              <a:rPr lang="en-US" altLang="zh-CN"/>
              <a:t>float </a:t>
            </a:r>
            <a:r>
              <a:rPr lang="zh-CN" altLang="en-US"/>
              <a:t>替换 </a:t>
            </a:r>
            <a:r>
              <a:rPr lang="en-US" altLang="zh-CN"/>
              <a:t>double</a:t>
            </a:r>
            <a:endParaRPr lang="en-US" altLang="zh-CN"/>
          </a:p>
          <a:p>
            <a:r>
              <a:rPr lang="zh-CN" altLang="en-US"/>
              <a:t>我们顺便测试了把 </a:t>
            </a:r>
            <a:r>
              <a:rPr lang="en-US" altLang="zh-CN"/>
              <a:t>double </a:t>
            </a:r>
            <a:r>
              <a:rPr lang="zh-CN" altLang="en-US"/>
              <a:t>改成 </a:t>
            </a:r>
            <a:r>
              <a:rPr lang="en-US" altLang="zh-CN"/>
              <a:t>float，</a:t>
            </a:r>
            <a:r>
              <a:rPr lang="zh-CN" altLang="en-US"/>
              <a:t>但时间没变，还是 0.0126</a:t>
            </a:r>
            <a:r>
              <a:rPr lang="en-US" altLang="zh-CN"/>
              <a:t>ms。</a:t>
            </a:r>
            <a:r>
              <a:rPr lang="zh-CN" altLang="en-US"/>
              <a:t>这说明在这个极简标量循环里，瓶颈已经不是数据类型宽度了。</a:t>
            </a:r>
            <a:br>
              <a:rPr lang="zh-CN" altLang="en-US"/>
            </a:br>
            <a:r>
              <a:rPr lang="zh-CN" altLang="en-US"/>
              <a:t>时间尺度极短，任何外部干扰都会被放大</a:t>
            </a:r>
            <a:r>
              <a:rPr lang="en-US" altLang="zh-CN"/>
              <a:t>,</a:t>
            </a:r>
            <a:r>
              <a:rPr lang="zh-CN" altLang="en-US"/>
              <a:t> 计时区间内混入了不属于计算的事件。</a:t>
            </a:r>
            <a:br>
              <a:rPr lang="zh-CN" altLang="en-US"/>
            </a:br>
            <a:r>
              <a:rPr lang="zh-CN" altLang="en-US"/>
              <a:t>为什么 </a:t>
            </a:r>
            <a:r>
              <a:rPr lang="en-US" altLang="zh-CN"/>
              <a:t>double </a:t>
            </a:r>
            <a:r>
              <a:rPr lang="zh-CN" altLang="en-US"/>
              <a:t>版本受干扰严重，</a:t>
            </a:r>
            <a:r>
              <a:rPr lang="en-US" altLang="zh-CN"/>
              <a:t>float </a:t>
            </a:r>
            <a:r>
              <a:rPr lang="zh-CN" altLang="en-US"/>
              <a:t>版本却很干净？</a:t>
            </a:r>
            <a:endParaRPr lang="zh-CN" altLang="en-US"/>
          </a:p>
          <a:p>
            <a:r>
              <a:rPr lang="zh-CN" altLang="en-US"/>
              <a:t>这其实是一个偶然的“观测错觉”，还是由系统状态决定的。不过也有可能因为：</a:t>
            </a:r>
            <a:endParaRPr lang="zh-CN" altLang="en-US"/>
          </a:p>
          <a:p>
            <a:r>
              <a:rPr lang="en-US" altLang="zh-CN"/>
              <a:t>loat </a:t>
            </a:r>
            <a:r>
              <a:rPr lang="zh-CN" altLang="en-US"/>
              <a:t>版本数据宽度小一半，相同 </a:t>
            </a:r>
            <a:r>
              <a:rPr lang="en-US" altLang="zh-CN"/>
              <a:t>dim </a:t>
            </a:r>
            <a:r>
              <a:rPr lang="zh-CN" altLang="en-US"/>
              <a:t>下处理的总数据量更小，缓存占用更少，遇到 </a:t>
            </a:r>
            <a:r>
              <a:rPr lang="en-US" altLang="zh-CN"/>
              <a:t>TLB </a:t>
            </a:r>
            <a:r>
              <a:rPr lang="zh-CN" altLang="en-US"/>
              <a:t>抖动或缓存颠簸的概率更低，从而更少被内核的“缓存回收”或页面管理机制干扰。</a:t>
            </a:r>
            <a:endParaRPr lang="zh-CN" altLang="en-US"/>
          </a:p>
          <a:p>
            <a:r>
              <a:rPr lang="zh-CN" altLang="en-US"/>
              <a:t>编译器对 </a:t>
            </a:r>
            <a:r>
              <a:rPr lang="en-US" altLang="zh-CN"/>
              <a:t>float </a:t>
            </a:r>
            <a:r>
              <a:rPr lang="zh-CN" altLang="en-US"/>
              <a:t>循环的自动向量化可能更高效（</a:t>
            </a:r>
            <a:r>
              <a:rPr lang="en-US" altLang="zh-CN"/>
              <a:t>ARM NEON </a:t>
            </a:r>
            <a:r>
              <a:rPr lang="zh-CN" altLang="en-US"/>
              <a:t>有 4 路 </a:t>
            </a:r>
            <a:r>
              <a:rPr lang="en-US" altLang="zh-CN"/>
              <a:t>float SIMD，</a:t>
            </a:r>
            <a:r>
              <a:rPr lang="zh-CN" altLang="en-US"/>
              <a:t>而 </a:t>
            </a:r>
            <a:r>
              <a:rPr lang="en-US" altLang="zh-CN"/>
              <a:t>double </a:t>
            </a:r>
            <a:r>
              <a:rPr lang="zh-CN" altLang="en-US"/>
              <a:t>只有 2 路），使得执行时间更短、更一致，离外部事件的“波动基数”相对更远，看起来更平滑。</a:t>
            </a:r>
            <a:endParaRPr lang="en-US" altLang="zh-CN"/>
          </a:p>
          <a:p>
            <a:r>
              <a:rPr lang="zh-CN" altLang="en-US"/>
              <a:t>这两次测试可能是先后运行的，系统负载不同，第二次跑 </a:t>
            </a:r>
            <a:r>
              <a:rPr lang="en-US" altLang="zh-CN"/>
              <a:t>float </a:t>
            </a:r>
            <a:r>
              <a:rPr lang="zh-CN" altLang="en-US"/>
              <a:t>时系统恰好更空闲，所以没出现尖峰。如果多跑几次 </a:t>
            </a:r>
            <a:r>
              <a:rPr lang="en-US" altLang="zh-CN"/>
              <a:t>float </a:t>
            </a:r>
            <a:r>
              <a:rPr lang="zh-CN" altLang="en-US"/>
              <a:t>版，也可能偶尔出现一两个尖峰。</a:t>
            </a:r>
            <a:br>
              <a:rPr lang="zh-CN" altLang="en-US"/>
            </a:br>
            <a:r>
              <a:rPr lang="zh-CN" altLang="en-US"/>
              <a:t>数学前提的强制校验——对角性假设不能“相信”，要“验证”在开发阶段，用断言或 #</a:t>
            </a:r>
            <a:r>
              <a:rPr lang="en-US" altLang="zh-CN"/>
              <a:t>ifdef DEBUG </a:t>
            </a:r>
            <a:r>
              <a:rPr lang="zh-CN" altLang="en-US"/>
              <a:t>保护，检查非对角线元素是否为零。</a:t>
            </a:r>
            <a:endParaRPr lang="zh-CN" altLang="en-US"/>
          </a:p>
          <a:p>
            <a:r>
              <a:rPr lang="zh-CN" altLang="en-US"/>
              <a:t>对角优化后，公式变成了：</a:t>
            </a:r>
            <a:r>
              <a:rPr lang="en-US" altLang="zh-CN"/>
              <a:t>p = p*q/(p+r)</a:t>
            </a:r>
            <a:r>
              <a:rPr lang="zh-CN" altLang="en-US"/>
              <a:t>长时间收敛后 </a:t>
            </a:r>
            <a:r>
              <a:rPr lang="en-US" altLang="zh-CN"/>
              <a:t>p </a:t>
            </a:r>
            <a:r>
              <a:rPr lang="zh-CN" altLang="en-US"/>
              <a:t>可能逐渐下溢到非正规数甚至零，导致滤波器“锁死”。对分母加一个极小值保护：</a:t>
            </a:r>
            <a:r>
              <a:rPr lang="en-US" altLang="zh-CN"/>
              <a:t>den = p[i] + r; if (den &lt; 1e-15) den = 1e-15;</a:t>
            </a:r>
            <a:r>
              <a:rPr lang="zh-CN" altLang="en-US"/>
              <a:t>监控 </a:t>
            </a:r>
            <a:r>
              <a:rPr lang="en-US" altLang="zh-CN"/>
              <a:t>p </a:t>
            </a:r>
            <a:r>
              <a:rPr lang="zh-CN" altLang="en-US"/>
              <a:t>的非负性，如果出现负值（由于浮点舍入）应立即钳位到 0 并记录警告。</a:t>
            </a:r>
            <a:endParaRPr lang="zh-CN" altLang="en-US"/>
          </a:p>
          <a:p>
            <a:r>
              <a:rPr lang="zh-CN" altLang="en-US"/>
              <a:t>常量折叠的代价——灵活性完全丧失</a:t>
            </a:r>
            <a:endParaRPr lang="zh-CN" altLang="en-US"/>
          </a:p>
          <a:p>
            <a:r>
              <a:rPr lang="zh-CN" altLang="en-US"/>
              <a:t>你把 </a:t>
            </a:r>
            <a:r>
              <a:rPr lang="en-US" altLang="zh-CN"/>
              <a:t>q=0.5、r=0.5 </a:t>
            </a:r>
            <a:r>
              <a:rPr lang="zh-CN" altLang="en-US"/>
              <a:t>写死到了表达式里，性能极致，但任何参数调整都需要重新编译。</a:t>
            </a:r>
            <a:endParaRPr lang="zh-CN" altLang="en-US"/>
          </a:p>
          <a:p>
            <a:r>
              <a:rPr lang="zh-CN" altLang="en-US"/>
              <a:t>一旦 </a:t>
            </a:r>
            <a:r>
              <a:rPr lang="en-US" altLang="zh-CN"/>
              <a:t>dim </a:t>
            </a:r>
            <a:r>
              <a:rPr lang="zh-CN" altLang="en-US"/>
              <a:t>参数传错，或者循环边界写错，可能访问越界而不自知在所有数组访问前显式检查 </a:t>
            </a:r>
            <a:r>
              <a:rPr lang="en-US" altLang="zh-CN"/>
              <a:t>i &lt; dim，</a:t>
            </a:r>
            <a:r>
              <a:rPr lang="zh-CN" altLang="en-US"/>
              <a:t>如果使用指针，确保分配尺寸正确。开启编译器的边界检查（如 -</a:t>
            </a:r>
            <a:r>
              <a:rPr lang="en-US" altLang="zh-CN"/>
              <a:t>fsanitize=address）</a:t>
            </a:r>
            <a:r>
              <a:rPr lang="zh-CN" altLang="en-US"/>
              <a:t>进行测试。</a:t>
            </a:r>
            <a:endParaRPr lang="zh-CN" altLang="en-US"/>
          </a:p>
          <a:p>
            <a:r>
              <a:rPr lang="zh-CN" altLang="en-US"/>
              <a:t>对关键输入参数（</a:t>
            </a:r>
            <a:r>
              <a:rPr lang="en-US" altLang="zh-CN"/>
              <a:t>dim、</a:t>
            </a:r>
            <a:r>
              <a:rPr lang="zh-CN" altLang="en-US"/>
              <a:t>数组指针）加入非空断言和范围检查。</a:t>
            </a:r>
            <a:endParaRPr lang="zh-CN" altLang="en-US"/>
          </a:p>
          <a:p>
            <a:r>
              <a:rPr lang="zh-CN" altLang="en-US"/>
              <a:t>你把 </a:t>
            </a:r>
            <a:r>
              <a:rPr lang="en-US" altLang="zh-CN"/>
              <a:t>double </a:t>
            </a:r>
            <a:r>
              <a:rPr lang="zh-CN" altLang="en-US"/>
              <a:t>改为 </a:t>
            </a:r>
            <a:r>
              <a:rPr lang="en-US" altLang="zh-CN"/>
              <a:t>float </a:t>
            </a:r>
            <a:r>
              <a:rPr lang="zh-CN" altLang="en-US"/>
              <a:t>后发现性能没有明显变化，但这不代表精度也没影响。在某些维度或累积迭代次数下，</a:t>
            </a:r>
            <a:r>
              <a:rPr lang="en-US" altLang="zh-CN"/>
              <a:t>float </a:t>
            </a:r>
            <a:r>
              <a:rPr lang="zh-CN" altLang="en-US"/>
              <a:t>可能因为精度不够而出现：协方差矩阵失去半正定性，导致增益计算异常。状态更新缓慢偏移，最终发散。</a:t>
            </a:r>
            <a:endParaRPr lang="zh-CN" altLang="en-US"/>
          </a:p>
          <a:p>
            <a:endParaRPr lang="en-US" altLang="zh-CN"/>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84810" y="164465"/>
            <a:ext cx="10389235" cy="549910"/>
          </a:xfrm>
        </p:spPr>
        <p:txBody>
          <a:bodyPr/>
          <a:lstStyle>
            <a:lvl1pPr>
              <a:defRPr sz="2600" u="none" strike="noStrike" kern="1200" cap="none" spc="0" normalizeH="0">
                <a:solidFill>
                  <a:schemeClr val="tx1"/>
                </a:solidFill>
                <a:uFillTx/>
                <a:latin typeface="Arial" panose="020B0604020202020204" pitchFamily="34" charset="0"/>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4810" y="894715"/>
            <a:ext cx="11521440" cy="5335905"/>
          </a:xfrm>
        </p:spPr>
        <p:txBody>
          <a:bodyPr/>
          <a:lstStyle>
            <a:lvl1pPr>
              <a:defRPr sz="2000" u="none" strike="noStrike" kern="1200" cap="none" spc="0" normalizeH="0">
                <a:solidFill>
                  <a:schemeClr val="tx1"/>
                </a:solidFill>
                <a:uFillTx/>
                <a:latin typeface="Arial" panose="020B0604020202020204" pitchFamily="34" charset="0"/>
                <a:ea typeface="微软雅黑" panose="020B0503020204020204" charset="-122"/>
              </a:defRPr>
            </a:lvl1pPr>
            <a:lvl2pPr>
              <a:defRPr sz="1600" u="none" strike="noStrike" kern="1200" cap="none" spc="0" normalizeH="0">
                <a:solidFill>
                  <a:schemeClr val="tx1"/>
                </a:solidFill>
                <a:uFillTx/>
                <a:latin typeface="Arial" panose="020B0604020202020204" pitchFamily="34" charset="0"/>
                <a:ea typeface="微软雅黑" panose="020B0503020204020204" charset="-122"/>
              </a:defRPr>
            </a:lvl2pPr>
            <a:lvl3pPr>
              <a:defRPr sz="1400" u="none" strike="noStrike" kern="1200" cap="none" spc="0" normalizeH="0">
                <a:solidFill>
                  <a:schemeClr val="tx1"/>
                </a:solidFill>
                <a:uFillTx/>
                <a:latin typeface="+mn-lt"/>
                <a:ea typeface="微软雅黑" panose="020B0503020204020204" charset="-122"/>
              </a:defRPr>
            </a:lvl3pPr>
            <a:lvl4pPr>
              <a:defRPr sz="1400" u="none" strike="noStrike" kern="1200" cap="none" spc="0" normalizeH="0">
                <a:solidFill>
                  <a:schemeClr val="tx1"/>
                </a:solidFill>
                <a:uFillTx/>
                <a:latin typeface="+mn-lt"/>
                <a:ea typeface="微软雅黑" panose="020B0503020204020204" charset="-122"/>
              </a:defRPr>
            </a:lvl4pPr>
            <a:lvl5pPr>
              <a:defRPr sz="1400" u="none" strike="noStrike" kern="1200" cap="none" spc="0" normalizeH="0">
                <a:solidFill>
                  <a:schemeClr val="tx1"/>
                </a:solidFill>
                <a:uFillTx/>
                <a:latin typeface="+mn-lt"/>
                <a:ea typeface="微软雅黑" panose="020B0503020204020204"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cxnSp>
        <p:nvCxnSpPr>
          <p:cNvPr id="10" name="直接连接符 7"/>
          <p:cNvCxnSpPr/>
          <p:nvPr userDrawn="1"/>
        </p:nvCxnSpPr>
        <p:spPr>
          <a:xfrm flipV="1">
            <a:off x="384636" y="725914"/>
            <a:ext cx="10257088" cy="21368"/>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00" y="6356350"/>
            <a:ext cx="2844800" cy="365125"/>
          </a:xfr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60800" cy="365125"/>
          </a:xfrm>
        </p:spPr>
        <p:txBody>
          <a:bodyPr/>
          <a:lstStyle/>
          <a:p>
            <a:endParaRPr lang="zh-CN" altLang="en-US"/>
          </a:p>
        </p:txBody>
      </p:sp>
      <p:sp>
        <p:nvSpPr>
          <p:cNvPr id="6" name="灯片编号占位符 5"/>
          <p:cNvSpPr>
            <a:spLocks noGrp="1"/>
          </p:cNvSpPr>
          <p:nvPr>
            <p:ph type="sldNum" sz="quarter" idx="12"/>
          </p:nvPr>
        </p:nvSpPr>
        <p:spPr>
          <a:xfrm>
            <a:off x="8737600" y="6356350"/>
            <a:ext cx="2844800" cy="365125"/>
          </a:xfrm>
        </p:spPr>
        <p:txBody>
          <a:bodyPr/>
          <a:lstStyle/>
          <a:p>
            <a:fld id="{0C913308-F349-4B6D-A68A-DD1791B4A57B}" type="slidenum">
              <a:rPr lang="zh-CN" altLang="en-US" smtClean="0"/>
            </a:fld>
            <a:endParaRPr lang="zh-CN" altLang="en-US"/>
          </a:p>
        </p:txBody>
      </p:sp>
      <p:cxnSp>
        <p:nvCxnSpPr>
          <p:cNvPr id="8" name="直接连接符 7"/>
          <p:cNvCxnSpPr/>
          <p:nvPr userDrawn="1"/>
        </p:nvCxnSpPr>
        <p:spPr>
          <a:xfrm>
            <a:off x="143339" y="836712"/>
            <a:ext cx="118093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a:xfrm>
            <a:off x="4165600" y="6356350"/>
            <a:ext cx="3860800" cy="365125"/>
          </a:xfrm>
        </p:spPr>
        <p:txBody>
          <a:bodyPr/>
          <a:lstStyle/>
          <a:p>
            <a:endParaRPr lang="zh-CN" altLang="en-US"/>
          </a:p>
        </p:txBody>
      </p:sp>
      <p:sp>
        <p:nvSpPr>
          <p:cNvPr id="4" name="灯片编号占位符 3"/>
          <p:cNvSpPr>
            <a:spLocks noGrp="1"/>
          </p:cNvSpPr>
          <p:nvPr>
            <p:ph type="sldNum" sz="quarter" idx="12"/>
          </p:nvPr>
        </p:nvSpPr>
        <p:spPr>
          <a:xfrm>
            <a:off x="8737600" y="6356350"/>
            <a:ext cx="2844800" cy="365125"/>
          </a:xfrm>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84810" y="69215"/>
            <a:ext cx="10515600" cy="89408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矩形 8"/>
          <p:cNvSpPr/>
          <p:nvPr userDrawn="1"/>
        </p:nvSpPr>
        <p:spPr>
          <a:xfrm>
            <a:off x="0" y="6273800"/>
            <a:ext cx="12192000" cy="584200"/>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1F1F1"/>
              </a:solidFill>
            </a:endParaRPr>
          </a:p>
        </p:txBody>
      </p:sp>
      <p:pic>
        <p:nvPicPr>
          <p:cNvPr id="10" name="图片 9"/>
          <p:cNvPicPr>
            <a:picLocks noChangeAspect="1"/>
          </p:cNvPicPr>
          <p:nvPr userDrawn="1"/>
        </p:nvPicPr>
        <p:blipFill>
          <a:blip r:embed="rId5"/>
          <a:stretch>
            <a:fillRect/>
          </a:stretch>
        </p:blipFill>
        <p:spPr>
          <a:xfrm>
            <a:off x="0" y="6743700"/>
            <a:ext cx="12192000" cy="114300"/>
          </a:xfrm>
          <a:prstGeom prst="rect">
            <a:avLst/>
          </a:prstGeom>
        </p:spPr>
      </p:pic>
      <p:sp>
        <p:nvSpPr>
          <p:cNvPr id="15" name="灯片编号占位符 20"/>
          <p:cNvSpPr txBox="1"/>
          <p:nvPr userDrawn="1"/>
        </p:nvSpPr>
        <p:spPr>
          <a:xfrm>
            <a:off x="11751631" y="6343847"/>
            <a:ext cx="498578"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000" dirty="0">
                <a:solidFill>
                  <a:schemeClr val="tx1">
                    <a:lumMod val="75000"/>
                    <a:lumOff val="25000"/>
                  </a:schemeClr>
                </a:solidFill>
                <a:latin typeface="Arial" panose="020B0604020202020204" pitchFamily="34" charset="0"/>
                <a:cs typeface="Arial" panose="020B0604020202020204" pitchFamily="34" charset="0"/>
              </a:rPr>
              <a:t>-</a:t>
            </a:r>
            <a:fld id="{BF71A997-7E79-41BB-B83B-6503C36C821C}" type="slidenum">
              <a:rPr lang="zh-CN" altLang="en-US" sz="1000" smtClean="0">
                <a:solidFill>
                  <a:schemeClr val="tx1">
                    <a:lumMod val="75000"/>
                    <a:lumOff val="25000"/>
                  </a:schemeClr>
                </a:solidFill>
                <a:latin typeface="Arial" panose="020B0604020202020204" pitchFamily="34" charset="0"/>
                <a:cs typeface="Arial" panose="020B0604020202020204" pitchFamily="34" charset="0"/>
              </a:rPr>
            </a:fld>
            <a:r>
              <a:rPr lang="en-US" altLang="zh-CN" sz="1000" dirty="0">
                <a:solidFill>
                  <a:schemeClr val="tx1">
                    <a:lumMod val="75000"/>
                    <a:lumOff val="25000"/>
                  </a:schemeClr>
                </a:solidFill>
                <a:latin typeface="Arial" panose="020B0604020202020204" pitchFamily="34" charset="0"/>
                <a:cs typeface="Arial" panose="020B0604020202020204" pitchFamily="34" charset="0"/>
              </a:rPr>
              <a:t>-</a:t>
            </a:r>
            <a:endParaRPr lang="zh-CN" altLang="en-US" sz="1000" dirty="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4" name="直接连接符 7"/>
          <p:cNvCxnSpPr/>
          <p:nvPr userDrawn="1"/>
        </p:nvCxnSpPr>
        <p:spPr>
          <a:xfrm flipV="1">
            <a:off x="384636" y="725914"/>
            <a:ext cx="10257088" cy="21368"/>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p:txStyles>
    <p:titleStyle>
      <a:lvl1pPr algn="l" defTabSz="914400" rtl="0" eaLnBrk="1" latinLnBrk="0" hangingPunct="1">
        <a:lnSpc>
          <a:spcPct val="90000"/>
        </a:lnSpc>
        <a:spcBef>
          <a:spcPct val="0"/>
        </a:spcBef>
        <a:buNone/>
        <a:defRPr sz="2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sp>
        <p:nvSpPr>
          <p:cNvPr id="6" name="矩形 5"/>
          <p:cNvSpPr/>
          <p:nvPr/>
        </p:nvSpPr>
        <p:spPr>
          <a:xfrm>
            <a:off x="3718560" y="2612390"/>
            <a:ext cx="4754880" cy="1198880"/>
          </a:xfrm>
          <a:prstGeom prst="rect">
            <a:avLst/>
          </a:prstGeom>
          <a:noFill/>
          <a:ln>
            <a:noFill/>
          </a:ln>
        </p:spPr>
        <p:txBody>
          <a:bodyPr wrap="none" rtlCol="0" anchor="t">
            <a:spAutoFit/>
          </a:bodyPr>
          <a:p>
            <a:pPr algn="ctr"/>
            <a:r>
              <a:rPr lang="zh-CN" altLang="en-US" sz="7200" b="1">
                <a:solidFill>
                  <a:schemeClr val="accent1"/>
                </a:solidFill>
                <a:effectLst>
                  <a:outerShdw blurRad="38100" dist="25400" dir="5400000" algn="ctr" rotWithShape="0">
                    <a:srgbClr val="6E747A">
                      <a:alpha val="43000"/>
                    </a:srgbClr>
                  </a:outerShdw>
                </a:effectLst>
              </a:rPr>
              <a:t>卡尔曼滤波</a:t>
            </a:r>
            <a:endParaRPr lang="zh-CN" altLang="en-US" sz="7200" b="1">
              <a:solidFill>
                <a:schemeClr val="accent1"/>
              </a:solidFill>
              <a:effectLst>
                <a:outerShdw blurRad="38100" dist="25400" dir="5400000" algn="ctr" rotWithShape="0">
                  <a:srgbClr val="6E747A">
                    <a:alpha val="43000"/>
                  </a:srgbClr>
                </a:outerShdw>
              </a:effectLst>
            </a:endParaRPr>
          </a:p>
        </p:txBody>
      </p:sp>
      <p:sp>
        <p:nvSpPr>
          <p:cNvPr id="2" name="文本框 1"/>
          <p:cNvSpPr txBox="1"/>
          <p:nvPr/>
        </p:nvSpPr>
        <p:spPr>
          <a:xfrm>
            <a:off x="8823325" y="4207510"/>
            <a:ext cx="2667000" cy="368300"/>
          </a:xfrm>
          <a:prstGeom prst="rect">
            <a:avLst/>
          </a:prstGeom>
          <a:noFill/>
        </p:spPr>
        <p:txBody>
          <a:bodyPr wrap="square" rtlCol="0">
            <a:spAutoFit/>
          </a:bodyPr>
          <a:p>
            <a:endParaRPr lang="zh-CN" altLang="en-US"/>
          </a:p>
        </p:txBody>
      </p:sp>
      <p:sp>
        <p:nvSpPr>
          <p:cNvPr id="5" name="文本框 4"/>
          <p:cNvSpPr txBox="1"/>
          <p:nvPr/>
        </p:nvSpPr>
        <p:spPr>
          <a:xfrm>
            <a:off x="8407400" y="4600575"/>
            <a:ext cx="2851785" cy="922020"/>
          </a:xfrm>
          <a:prstGeom prst="rect">
            <a:avLst/>
          </a:prstGeom>
          <a:noFill/>
        </p:spPr>
        <p:txBody>
          <a:bodyPr wrap="square" rtlCol="0">
            <a:spAutoFit/>
          </a:bodyPr>
          <a:p>
            <a:r>
              <a:rPr lang="zh-CN" altLang="en-US"/>
              <a:t>陈雨烟：实验，汇报</a:t>
            </a:r>
            <a:endParaRPr lang="zh-CN" altLang="en-US"/>
          </a:p>
          <a:p>
            <a:r>
              <a:rPr lang="zh-CN" altLang="en-US"/>
              <a:t>马华：文档，</a:t>
            </a:r>
            <a:r>
              <a:rPr lang="en-US" altLang="zh-CN"/>
              <a:t>ppt</a:t>
            </a:r>
            <a:endParaRPr lang="zh-CN" altLang="en-US"/>
          </a:p>
          <a:p>
            <a:r>
              <a:rPr lang="zh-CN" altLang="en-US"/>
              <a:t>李官磊：</a:t>
            </a:r>
            <a:r>
              <a:rPr lang="en-US" altLang="zh-CN"/>
              <a:t>ppt</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sp>
        <p:nvSpPr>
          <p:cNvPr id="2" name="标题 1"/>
          <p:cNvSpPr>
            <a:spLocks noGrp="1"/>
          </p:cNvSpPr>
          <p:nvPr>
            <p:ph type="title"/>
          </p:nvPr>
        </p:nvSpPr>
        <p:spPr>
          <a:xfrm>
            <a:off x="297815" y="219075"/>
            <a:ext cx="11500485" cy="525780"/>
          </a:xfrm>
        </p:spPr>
        <p:txBody>
          <a:bodyPr/>
          <a:lstStyle/>
          <a:p>
            <a:r>
              <a:rPr lang="zh-CN" altLang="en-US"/>
              <a:t>卡尔曼滤波</a:t>
            </a:r>
            <a:endParaRPr lang="zh-CN" altLang="en-US"/>
          </a:p>
        </p:txBody>
      </p:sp>
      <p:sp>
        <p:nvSpPr>
          <p:cNvPr id="7" name="文本框 6"/>
          <p:cNvSpPr txBox="1"/>
          <p:nvPr/>
        </p:nvSpPr>
        <p:spPr>
          <a:xfrm>
            <a:off x="536575" y="956310"/>
            <a:ext cx="10547350" cy="1938020"/>
          </a:xfrm>
          <a:prstGeom prst="rect">
            <a:avLst/>
          </a:prstGeom>
          <a:noFill/>
        </p:spPr>
        <p:txBody>
          <a:bodyPr wrap="square" rtlCol="0">
            <a:spAutoFit/>
          </a:bodyPr>
          <a:p>
            <a:r>
              <a:rPr lang="zh-CN" altLang="en-US" sz="2400"/>
              <a:t>卡尔曼滤波（英语：</a:t>
            </a:r>
            <a:r>
              <a:rPr lang="en-US" altLang="zh-CN" sz="2400"/>
              <a:t>Kalman filter）</a:t>
            </a:r>
            <a:r>
              <a:rPr lang="zh-CN" altLang="en-US" sz="2400"/>
              <a:t>是一种高效率的递归滤波器（自回归滤波器），它能够从一系列的不完全及包含噪声的测量中，估计动态系统的状态。卡尔曼滤波会根据各测量量在不同时间下的值，考虑各时间下的联合分布，再产生对未知变量的估计，因此会比只以单一测量量为基础的估计方式要准。卡尔曼滤波得名自主要贡献者之一的鲁道夫·卡尔曼</a:t>
            </a:r>
            <a:r>
              <a:rPr lang="en-US" altLang="zh-CN" sz="800"/>
              <a:t>https://zh.wikipedia.org/zhcn/%E5%8D%A1%E5%B0%94%E6%9B%BC%E6%BB%A4%E6%B3%A2</a:t>
            </a:r>
            <a:endParaRPr lang="en-US" altLang="zh-CN" sz="800"/>
          </a:p>
        </p:txBody>
      </p:sp>
      <p:pic>
        <p:nvPicPr>
          <p:cNvPr id="8" name="图片 7"/>
          <p:cNvPicPr>
            <a:picLocks noChangeAspect="1"/>
          </p:cNvPicPr>
          <p:nvPr/>
        </p:nvPicPr>
        <p:blipFill>
          <a:blip r:embed="rId1"/>
          <a:stretch>
            <a:fillRect/>
          </a:stretch>
        </p:blipFill>
        <p:spPr>
          <a:xfrm>
            <a:off x="655955" y="2964180"/>
            <a:ext cx="4479925" cy="3302635"/>
          </a:xfrm>
          <a:prstGeom prst="rect">
            <a:avLst/>
          </a:prstGeom>
        </p:spPr>
      </p:pic>
      <p:pic>
        <p:nvPicPr>
          <p:cNvPr id="9" name="图片 8"/>
          <p:cNvPicPr>
            <a:picLocks noChangeAspect="1"/>
          </p:cNvPicPr>
          <p:nvPr/>
        </p:nvPicPr>
        <p:blipFill>
          <a:blip r:embed="rId2"/>
          <a:stretch>
            <a:fillRect/>
          </a:stretch>
        </p:blipFill>
        <p:spPr>
          <a:xfrm>
            <a:off x="5135880" y="3346450"/>
            <a:ext cx="7045325" cy="2296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卡尔曼滤波</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931545" y="885825"/>
            <a:ext cx="10233025" cy="529463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卡尔曼滤波</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18" name="图片 17"/>
          <p:cNvPicPr>
            <a:picLocks noChangeAspect="1"/>
          </p:cNvPicPr>
          <p:nvPr/>
        </p:nvPicPr>
        <p:blipFill>
          <a:blip r:embed="rId1"/>
          <a:stretch>
            <a:fillRect/>
          </a:stretch>
        </p:blipFill>
        <p:spPr>
          <a:xfrm>
            <a:off x="596900" y="1002665"/>
            <a:ext cx="2943225" cy="438150"/>
          </a:xfrm>
          <a:prstGeom prst="rect">
            <a:avLst/>
          </a:prstGeom>
        </p:spPr>
      </p:pic>
      <p:sp>
        <p:nvSpPr>
          <p:cNvPr id="21" name="文本框 20"/>
          <p:cNvSpPr txBox="1"/>
          <p:nvPr/>
        </p:nvSpPr>
        <p:spPr>
          <a:xfrm>
            <a:off x="596900" y="1440815"/>
            <a:ext cx="8681085" cy="368300"/>
          </a:xfrm>
          <a:prstGeom prst="rect">
            <a:avLst/>
          </a:prstGeom>
          <a:noFill/>
        </p:spPr>
        <p:txBody>
          <a:bodyPr wrap="square" rtlCol="0">
            <a:spAutoFit/>
          </a:bodyPr>
          <a:p>
            <a:r>
              <a:rPr lang="zh-CN" altLang="en-US"/>
              <a:t>当前的估计值 = 上一次的估计值 + 系数 × (当前测量值 - 上一次的估计值)</a:t>
            </a:r>
            <a:endParaRPr lang="zh-CN" altLang="en-US"/>
          </a:p>
        </p:txBody>
      </p:sp>
      <p:sp>
        <p:nvSpPr>
          <p:cNvPr id="22" name="文本框 21"/>
          <p:cNvSpPr txBox="1"/>
          <p:nvPr/>
        </p:nvSpPr>
        <p:spPr>
          <a:xfrm>
            <a:off x="596900" y="2136775"/>
            <a:ext cx="4924425" cy="1148715"/>
          </a:xfrm>
          <a:prstGeom prst="rect">
            <a:avLst/>
          </a:prstGeom>
          <a:noFill/>
        </p:spPr>
        <p:txBody>
          <a:bodyPr wrap="square" rtlCol="0">
            <a:noAutofit/>
          </a:bodyPr>
          <a:p>
            <a:r>
              <a:rPr lang="en-US" altLang="zh-CN"/>
              <a:t>K</a:t>
            </a:r>
            <a:r>
              <a:rPr lang="en-US" altLang="zh-CN" sz="1000"/>
              <a:t>k</a:t>
            </a:r>
            <a:r>
              <a:rPr lang="en-US" altLang="zh-CN"/>
              <a:t>：Kalman Gain，</a:t>
            </a:r>
            <a:r>
              <a:rPr lang="zh-CN" altLang="en-US"/>
              <a:t>卡尔曼增益 / 回改系数</a:t>
            </a:r>
            <a:endParaRPr lang="zh-CN" altLang="en-US"/>
          </a:p>
          <a:p>
            <a:r>
              <a:rPr lang="zh-CN" altLang="en-US"/>
              <a:t>估计误差</a:t>
            </a:r>
            <a:r>
              <a:rPr lang="en-US" altLang="zh-CN"/>
              <a:t>:e</a:t>
            </a:r>
            <a:r>
              <a:rPr lang="en-US" altLang="zh-CN" sz="1000"/>
              <a:t>EST</a:t>
            </a:r>
            <a:r>
              <a:rPr lang="en-US" altLang="zh-CN"/>
              <a:t>（Estimate </a:t>
            </a:r>
            <a:r>
              <a:rPr lang="zh-CN" altLang="en-US"/>
              <a:t>估计）</a:t>
            </a:r>
            <a:endParaRPr lang="zh-CN" altLang="en-US"/>
          </a:p>
          <a:p>
            <a:r>
              <a:rPr lang="zh-CN" altLang="en-US"/>
              <a:t>测量误差</a:t>
            </a:r>
            <a:r>
              <a:rPr lang="en-US" altLang="zh-CN"/>
              <a:t>:e</a:t>
            </a:r>
            <a:r>
              <a:rPr lang="en-US" altLang="zh-CN" sz="1000"/>
              <a:t>MEA</a:t>
            </a:r>
            <a:r>
              <a:rPr lang="en-US" altLang="zh-CN"/>
              <a:t>（Measurement </a:t>
            </a:r>
            <a:r>
              <a:rPr lang="zh-CN" altLang="en-US"/>
              <a:t>测量）</a:t>
            </a:r>
            <a:endParaRPr lang="zh-CN" altLang="en-US"/>
          </a:p>
        </p:txBody>
      </p:sp>
      <p:pic>
        <p:nvPicPr>
          <p:cNvPr id="23" name="图片 22"/>
          <p:cNvPicPr>
            <a:picLocks noChangeAspect="1"/>
          </p:cNvPicPr>
          <p:nvPr/>
        </p:nvPicPr>
        <p:blipFill>
          <a:blip r:embed="rId2"/>
          <a:stretch>
            <a:fillRect/>
          </a:stretch>
        </p:blipFill>
        <p:spPr>
          <a:xfrm>
            <a:off x="6365875" y="2147570"/>
            <a:ext cx="4009390" cy="1127125"/>
          </a:xfrm>
          <a:prstGeom prst="rect">
            <a:avLst/>
          </a:prstGeom>
        </p:spPr>
      </p:pic>
      <p:pic>
        <p:nvPicPr>
          <p:cNvPr id="25" name="图片 24"/>
          <p:cNvPicPr>
            <a:picLocks noChangeAspect="1"/>
          </p:cNvPicPr>
          <p:nvPr/>
        </p:nvPicPr>
        <p:blipFill>
          <a:blip r:embed="rId3"/>
          <a:stretch>
            <a:fillRect/>
          </a:stretch>
        </p:blipFill>
        <p:spPr>
          <a:xfrm>
            <a:off x="270510" y="3613150"/>
            <a:ext cx="5516245" cy="1936750"/>
          </a:xfrm>
          <a:prstGeom prst="rect">
            <a:avLst/>
          </a:prstGeom>
        </p:spPr>
      </p:pic>
      <p:pic>
        <p:nvPicPr>
          <p:cNvPr id="27" name="图片 26"/>
          <p:cNvPicPr>
            <a:picLocks noChangeAspect="1"/>
          </p:cNvPicPr>
          <p:nvPr/>
        </p:nvPicPr>
        <p:blipFill>
          <a:blip r:embed="rId4"/>
          <a:stretch>
            <a:fillRect/>
          </a:stretch>
        </p:blipFill>
        <p:spPr>
          <a:xfrm>
            <a:off x="5753100" y="3613150"/>
            <a:ext cx="5924550" cy="20859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卡尔曼滤波</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5" name="图片 4"/>
          <p:cNvPicPr>
            <a:picLocks noChangeAspect="1"/>
          </p:cNvPicPr>
          <p:nvPr/>
        </p:nvPicPr>
        <p:blipFill>
          <a:blip r:embed="rId1"/>
          <a:srcRect r="1780"/>
          <a:stretch>
            <a:fillRect/>
          </a:stretch>
        </p:blipFill>
        <p:spPr>
          <a:xfrm>
            <a:off x="167640" y="1099185"/>
            <a:ext cx="5536565" cy="2329815"/>
          </a:xfrm>
          <a:prstGeom prst="rect">
            <a:avLst/>
          </a:prstGeom>
        </p:spPr>
      </p:pic>
      <p:pic>
        <p:nvPicPr>
          <p:cNvPr id="6" name="图片 5"/>
          <p:cNvPicPr>
            <a:picLocks noChangeAspect="1"/>
          </p:cNvPicPr>
          <p:nvPr/>
        </p:nvPicPr>
        <p:blipFill>
          <a:blip r:embed="rId2"/>
          <a:stretch>
            <a:fillRect/>
          </a:stretch>
        </p:blipFill>
        <p:spPr>
          <a:xfrm>
            <a:off x="6962775" y="1227455"/>
            <a:ext cx="2228850" cy="495300"/>
          </a:xfrm>
          <a:prstGeom prst="rect">
            <a:avLst/>
          </a:prstGeom>
        </p:spPr>
      </p:pic>
      <p:sp>
        <p:nvSpPr>
          <p:cNvPr id="7" name="文本框 6"/>
          <p:cNvSpPr txBox="1"/>
          <p:nvPr/>
        </p:nvSpPr>
        <p:spPr>
          <a:xfrm>
            <a:off x="5704205" y="1842135"/>
            <a:ext cx="6629400" cy="368300"/>
          </a:xfrm>
          <a:prstGeom prst="rect">
            <a:avLst/>
          </a:prstGeom>
          <a:noFill/>
        </p:spPr>
        <p:txBody>
          <a:bodyPr wrap="square" rtlCol="0">
            <a:spAutoFit/>
          </a:bodyPr>
          <a:p>
            <a:r>
              <a:rPr lang="zh-CN" altLang="en-US"/>
              <a:t>基于上一时刻的状态和控制输入，预测当前时刻的状态。</a:t>
            </a:r>
            <a:endParaRPr lang="zh-CN" altLang="en-US"/>
          </a:p>
        </p:txBody>
      </p:sp>
      <p:pic>
        <p:nvPicPr>
          <p:cNvPr id="8" name="图片 7"/>
          <p:cNvPicPr>
            <a:picLocks noChangeAspect="1"/>
          </p:cNvPicPr>
          <p:nvPr/>
        </p:nvPicPr>
        <p:blipFill>
          <a:blip r:embed="rId3"/>
          <a:stretch>
            <a:fillRect/>
          </a:stretch>
        </p:blipFill>
        <p:spPr>
          <a:xfrm>
            <a:off x="6962775" y="2406650"/>
            <a:ext cx="2133600" cy="409575"/>
          </a:xfrm>
          <a:prstGeom prst="rect">
            <a:avLst/>
          </a:prstGeom>
        </p:spPr>
      </p:pic>
      <p:sp>
        <p:nvSpPr>
          <p:cNvPr id="9" name="文本框 8"/>
          <p:cNvSpPr txBox="1"/>
          <p:nvPr/>
        </p:nvSpPr>
        <p:spPr>
          <a:xfrm>
            <a:off x="6226175" y="2929890"/>
            <a:ext cx="5344795" cy="368300"/>
          </a:xfrm>
          <a:prstGeom prst="rect">
            <a:avLst/>
          </a:prstGeom>
          <a:noFill/>
        </p:spPr>
        <p:txBody>
          <a:bodyPr wrap="square" rtlCol="0">
            <a:spAutoFit/>
          </a:bodyPr>
          <a:p>
            <a:r>
              <a:rPr lang="zh-CN" altLang="en-US"/>
              <a:t>预测当前时刻状态估计的不确定性。</a:t>
            </a:r>
            <a:endParaRPr lang="zh-CN" altLang="en-US"/>
          </a:p>
        </p:txBody>
      </p:sp>
      <p:pic>
        <p:nvPicPr>
          <p:cNvPr id="10" name="图片 9"/>
          <p:cNvPicPr>
            <a:picLocks noChangeAspect="1"/>
          </p:cNvPicPr>
          <p:nvPr/>
        </p:nvPicPr>
        <p:blipFill>
          <a:blip r:embed="rId4"/>
          <a:stretch>
            <a:fillRect/>
          </a:stretch>
        </p:blipFill>
        <p:spPr>
          <a:xfrm>
            <a:off x="575310" y="3910965"/>
            <a:ext cx="3019425" cy="590550"/>
          </a:xfrm>
          <a:prstGeom prst="rect">
            <a:avLst/>
          </a:prstGeom>
        </p:spPr>
      </p:pic>
      <p:sp>
        <p:nvSpPr>
          <p:cNvPr id="11" name="文本框 10"/>
          <p:cNvSpPr txBox="1"/>
          <p:nvPr/>
        </p:nvSpPr>
        <p:spPr>
          <a:xfrm>
            <a:off x="254000" y="4750435"/>
            <a:ext cx="3799205" cy="645160"/>
          </a:xfrm>
          <a:prstGeom prst="rect">
            <a:avLst/>
          </a:prstGeom>
          <a:noFill/>
        </p:spPr>
        <p:txBody>
          <a:bodyPr wrap="square" rtlCol="0">
            <a:spAutoFit/>
          </a:bodyPr>
          <a:p>
            <a:r>
              <a:rPr lang="zh-CN" altLang="en-US"/>
              <a:t>计算卡尔曼增益，决定我们接下来更信任预测值还是测量值。</a:t>
            </a:r>
            <a:endParaRPr lang="zh-CN" altLang="en-US"/>
          </a:p>
        </p:txBody>
      </p:sp>
      <p:pic>
        <p:nvPicPr>
          <p:cNvPr id="12" name="图片 11"/>
          <p:cNvPicPr>
            <a:picLocks noChangeAspect="1"/>
          </p:cNvPicPr>
          <p:nvPr/>
        </p:nvPicPr>
        <p:blipFill>
          <a:blip r:embed="rId5"/>
          <a:stretch>
            <a:fillRect/>
          </a:stretch>
        </p:blipFill>
        <p:spPr>
          <a:xfrm>
            <a:off x="4780915" y="3933190"/>
            <a:ext cx="2533650" cy="476250"/>
          </a:xfrm>
          <a:prstGeom prst="rect">
            <a:avLst/>
          </a:prstGeom>
        </p:spPr>
      </p:pic>
      <p:sp>
        <p:nvSpPr>
          <p:cNvPr id="13" name="文本框 12"/>
          <p:cNvSpPr txBox="1"/>
          <p:nvPr/>
        </p:nvSpPr>
        <p:spPr>
          <a:xfrm>
            <a:off x="4437380" y="4782820"/>
            <a:ext cx="3622040" cy="583565"/>
          </a:xfrm>
          <a:prstGeom prst="rect">
            <a:avLst/>
          </a:prstGeom>
        </p:spPr>
        <p:txBody>
          <a:bodyPr wrap="square">
            <a:spAutoFit/>
          </a:bodyPr>
          <a:p>
            <a:r>
              <a:rPr lang="zh-CN" altLang="en-US" sz="1600"/>
              <a:t>用测量值修正预测状态，得到当前时刻的最优状态估计。（残差）</a:t>
            </a:r>
            <a:endParaRPr lang="zh-CN" altLang="en-US" sz="1600"/>
          </a:p>
        </p:txBody>
      </p:sp>
      <p:pic>
        <p:nvPicPr>
          <p:cNvPr id="14" name="图片 13"/>
          <p:cNvPicPr>
            <a:picLocks noChangeAspect="1"/>
          </p:cNvPicPr>
          <p:nvPr/>
        </p:nvPicPr>
        <p:blipFill>
          <a:blip r:embed="rId6"/>
          <a:stretch>
            <a:fillRect/>
          </a:stretch>
        </p:blipFill>
        <p:spPr>
          <a:xfrm>
            <a:off x="8956675" y="3910965"/>
            <a:ext cx="2028825" cy="485775"/>
          </a:xfrm>
          <a:prstGeom prst="rect">
            <a:avLst/>
          </a:prstGeom>
        </p:spPr>
      </p:pic>
      <p:sp>
        <p:nvSpPr>
          <p:cNvPr id="15" name="文本框 14"/>
          <p:cNvSpPr txBox="1"/>
          <p:nvPr/>
        </p:nvSpPr>
        <p:spPr>
          <a:xfrm>
            <a:off x="8500745" y="4721225"/>
            <a:ext cx="3070225" cy="645160"/>
          </a:xfrm>
          <a:prstGeom prst="rect">
            <a:avLst/>
          </a:prstGeom>
          <a:noFill/>
        </p:spPr>
        <p:txBody>
          <a:bodyPr wrap="square" rtlCol="0">
            <a:spAutoFit/>
          </a:bodyPr>
          <a:p>
            <a:r>
              <a:rPr lang="zh-CN" altLang="en-US"/>
              <a:t>更新当前时刻状态估计的不确定性。</a:t>
            </a:r>
            <a:endParaRPr lang="zh-CN" altLang="en-US"/>
          </a:p>
        </p:txBody>
      </p:sp>
      <p:sp>
        <p:nvSpPr>
          <p:cNvPr id="16" name="矩形 15"/>
          <p:cNvSpPr/>
          <p:nvPr/>
        </p:nvSpPr>
        <p:spPr>
          <a:xfrm>
            <a:off x="1686560" y="2274570"/>
            <a:ext cx="402590" cy="478790"/>
          </a:xfrm>
          <a:prstGeom prst="rect">
            <a:avLst/>
          </a:prstGeom>
          <a:noFill/>
          <a:ln w="28575">
            <a:solidFill>
              <a:srgbClr val="FF0000"/>
            </a:solidFill>
            <a:prstDash val="solid"/>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5177155" y="1607185"/>
            <a:ext cx="402590" cy="478790"/>
          </a:xfrm>
          <a:prstGeom prst="rect">
            <a:avLst/>
          </a:prstGeom>
          <a:noFill/>
          <a:ln w="28575">
            <a:solidFill>
              <a:srgbClr val="FF0000"/>
            </a:solidFill>
            <a:prstDash val="solid"/>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扩展卡尔曼滤波</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739140" y="1365885"/>
            <a:ext cx="2333625" cy="952500"/>
          </a:xfrm>
          <a:prstGeom prst="rect">
            <a:avLst/>
          </a:prstGeom>
        </p:spPr>
      </p:pic>
      <p:sp>
        <p:nvSpPr>
          <p:cNvPr id="7" name="文本框 6"/>
          <p:cNvSpPr txBox="1"/>
          <p:nvPr/>
        </p:nvSpPr>
        <p:spPr>
          <a:xfrm>
            <a:off x="628650" y="997585"/>
            <a:ext cx="3156585" cy="368300"/>
          </a:xfrm>
          <a:prstGeom prst="rect">
            <a:avLst/>
          </a:prstGeom>
          <a:noFill/>
        </p:spPr>
        <p:txBody>
          <a:bodyPr wrap="square" rtlCol="0">
            <a:spAutoFit/>
          </a:bodyPr>
          <a:p>
            <a:r>
              <a:rPr lang="zh-CN" altLang="en-US"/>
              <a:t>非线性系统方程及其观测方程</a:t>
            </a:r>
            <a:endParaRPr lang="zh-CN" altLang="en-US"/>
          </a:p>
        </p:txBody>
      </p:sp>
      <p:pic>
        <p:nvPicPr>
          <p:cNvPr id="8" name="图片 7"/>
          <p:cNvPicPr>
            <a:picLocks noChangeAspect="1"/>
          </p:cNvPicPr>
          <p:nvPr/>
        </p:nvPicPr>
        <p:blipFill>
          <a:blip r:embed="rId2"/>
          <a:stretch>
            <a:fillRect/>
          </a:stretch>
        </p:blipFill>
        <p:spPr>
          <a:xfrm>
            <a:off x="739140" y="2963545"/>
            <a:ext cx="2533650" cy="2628900"/>
          </a:xfrm>
          <a:prstGeom prst="rect">
            <a:avLst/>
          </a:prstGeom>
        </p:spPr>
      </p:pic>
      <p:sp>
        <p:nvSpPr>
          <p:cNvPr id="9" name="文本框 8"/>
          <p:cNvSpPr txBox="1"/>
          <p:nvPr/>
        </p:nvSpPr>
        <p:spPr>
          <a:xfrm>
            <a:off x="397510" y="2318385"/>
            <a:ext cx="5725160" cy="645160"/>
          </a:xfrm>
          <a:prstGeom prst="rect">
            <a:avLst/>
          </a:prstGeom>
          <a:noFill/>
        </p:spPr>
        <p:txBody>
          <a:bodyPr wrap="square" rtlCol="0">
            <a:spAutoFit/>
          </a:bodyPr>
          <a:p>
            <a:r>
              <a:rPr lang="zh-CN" altLang="en-US"/>
              <a:t>扩展卡尔曼滤波算法可以通过将非线性系统在其参考点处做泰勒级数展开，从而使非线性系统可以线性化。</a:t>
            </a:r>
            <a:endParaRPr lang="zh-CN" altLang="en-US"/>
          </a:p>
        </p:txBody>
      </p:sp>
      <p:pic>
        <p:nvPicPr>
          <p:cNvPr id="10" name="图片 9"/>
          <p:cNvPicPr>
            <a:picLocks noChangeAspect="1"/>
          </p:cNvPicPr>
          <p:nvPr/>
        </p:nvPicPr>
        <p:blipFill>
          <a:blip r:embed="rId3"/>
          <a:stretch>
            <a:fillRect/>
          </a:stretch>
        </p:blipFill>
        <p:spPr>
          <a:xfrm>
            <a:off x="7054215" y="1570355"/>
            <a:ext cx="3676650" cy="3552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94005"/>
            <a:ext cx="11500485" cy="525780"/>
          </a:xfrm>
        </p:spPr>
        <p:txBody>
          <a:bodyPr/>
          <a:lstStyle/>
          <a:p>
            <a:r>
              <a:rPr lang="zh-CN" altLang="en-US"/>
              <a:t>程序流程图</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541655" y="1172210"/>
            <a:ext cx="5775325" cy="4513580"/>
          </a:xfrm>
          <a:prstGeom prst="rect">
            <a:avLst/>
          </a:prstGeom>
        </p:spPr>
      </p:pic>
      <p:pic>
        <p:nvPicPr>
          <p:cNvPr id="7" name="图片 6"/>
          <p:cNvPicPr>
            <a:picLocks noChangeAspect="1"/>
          </p:cNvPicPr>
          <p:nvPr/>
        </p:nvPicPr>
        <p:blipFill>
          <a:blip r:embed="rId2"/>
          <a:stretch>
            <a:fillRect/>
          </a:stretch>
        </p:blipFill>
        <p:spPr>
          <a:xfrm>
            <a:off x="7059930" y="998220"/>
            <a:ext cx="3048000" cy="52463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94005"/>
            <a:ext cx="11500485" cy="525780"/>
          </a:xfrm>
        </p:spPr>
        <p:txBody>
          <a:bodyPr/>
          <a:lstStyle/>
          <a:p>
            <a:r>
              <a:rPr lang="zh-CN" altLang="en-US"/>
              <a:t>程序流程图</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97815" y="1560830"/>
            <a:ext cx="3057525" cy="3095625"/>
          </a:xfrm>
          <a:prstGeom prst="rect">
            <a:avLst/>
          </a:prstGeom>
        </p:spPr>
      </p:pic>
      <p:pic>
        <p:nvPicPr>
          <p:cNvPr id="9" name="图片 8"/>
          <p:cNvPicPr>
            <a:picLocks noChangeAspect="1"/>
          </p:cNvPicPr>
          <p:nvPr/>
        </p:nvPicPr>
        <p:blipFill>
          <a:blip r:embed="rId2"/>
          <a:stretch>
            <a:fillRect/>
          </a:stretch>
        </p:blipFill>
        <p:spPr>
          <a:xfrm>
            <a:off x="3790950" y="852805"/>
            <a:ext cx="2859405" cy="5304790"/>
          </a:xfrm>
          <a:prstGeom prst="rect">
            <a:avLst/>
          </a:prstGeom>
        </p:spPr>
      </p:pic>
      <p:pic>
        <p:nvPicPr>
          <p:cNvPr id="10" name="图片 9"/>
          <p:cNvPicPr>
            <a:picLocks noChangeAspect="1"/>
          </p:cNvPicPr>
          <p:nvPr/>
        </p:nvPicPr>
        <p:blipFill>
          <a:blip r:embed="rId3"/>
          <a:stretch>
            <a:fillRect/>
          </a:stretch>
        </p:blipFill>
        <p:spPr>
          <a:xfrm>
            <a:off x="7110730" y="984250"/>
            <a:ext cx="1729740" cy="5173345"/>
          </a:xfrm>
          <a:prstGeom prst="rect">
            <a:avLst/>
          </a:prstGeom>
        </p:spPr>
      </p:pic>
      <p:pic>
        <p:nvPicPr>
          <p:cNvPr id="11" name="图片 10"/>
          <p:cNvPicPr>
            <a:picLocks noChangeAspect="1"/>
          </p:cNvPicPr>
          <p:nvPr/>
        </p:nvPicPr>
        <p:blipFill>
          <a:blip r:embed="rId4"/>
          <a:stretch>
            <a:fillRect/>
          </a:stretch>
        </p:blipFill>
        <p:spPr>
          <a:xfrm>
            <a:off x="9208135" y="1221740"/>
            <a:ext cx="2774950" cy="48685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08610" y="938530"/>
            <a:ext cx="10885805" cy="4750435"/>
          </a:xfrm>
        </p:spPr>
        <p:txBody>
          <a:bodyPr>
            <a:normAutofit/>
          </a:bodyPr>
          <a:p>
            <a:pPr marL="0" indent="0">
              <a:lnSpc>
                <a:spcPct val="50000"/>
              </a:lnSpc>
              <a:buFont typeface="+mj-lt"/>
              <a:buNone/>
            </a:pPr>
            <a:r>
              <a:rPr lang="en-US" altLang="zh-CN" sz="2800" b="1">
                <a:solidFill>
                  <a:srgbClr val="0070C0"/>
                </a:solidFill>
              </a:rPr>
              <a:t>    3</a:t>
            </a:r>
            <a:r>
              <a:rPr lang="zh-CN" altLang="en-US" sz="2800" b="1">
                <a:solidFill>
                  <a:srgbClr val="0070C0"/>
                </a:solidFill>
              </a:rPr>
              <a:t>个接口函数</a:t>
            </a:r>
            <a:endParaRPr lang="zh-CN" altLang="en-US" sz="2355"/>
          </a:p>
          <a:p>
            <a:pPr marL="457200" lvl="1" indent="0">
              <a:buFont typeface="Wingdings" panose="05000000000000000000" charset="0"/>
              <a:buNone/>
            </a:pPr>
            <a:r>
              <a:rPr lang="en-US" altLang="zh-CN" sz="2400">
                <a:sym typeface="+mn-ea"/>
              </a:rPr>
              <a:t>RetC</a:t>
            </a:r>
            <a:r>
              <a:rPr lang="en-US" altLang="zh-CN" sz="2400">
                <a:solidFill>
                  <a:schemeClr val="tx1"/>
                </a:solidFill>
                <a:sym typeface="+mn-ea"/>
              </a:rPr>
              <a:t>ode kf_linux_iopointer(int dim, void *input, void *output); </a:t>
            </a:r>
            <a:r>
              <a:rPr lang="zh-CN" altLang="en-US" sz="2400">
                <a:solidFill>
                  <a:schemeClr val="tx1"/>
                </a:solidFill>
                <a:sym typeface="+mn-ea"/>
              </a:rPr>
              <a:t>执行一次卡尔曼滤波迭代（状态维度为</a:t>
            </a:r>
            <a:r>
              <a:rPr lang="en-US" altLang="zh-CN" sz="2400">
                <a:solidFill>
                  <a:schemeClr val="tx1"/>
                </a:solidFill>
                <a:sym typeface="+mn-ea"/>
              </a:rPr>
              <a:t>dim</a:t>
            </a:r>
            <a:r>
              <a:rPr lang="zh-CN" altLang="en-US" sz="2400">
                <a:solidFill>
                  <a:schemeClr val="tx1"/>
                </a:solidFill>
                <a:sym typeface="+mn-ea"/>
              </a:rPr>
              <a:t>）</a:t>
            </a:r>
            <a:r>
              <a:rPr lang="en-US" altLang="zh-CN" sz="2400">
                <a:solidFill>
                  <a:schemeClr val="tx1"/>
                </a:solidFill>
                <a:sym typeface="+mn-ea"/>
              </a:rPr>
              <a:t>.</a:t>
            </a:r>
            <a:r>
              <a:rPr lang="zh-CN" altLang="en-US" sz="2400">
                <a:solidFill>
                  <a:schemeClr val="tx1"/>
                </a:solidFill>
                <a:sym typeface="+mn-ea"/>
              </a:rPr>
              <a:t>输入：</a:t>
            </a:r>
            <a:r>
              <a:rPr lang="en-US" altLang="zh-CN" sz="2400">
                <a:solidFill>
                  <a:schemeClr val="tx1"/>
                </a:solidFill>
                <a:sym typeface="+mn-ea"/>
              </a:rPr>
              <a:t>input</a:t>
            </a:r>
            <a:r>
              <a:rPr lang="zh-CN" altLang="en-US" sz="2400">
                <a:solidFill>
                  <a:schemeClr val="tx1"/>
                </a:solidFill>
                <a:sym typeface="+mn-ea"/>
              </a:rPr>
              <a:t>指向</a:t>
            </a:r>
            <a:r>
              <a:rPr lang="en-US" altLang="zh-CN" sz="2400">
                <a:solidFill>
                  <a:schemeClr val="tx1"/>
                </a:solidFill>
                <a:sym typeface="+mn-ea"/>
              </a:rPr>
              <a:t>KF_Input</a:t>
            </a:r>
            <a:r>
              <a:rPr lang="zh-CN" altLang="en-US" sz="2400">
                <a:solidFill>
                  <a:schemeClr val="tx1"/>
                </a:solidFill>
                <a:sym typeface="+mn-ea"/>
              </a:rPr>
              <a:t>结构体。</a:t>
            </a:r>
            <a:endParaRPr lang="zh-CN" altLang="en-US" sz="2400">
              <a:solidFill>
                <a:schemeClr val="tx1"/>
              </a:solidFill>
              <a:sym typeface="+mn-ea"/>
            </a:endParaRPr>
          </a:p>
          <a:p>
            <a:pPr marL="457200" lvl="1" indent="0">
              <a:buFont typeface="Wingdings" panose="05000000000000000000" charset="0"/>
              <a:buNone/>
            </a:pPr>
            <a:r>
              <a:rPr lang="zh-CN" altLang="en-US" sz="2400">
                <a:solidFill>
                  <a:schemeClr val="tx1"/>
                </a:solidFill>
                <a:sym typeface="+mn-ea"/>
              </a:rPr>
              <a:t>输出：</a:t>
            </a:r>
            <a:r>
              <a:rPr lang="en-US" altLang="zh-CN" sz="2400">
                <a:solidFill>
                  <a:schemeClr val="tx1"/>
                </a:solidFill>
                <a:sym typeface="+mn-ea"/>
              </a:rPr>
              <a:t>output</a:t>
            </a:r>
            <a:r>
              <a:rPr lang="zh-CN" altLang="en-US" sz="2400">
                <a:solidFill>
                  <a:schemeClr val="tx1"/>
                </a:solidFill>
                <a:sym typeface="+mn-ea"/>
              </a:rPr>
              <a:t>指向</a:t>
            </a:r>
            <a:r>
              <a:rPr lang="en-US" altLang="zh-CN" sz="2400">
                <a:solidFill>
                  <a:schemeClr val="tx1"/>
                </a:solidFill>
                <a:sym typeface="+mn-ea"/>
              </a:rPr>
              <a:t>KF_Output</a:t>
            </a:r>
            <a:r>
              <a:rPr lang="zh-CN" altLang="en-US" sz="2400">
                <a:solidFill>
                  <a:schemeClr val="tx1"/>
                </a:solidFill>
                <a:sym typeface="+mn-ea"/>
              </a:rPr>
              <a:t>结构体。</a:t>
            </a:r>
            <a:endParaRPr lang="zh-CN" altLang="en-US" sz="2400">
              <a:solidFill>
                <a:schemeClr val="tx1"/>
              </a:solidFill>
              <a:sym typeface="+mn-ea"/>
            </a:endParaRPr>
          </a:p>
          <a:p>
            <a:pPr lvl="1">
              <a:buFont typeface="Wingdings" panose="05000000000000000000" charset="0"/>
              <a:buChar char="Ø"/>
            </a:pPr>
            <a:endParaRPr lang="en-US" altLang="zh-CN" sz="2400">
              <a:solidFill>
                <a:schemeClr val="tx1"/>
              </a:solidFill>
            </a:endParaRPr>
          </a:p>
          <a:p>
            <a:pPr marL="457200" lvl="1" indent="0">
              <a:buFont typeface="Wingdings" panose="05000000000000000000" charset="0"/>
              <a:buNone/>
            </a:pPr>
            <a:r>
              <a:rPr lang="en-US" altLang="zh-CN" sz="2400">
                <a:solidFill>
                  <a:schemeClr val="tx1"/>
                </a:solidFill>
                <a:sym typeface="+mn-ea"/>
              </a:rPr>
              <a:t>RetCode kf_linux_ioself_profiling(int dim); //该函数自己产生输入数据、调用kf_linux_iopointer函数</a:t>
            </a:r>
            <a:r>
              <a:rPr lang="zh-CN" altLang="en-US" sz="2400">
                <a:solidFill>
                  <a:schemeClr val="tx1"/>
                </a:solidFill>
                <a:sym typeface="+mn-ea"/>
              </a:rPr>
              <a:t>、</a:t>
            </a:r>
            <a:r>
              <a:rPr lang="en-US" altLang="zh-CN" sz="2400">
                <a:solidFill>
                  <a:schemeClr val="tx1"/>
                </a:solidFill>
                <a:sym typeface="+mn-ea"/>
              </a:rPr>
              <a:t>检查输出数据，并对kf_linux_iopointer函数进行计时</a:t>
            </a:r>
            <a:r>
              <a:rPr lang="zh-CN" altLang="en-US" sz="2400">
                <a:solidFill>
                  <a:schemeClr val="tx1"/>
                </a:solidFill>
                <a:sym typeface="+mn-ea"/>
              </a:rPr>
              <a:t>（纳秒级精度）</a:t>
            </a:r>
            <a:r>
              <a:rPr lang="en-US" altLang="zh-CN" sz="2400">
                <a:solidFill>
                  <a:schemeClr val="tx1"/>
                </a:solidFill>
                <a:sym typeface="+mn-ea"/>
              </a:rPr>
              <a:t>，printf</a:t>
            </a:r>
            <a:r>
              <a:rPr lang="zh-CN" altLang="en-US" sz="2400">
                <a:solidFill>
                  <a:schemeClr val="tx1"/>
                </a:solidFill>
                <a:sym typeface="+mn-ea"/>
              </a:rPr>
              <a:t>输出</a:t>
            </a:r>
            <a:r>
              <a:rPr lang="en-US" altLang="zh-CN" sz="2400">
                <a:solidFill>
                  <a:schemeClr val="tx1"/>
                </a:solidFill>
                <a:sym typeface="+mn-ea"/>
              </a:rPr>
              <a:t>dim</a:t>
            </a:r>
            <a:r>
              <a:rPr lang="zh-CN" altLang="en-US" sz="2400">
                <a:solidFill>
                  <a:schemeClr val="tx1"/>
                </a:solidFill>
                <a:sym typeface="+mn-ea"/>
              </a:rPr>
              <a:t>和耗时</a:t>
            </a:r>
            <a:r>
              <a:rPr lang="en-US" altLang="zh-CN" sz="2400">
                <a:solidFill>
                  <a:schemeClr val="tx1"/>
                </a:solidFill>
                <a:sym typeface="+mn-ea"/>
              </a:rPr>
              <a:t>，返回前释放数据存储。</a:t>
            </a:r>
            <a:endParaRPr lang="zh-CN" altLang="en-US" sz="2400">
              <a:solidFill>
                <a:schemeClr val="tx1"/>
              </a:solidFill>
              <a:sym typeface="+mn-ea"/>
            </a:endParaRPr>
          </a:p>
          <a:p>
            <a:pPr lvl="1">
              <a:buFont typeface="Wingdings" panose="05000000000000000000" charset="0"/>
              <a:buChar char="Ø"/>
            </a:pPr>
            <a:endParaRPr lang="en-US" altLang="zh-CN" sz="2400">
              <a:solidFill>
                <a:schemeClr val="tx1"/>
              </a:solidFill>
            </a:endParaRPr>
          </a:p>
          <a:p>
            <a:pPr marL="457200" lvl="1" indent="0">
              <a:buFont typeface="Wingdings" panose="05000000000000000000" charset="0"/>
              <a:buNone/>
            </a:pPr>
            <a:r>
              <a:rPr lang="en-US" altLang="zh-CN" sz="2400">
                <a:solidFill>
                  <a:schemeClr val="tx1"/>
                </a:solidFill>
                <a:sym typeface="+mn-ea"/>
              </a:rPr>
              <a:t>RetCode kf_linux_ioself(int dim</a:t>
            </a:r>
            <a:r>
              <a:rPr lang="en-US" altLang="zh-CN" sz="2400">
                <a:sym typeface="+mn-ea"/>
              </a:rPr>
              <a:t>); //同上述函数，但不计时、不printf。该函数用于调用者不提供输入数据也不</a:t>
            </a:r>
            <a:r>
              <a:rPr lang="zh-CN" altLang="en-US" sz="2400">
                <a:sym typeface="+mn-ea"/>
              </a:rPr>
              <a:t>使用</a:t>
            </a:r>
            <a:r>
              <a:rPr lang="en-US" altLang="zh-CN" sz="2400">
                <a:sym typeface="+mn-ea"/>
              </a:rPr>
              <a:t>输出数据</a:t>
            </a:r>
            <a:r>
              <a:rPr lang="zh-CN" altLang="en-US" sz="2400">
                <a:sym typeface="+mn-ea"/>
              </a:rPr>
              <a:t>、只是测试函数功能</a:t>
            </a:r>
            <a:r>
              <a:rPr lang="en-US" altLang="zh-CN" sz="2400">
                <a:sym typeface="+mn-ea"/>
              </a:rPr>
              <a:t>的情况</a:t>
            </a:r>
            <a:endParaRPr lang="en-US" altLang="zh-CN" sz="2400">
              <a:sym typeface="+mn-ea"/>
            </a:endParaRPr>
          </a:p>
          <a:p>
            <a:pPr lvl="1">
              <a:lnSpc>
                <a:spcPct val="50000"/>
              </a:lnSpc>
              <a:buFont typeface="Wingdings" panose="05000000000000000000" charset="0"/>
              <a:buChar char="l"/>
            </a:pPr>
            <a:endParaRPr lang="en-US" altLang="zh-CN" sz="2400">
              <a:sym typeface="+mn-ea"/>
            </a:endParaRPr>
          </a:p>
        </p:txBody>
      </p:sp>
      <p:sp>
        <p:nvSpPr>
          <p:cNvPr id="5" name="标题 4"/>
          <p:cNvSpPr/>
          <p:nvPr>
            <p:ph type="title"/>
          </p:nvPr>
        </p:nvSpPr>
        <p:spPr/>
        <p:txBody>
          <a:bodyPr/>
          <a:p>
            <a:r>
              <a:rPr lang="zh-CN" altLang="en-US">
                <a:sym typeface="+mn-ea"/>
              </a:rPr>
              <a:t>研讨要求</a:t>
            </a:r>
            <a:r>
              <a:rPr lang="en-US" altLang="zh-CN">
                <a:sym typeface="+mn-ea"/>
              </a:rPr>
              <a:t>1</a:t>
            </a:r>
            <a:r>
              <a:rPr lang="zh-CN" altLang="en-US">
                <a:sym typeface="+mn-ea"/>
              </a:rPr>
              <a:t>：接口与时间函数</a:t>
            </a:r>
            <a:endParaRPr lang="zh-CN" altLang="en-US"/>
          </a:p>
        </p:txBody>
      </p:sp>
      <p:sp>
        <p:nvSpPr>
          <p:cNvPr id="2" name="文本框 1"/>
          <p:cNvSpPr txBox="1"/>
          <p:nvPr/>
        </p:nvSpPr>
        <p:spPr>
          <a:xfrm>
            <a:off x="1454785" y="4944110"/>
            <a:ext cx="2990215" cy="1599565"/>
          </a:xfrm>
          <a:prstGeom prst="rect">
            <a:avLst/>
          </a:prstGeom>
          <a:ln>
            <a:solidFill>
              <a:schemeClr val="accent1"/>
            </a:solidFill>
          </a:ln>
        </p:spPr>
        <p:txBody>
          <a:bodyPr wrap="square">
            <a:spAutoFit/>
          </a:bodyPr>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typedef enum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K_RET_OK = 0,</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K_RET_UNK_ERROR = -1,</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K_RET_TIMEOUT,</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K_RET_INVALID_PARAM,</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K_RET_BUSY</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RetCode;</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p:txBody>
      </p:sp>
      <p:sp>
        <p:nvSpPr>
          <p:cNvPr id="4" name="文本框 3"/>
          <p:cNvSpPr txBox="1"/>
          <p:nvPr/>
        </p:nvSpPr>
        <p:spPr>
          <a:xfrm>
            <a:off x="5396230" y="4944110"/>
            <a:ext cx="2837180" cy="1599565"/>
          </a:xfrm>
          <a:prstGeom prst="rect">
            <a:avLst/>
          </a:prstGeom>
          <a:ln>
            <a:solidFill>
              <a:schemeClr val="accent1"/>
            </a:solidFill>
          </a:ln>
        </p:spPr>
        <p:txBody>
          <a:bodyPr wrap="square">
            <a:noAutofit/>
          </a:bodyPr>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typedef struct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int dim;</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KfInput;</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typedef struct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double *x;</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KfOutput;</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defTabSz="266700">
              <a:spcBef>
                <a:spcPct val="0"/>
              </a:spcBef>
              <a:spcAft>
                <a:spcPct val="0"/>
              </a:spcAft>
            </a:pP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9545" y="1022350"/>
            <a:ext cx="11853545" cy="5974080"/>
          </a:xfrm>
        </p:spPr>
        <p:txBody>
          <a:bodyPr>
            <a:normAutofit/>
          </a:bodyPr>
          <a:p>
            <a:pPr marL="0" indent="0">
              <a:lnSpc>
                <a:spcPct val="50000"/>
              </a:lnSpc>
              <a:buFont typeface="+mj-lt"/>
              <a:buNone/>
            </a:pPr>
            <a:r>
              <a:rPr lang="en-US" altLang="zh-CN" sz="2800" b="1">
                <a:solidFill>
                  <a:srgbClr val="0070C0"/>
                </a:solidFill>
                <a:sym typeface="+mn-ea"/>
              </a:rPr>
              <a:t>     </a:t>
            </a:r>
            <a:r>
              <a:rPr lang="zh-CN" altLang="en-US" sz="2800" b="1">
                <a:solidFill>
                  <a:srgbClr val="0070C0"/>
                </a:solidFill>
                <a:sym typeface="+mn-ea"/>
              </a:rPr>
              <a:t>提供时间函数</a:t>
            </a:r>
            <a:endParaRPr lang="zh-CN" altLang="en-US" sz="2800" b="1">
              <a:solidFill>
                <a:srgbClr val="0070C0"/>
              </a:solidFill>
              <a:sym typeface="+mn-ea"/>
            </a:endParaRPr>
          </a:p>
          <a:p>
            <a:pPr marL="457200" lvl="1" indent="0">
              <a:buFont typeface="Wingdings" panose="05000000000000000000" charset="0"/>
              <a:buNone/>
            </a:pPr>
            <a:r>
              <a:rPr lang="en-US" altLang="zh-CN" sz="2400">
                <a:sym typeface="+mn-ea"/>
              </a:rPr>
              <a:t>uint64_t get_timestamp(void);</a:t>
            </a:r>
            <a:endParaRPr lang="en-US" altLang="zh-CN" sz="2400">
              <a:sym typeface="+mn-ea"/>
            </a:endParaRPr>
          </a:p>
          <a:p>
            <a:pPr marL="457200" lvl="1" indent="0">
              <a:buFont typeface="Wingdings" panose="05000000000000000000" charset="0"/>
              <a:buNone/>
            </a:pPr>
            <a:r>
              <a:rPr lang="en-US" altLang="zh-CN" sz="2400">
                <a:sym typeface="+mn-ea"/>
              </a:rPr>
              <a:t>int64_t timestamp_diff(uint64_t start, uint64_t end);</a:t>
            </a:r>
            <a:endParaRPr lang="en-US" altLang="zh-CN" sz="2400">
              <a:sym typeface="+mn-ea"/>
            </a:endParaRPr>
          </a:p>
          <a:p>
            <a:pPr marL="457200" lvl="1" indent="0">
              <a:buFont typeface="Wingdings" panose="05000000000000000000" charset="0"/>
              <a:buNone/>
            </a:pPr>
            <a:r>
              <a:rPr lang="zh-CN" altLang="en-US" sz="2800" b="1">
                <a:solidFill>
                  <a:srgbClr val="0070C0"/>
                </a:solidFill>
                <a:sym typeface="+mn-ea"/>
              </a:rPr>
              <a:t>测试主函数</a:t>
            </a:r>
            <a:r>
              <a:rPr lang="en-US" altLang="zh-CN" sz="2800" b="1">
                <a:solidFill>
                  <a:srgbClr val="0070C0"/>
                </a:solidFill>
                <a:sym typeface="+mn-ea"/>
              </a:rPr>
              <a:t>  (kf_linux_test.c)</a:t>
            </a:r>
            <a:endParaRPr lang="zh-CN" altLang="en-US" sz="5600">
              <a:sym typeface="+mn-ea"/>
            </a:endParaRPr>
          </a:p>
          <a:p>
            <a:pPr marL="457200" lvl="1" indent="0">
              <a:buFont typeface="Arial" panose="020B0604020202020204" pitchFamily="34" charset="0"/>
              <a:buNone/>
            </a:pPr>
            <a:r>
              <a:rPr lang="en-US" altLang="zh-CN" sz="2400">
                <a:sym typeface="+mn-ea"/>
              </a:rPr>
              <a:t>int main(void) {</a:t>
            </a:r>
            <a:endParaRPr lang="en-US" altLang="zh-CN" sz="2400">
              <a:sym typeface="+mn-ea"/>
            </a:endParaRPr>
          </a:p>
          <a:p>
            <a:pPr marL="457200" lvl="1" indent="0">
              <a:buFont typeface="Arial" panose="020B0604020202020204" pitchFamily="34" charset="0"/>
              <a:buNone/>
            </a:pPr>
            <a:r>
              <a:rPr lang="en-US" altLang="zh-CN" sz="2400">
                <a:sym typeface="+mn-ea"/>
              </a:rPr>
              <a:t>    for (int dim = 10; dim &lt;= 300; dim += 9) {</a:t>
            </a:r>
            <a:endParaRPr lang="en-US" altLang="zh-CN" sz="2400">
              <a:sym typeface="+mn-ea"/>
            </a:endParaRPr>
          </a:p>
          <a:p>
            <a:pPr marL="457200" lvl="1" indent="0">
              <a:buFont typeface="Arial" panose="020B0604020202020204" pitchFamily="34" charset="0"/>
              <a:buNone/>
            </a:pPr>
            <a:r>
              <a:rPr lang="en-US" altLang="zh-CN" sz="2400">
                <a:sym typeface="+mn-ea"/>
              </a:rPr>
              <a:t>        kf_linux_ioself_profiling(dim);</a:t>
            </a:r>
            <a:endParaRPr lang="en-US" altLang="zh-CN" sz="2400">
              <a:sym typeface="+mn-ea"/>
            </a:endParaRPr>
          </a:p>
          <a:p>
            <a:pPr marL="457200" lvl="1" indent="0">
              <a:buFont typeface="Arial" panose="020B0604020202020204" pitchFamily="34" charset="0"/>
              <a:buNone/>
            </a:pPr>
            <a:r>
              <a:rPr lang="en-US" altLang="zh-CN" sz="2400">
                <a:sym typeface="+mn-ea"/>
              </a:rPr>
              <a:t>    }</a:t>
            </a:r>
            <a:endParaRPr lang="en-US" altLang="zh-CN" sz="2400">
              <a:sym typeface="+mn-ea"/>
            </a:endParaRPr>
          </a:p>
          <a:p>
            <a:pPr marL="457200" lvl="1" indent="0">
              <a:buFont typeface="Arial" panose="020B0604020202020204" pitchFamily="34" charset="0"/>
              <a:buNone/>
            </a:pPr>
            <a:r>
              <a:rPr lang="en-US" altLang="zh-CN" sz="2400">
                <a:sym typeface="+mn-ea"/>
              </a:rPr>
              <a:t>    return 0;</a:t>
            </a:r>
            <a:endParaRPr lang="en-US" altLang="zh-CN" sz="2400">
              <a:sym typeface="+mn-ea"/>
            </a:endParaRPr>
          </a:p>
          <a:p>
            <a:pPr marL="457200" lvl="1" indent="0">
              <a:buFont typeface="Arial" panose="020B0604020202020204" pitchFamily="34" charset="0"/>
              <a:buNone/>
            </a:pPr>
            <a:r>
              <a:rPr lang="en-US" altLang="zh-CN" sz="2400">
                <a:sym typeface="+mn-ea"/>
              </a:rPr>
              <a:t>}</a:t>
            </a:r>
            <a:endParaRPr lang="en-US" altLang="zh-CN" sz="2400">
              <a:sym typeface="+mn-ea"/>
            </a:endParaRPr>
          </a:p>
          <a:p>
            <a:pPr marL="457200" lvl="1" indent="0">
              <a:buFont typeface="Arial" panose="020B0604020202020204" pitchFamily="34" charset="0"/>
              <a:buNone/>
            </a:pPr>
            <a:r>
              <a:rPr lang="zh-CN" altLang="en-US" sz="2400">
                <a:sym typeface="+mn-ea"/>
              </a:rPr>
              <a:t>对卡尔曼滤波器算子进行多维度性能采样。循环遍历一系列状态维度（</a:t>
            </a:r>
            <a:r>
              <a:rPr lang="en-US" altLang="zh-CN" sz="2400">
                <a:sym typeface="+mn-ea"/>
              </a:rPr>
              <a:t>dim），</a:t>
            </a:r>
            <a:r>
              <a:rPr lang="zh-CN" altLang="en-US" sz="2400">
                <a:sym typeface="+mn-ea"/>
              </a:rPr>
              <a:t>在每个维度下调用 </a:t>
            </a:r>
            <a:r>
              <a:rPr lang="en-US" altLang="zh-CN" sz="2400">
                <a:sym typeface="+mn-ea"/>
              </a:rPr>
              <a:t>kf_linux_ioself_profiling </a:t>
            </a:r>
            <a:r>
              <a:rPr lang="zh-CN" altLang="en-US" sz="2400">
                <a:sym typeface="+mn-ea"/>
              </a:rPr>
              <a:t>自动完成一次完整的滤波迭代、计时并输出结果。最后返回 0，表示程序正常结束。</a:t>
            </a:r>
            <a:endParaRPr lang="zh-CN" altLang="en-US" sz="2400">
              <a:sym typeface="+mn-ea"/>
            </a:endParaRPr>
          </a:p>
        </p:txBody>
      </p:sp>
      <p:sp>
        <p:nvSpPr>
          <p:cNvPr id="5" name="标题 4"/>
          <p:cNvSpPr/>
          <p:nvPr>
            <p:ph type="title"/>
          </p:nvPr>
        </p:nvSpPr>
        <p:spPr/>
        <p:txBody>
          <a:bodyPr/>
          <a:p>
            <a:r>
              <a:rPr lang="zh-CN" altLang="en-US">
                <a:sym typeface="+mn-ea"/>
              </a:rPr>
              <a:t>研讨要求</a:t>
            </a:r>
            <a:r>
              <a:rPr lang="en-US" altLang="zh-CN">
                <a:sym typeface="+mn-ea"/>
              </a:rPr>
              <a:t>1</a:t>
            </a:r>
            <a:r>
              <a:rPr lang="zh-CN" altLang="en-US">
                <a:sym typeface="+mn-ea"/>
              </a:rPr>
              <a:t>：接口与时间函数</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4940" y="779780"/>
            <a:ext cx="11853545" cy="5974080"/>
          </a:xfrm>
        </p:spPr>
        <p:txBody>
          <a:bodyPr>
            <a:normAutofit fontScale="60000"/>
          </a:bodyPr>
          <a:p>
            <a:pPr marL="457200" lvl="1" indent="0">
              <a:lnSpc>
                <a:spcPct val="50000"/>
              </a:lnSpc>
              <a:buFont typeface="Wingdings" panose="05000000000000000000" charset="0"/>
              <a:buNone/>
            </a:pPr>
            <a:r>
              <a:rPr lang="zh-CN" altLang="en-US" sz="4665" b="1">
                <a:solidFill>
                  <a:srgbClr val="0070C0"/>
                </a:solidFill>
                <a:sym typeface="+mn-ea"/>
              </a:rPr>
              <a:t>源代码文件</a:t>
            </a:r>
            <a:r>
              <a:rPr lang="en-US" altLang="zh-CN" sz="4665" b="1">
                <a:solidFill>
                  <a:srgbClr val="0070C0"/>
                </a:solidFill>
                <a:sym typeface="+mn-ea"/>
              </a:rPr>
              <a:t>12</a:t>
            </a:r>
            <a:r>
              <a:rPr lang="zh-CN" altLang="en-US" sz="4665" b="1">
                <a:solidFill>
                  <a:srgbClr val="0070C0"/>
                </a:solidFill>
                <a:sym typeface="+mn-ea"/>
              </a:rPr>
              <a:t>个：</a:t>
            </a:r>
            <a:r>
              <a:rPr lang="en-US" altLang="zh-CN" sz="7000">
                <a:sym typeface="+mn-ea"/>
              </a:rPr>
              <a:t> </a:t>
            </a:r>
            <a:endParaRPr lang="en-US" altLang="zh-CN" sz="7000">
              <a:sym typeface="+mn-ea"/>
            </a:endParaRPr>
          </a:p>
          <a:p>
            <a:pPr marL="457200" lvl="1" indent="0" fontAlgn="auto">
              <a:lnSpc>
                <a:spcPct val="100000"/>
              </a:lnSpc>
              <a:buFont typeface="Wingdings" panose="05000000000000000000" charset="0"/>
              <a:buNone/>
            </a:pPr>
            <a:r>
              <a:rPr lang="en-US" altLang="zh-CN" sz="4000">
                <a:ea typeface="宋体" panose="02010600030101010101" pitchFamily="2" charset="-122"/>
                <a:cs typeface="Arial" panose="020B0604020202020204" pitchFamily="34" charset="0"/>
                <a:sym typeface="+mn-ea"/>
              </a:rPr>
              <a:t>kf_linux.h </a:t>
            </a:r>
            <a:r>
              <a:rPr lang="zh-CN" altLang="en-US" sz="4000">
                <a:ea typeface="宋体" panose="02010600030101010101" pitchFamily="2" charset="-122"/>
                <a:cs typeface="Arial" panose="020B0604020202020204" pitchFamily="34" charset="0"/>
                <a:sym typeface="+mn-ea"/>
              </a:rPr>
              <a:t>仅包含调用接口函数所需的声明</a:t>
            </a:r>
            <a:endParaRPr lang="zh-CN" altLang="en-US"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kf_linux.c  </a:t>
            </a:r>
            <a:r>
              <a:rPr lang="zh-CN" altLang="en-US" sz="4000">
                <a:ea typeface="宋体" panose="02010600030101010101" pitchFamily="2" charset="-122"/>
                <a:cs typeface="Arial" panose="020B0604020202020204" pitchFamily="34" charset="0"/>
                <a:sym typeface="+mn-ea"/>
              </a:rPr>
              <a:t>核心算子实现（稠密矩阵版本）+ 三个接口函数</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kf_linux_test.c </a:t>
            </a:r>
            <a:r>
              <a:rPr lang="zh-CN" altLang="en-US" sz="4000">
                <a:ea typeface="宋体" panose="02010600030101010101" pitchFamily="2" charset="-122"/>
                <a:cs typeface="Arial" panose="020B0604020202020204" pitchFamily="34" charset="0"/>
                <a:sym typeface="+mn-ea"/>
              </a:rPr>
              <a:t>性能采样测试主程序（</a:t>
            </a:r>
            <a:r>
              <a:rPr lang="en-US" altLang="zh-CN" sz="4000">
                <a:ea typeface="宋体" panose="02010600030101010101" pitchFamily="2" charset="-122"/>
                <a:cs typeface="Arial" panose="020B0604020202020204" pitchFamily="34" charset="0"/>
                <a:sym typeface="+mn-ea"/>
              </a:rPr>
              <a:t>main </a:t>
            </a:r>
            <a:r>
              <a:rPr lang="zh-CN" altLang="en-US" sz="4000">
                <a:ea typeface="宋体" panose="02010600030101010101" pitchFamily="2" charset="-122"/>
                <a:cs typeface="Arial" panose="020B0604020202020204" pitchFamily="34" charset="0"/>
                <a:sym typeface="+mn-ea"/>
              </a:rPr>
              <a:t>函数）</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kf_linux_neon.c   NEON </a:t>
            </a:r>
            <a:r>
              <a:rPr lang="zh-CN" altLang="en-US" sz="4000">
                <a:ea typeface="宋体" panose="02010600030101010101" pitchFamily="2" charset="-122"/>
                <a:cs typeface="Arial" panose="020B0604020202020204" pitchFamily="34" charset="0"/>
                <a:sym typeface="+mn-ea"/>
              </a:rPr>
              <a:t>向量化 + 循环分块优化版本</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kf_linux_neon_omp.c NEON </a:t>
            </a:r>
            <a:r>
              <a:rPr lang="zh-CN" altLang="en-US" sz="4000">
                <a:ea typeface="宋体" panose="02010600030101010101" pitchFamily="2" charset="-122"/>
                <a:cs typeface="Arial" panose="020B0604020202020204" pitchFamily="34" charset="0"/>
                <a:sym typeface="+mn-ea"/>
              </a:rPr>
              <a:t>向量化 + </a:t>
            </a:r>
            <a:r>
              <a:rPr lang="en-US" altLang="zh-CN" sz="4000">
                <a:ea typeface="宋体" panose="02010600030101010101" pitchFamily="2" charset="-122"/>
                <a:cs typeface="Arial" panose="020B0604020202020204" pitchFamily="34" charset="0"/>
                <a:sym typeface="+mn-ea"/>
              </a:rPr>
              <a:t>OpenMP </a:t>
            </a:r>
            <a:r>
              <a:rPr lang="zh-CN" altLang="en-US" sz="4000">
                <a:ea typeface="宋体" panose="02010600030101010101" pitchFamily="2" charset="-122"/>
                <a:cs typeface="Arial" panose="020B0604020202020204" pitchFamily="34" charset="0"/>
                <a:sym typeface="+mn-ea"/>
              </a:rPr>
              <a:t>多核并行版本</a:t>
            </a:r>
            <a:endParaRPr lang="zh-CN" altLang="en-US"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kf_linux_float_neon_omp.c  NEON + OpenMP + float </a:t>
            </a:r>
            <a:r>
              <a:rPr lang="zh-CN" altLang="en-US" sz="4000">
                <a:ea typeface="宋体" panose="02010600030101010101" pitchFamily="2" charset="-122"/>
                <a:cs typeface="Arial" panose="020B0604020202020204" pitchFamily="34" charset="0"/>
                <a:sym typeface="+mn-ea"/>
              </a:rPr>
              <a:t>数据类型版本</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kf_linux_diag.c </a:t>
            </a:r>
            <a:r>
              <a:rPr lang="zh-CN" altLang="en-US" sz="4000">
                <a:ea typeface="宋体" panose="02010600030101010101" pitchFamily="2" charset="-122"/>
                <a:cs typeface="Arial" panose="020B0604020202020204" pitchFamily="34" charset="0"/>
                <a:sym typeface="+mn-ea"/>
              </a:rPr>
              <a:t>对角阵优化版本（仅存对角线向量）</a:t>
            </a:r>
            <a:endParaRPr lang="zh-CN" altLang="en-US"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kf_linux_diag_scalar.c   </a:t>
            </a:r>
            <a:r>
              <a:rPr lang="zh-CN" altLang="en-US" sz="4000">
                <a:ea typeface="宋体" panose="02010600030101010101" pitchFamily="2" charset="-122"/>
                <a:cs typeface="Arial" panose="020B0604020202020204" pitchFamily="34" charset="0"/>
                <a:sym typeface="+mn-ea"/>
              </a:rPr>
              <a:t>对角阵 + 常量折叠 + 标量化版本</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kf_linux_float_diag_scalar.c </a:t>
            </a:r>
            <a:r>
              <a:rPr lang="zh-CN" altLang="en-US" sz="4000">
                <a:ea typeface="宋体" panose="02010600030101010101" pitchFamily="2" charset="-122"/>
                <a:cs typeface="Arial" panose="020B0604020202020204" pitchFamily="34" charset="0"/>
                <a:sym typeface="+mn-ea"/>
              </a:rPr>
              <a:t>对角阵 + 常量折叠 + 标量化 + </a:t>
            </a:r>
            <a:r>
              <a:rPr lang="en-US" altLang="zh-CN" sz="4000">
                <a:ea typeface="宋体" panose="02010600030101010101" pitchFamily="2" charset="-122"/>
                <a:cs typeface="Arial" panose="020B0604020202020204" pitchFamily="34" charset="0"/>
                <a:sym typeface="+mn-ea"/>
              </a:rPr>
              <a:t>float </a:t>
            </a:r>
            <a:r>
              <a:rPr lang="zh-CN" altLang="en-US" sz="4000">
                <a:ea typeface="宋体" panose="02010600030101010101" pitchFamily="2" charset="-122"/>
                <a:cs typeface="Arial" panose="020B0604020202020204" pitchFamily="34" charset="0"/>
                <a:sym typeface="+mn-ea"/>
              </a:rPr>
              <a:t>版本</a:t>
            </a:r>
            <a:endParaRPr lang="zh-CN" altLang="en-US"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timestamp.h   </a:t>
            </a:r>
            <a:r>
              <a:rPr lang="zh-CN" altLang="en-US" sz="4000">
                <a:ea typeface="宋体" panose="02010600030101010101" pitchFamily="2" charset="-122"/>
                <a:cs typeface="Arial" panose="020B0604020202020204" pitchFamily="34" charset="0"/>
                <a:sym typeface="+mn-ea"/>
              </a:rPr>
              <a:t>时间接口函数声明</a:t>
            </a:r>
            <a:endParaRPr lang="en-US" altLang="zh-CN"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timestamp.c  </a:t>
            </a:r>
            <a:r>
              <a:rPr lang="zh-CN" altLang="en-US" sz="4000">
                <a:ea typeface="宋体" panose="02010600030101010101" pitchFamily="2" charset="-122"/>
                <a:cs typeface="Arial" panose="020B0604020202020204" pitchFamily="34" charset="0"/>
                <a:sym typeface="+mn-ea"/>
              </a:rPr>
              <a:t>时间函数实现（纳秒精度）</a:t>
            </a:r>
            <a:endParaRPr lang="zh-CN" altLang="en-US" sz="4000">
              <a:ea typeface="宋体" panose="02010600030101010101" pitchFamily="2" charset="-122"/>
              <a:cs typeface="Arial" panose="020B0604020202020204" pitchFamily="34" charset="0"/>
              <a:sym typeface="+mn-ea"/>
            </a:endParaRPr>
          </a:p>
          <a:p>
            <a:pPr marL="457200" lvl="1" indent="0" fontAlgn="auto">
              <a:lnSpc>
                <a:spcPct val="100000"/>
              </a:lnSpc>
              <a:buFont typeface="Arial" panose="020B0604020202020204" pitchFamily="34" charset="0"/>
              <a:buNone/>
            </a:pPr>
            <a:r>
              <a:rPr lang="en-US" altLang="zh-CN" sz="4000">
                <a:ea typeface="宋体" panose="02010600030101010101" pitchFamily="2" charset="-122"/>
                <a:cs typeface="Arial" panose="020B0604020202020204" pitchFamily="34" charset="0"/>
                <a:sym typeface="+mn-ea"/>
              </a:rPr>
              <a:t>readme.txt  </a:t>
            </a:r>
            <a:r>
              <a:rPr lang="zh-CN" altLang="en-US" sz="4000">
                <a:ea typeface="宋体" panose="02010600030101010101" pitchFamily="2" charset="-122"/>
                <a:cs typeface="Arial" panose="020B0604020202020204" pitchFamily="34" charset="0"/>
                <a:sym typeface="+mn-ea"/>
              </a:rPr>
              <a:t>编译和执行说明</a:t>
            </a:r>
            <a:r>
              <a:rPr lang="en-US" altLang="zh-CN" sz="4000">
                <a:ea typeface="宋体" panose="02010600030101010101" pitchFamily="2" charset="-122"/>
                <a:cs typeface="Arial" panose="020B0604020202020204" pitchFamily="34" charset="0"/>
                <a:sym typeface="+mn-ea"/>
              </a:rPr>
              <a:t> </a:t>
            </a:r>
            <a:endParaRPr lang="en-US" altLang="zh-CN" sz="4000">
              <a:ea typeface="宋体" panose="02010600030101010101" pitchFamily="2" charset="-122"/>
              <a:cs typeface="Arial" panose="020B0604020202020204" pitchFamily="34" charset="0"/>
              <a:sym typeface="+mn-ea"/>
            </a:endParaRPr>
          </a:p>
        </p:txBody>
      </p:sp>
      <p:sp>
        <p:nvSpPr>
          <p:cNvPr id="5" name="标题 4"/>
          <p:cNvSpPr/>
          <p:nvPr>
            <p:ph type="title"/>
          </p:nvPr>
        </p:nvSpPr>
        <p:spPr/>
        <p:txBody>
          <a:bodyPr/>
          <a:p>
            <a:r>
              <a:rPr lang="zh-CN" altLang="en-US"/>
              <a:t>研讨要求</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研讨要求</a:t>
            </a:r>
            <a:r>
              <a:rPr lang="en-US" altLang="zh-CN"/>
              <a:t>2</a:t>
            </a:r>
            <a:r>
              <a:rPr lang="zh-CN" altLang="en-US"/>
              <a:t>：格式</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graphicFrame>
        <p:nvGraphicFramePr>
          <p:cNvPr id="5" name="表格 4"/>
          <p:cNvGraphicFramePr/>
          <p:nvPr>
            <p:custDataLst>
              <p:tags r:id="rId1"/>
            </p:custDataLst>
          </p:nvPr>
        </p:nvGraphicFramePr>
        <p:xfrm>
          <a:off x="616585" y="1033780"/>
          <a:ext cx="10530840" cy="4343400"/>
        </p:xfrm>
        <a:graphic>
          <a:graphicData uri="http://schemas.openxmlformats.org/drawingml/2006/table">
            <a:tbl>
              <a:tblPr firstRow="1" bandRow="1">
                <a:tableStyleId>{5C22544A-7EE6-4342-B048-85BDC9FD1C3A}</a:tableStyleId>
              </a:tblPr>
              <a:tblGrid>
                <a:gridCol w="3510280"/>
                <a:gridCol w="3510280"/>
                <a:gridCol w="3510280"/>
              </a:tblGrid>
              <a:tr h="464185">
                <a:tc>
                  <a:txBody>
                    <a:bodyPr/>
                    <a:p>
                      <a:pPr>
                        <a:buNone/>
                      </a:pPr>
                      <a:r>
                        <a:rPr lang="zh-CN" altLang="en-US" sz="2400"/>
                        <a:t>类别</a:t>
                      </a:r>
                      <a:endParaRPr lang="zh-CN" altLang="en-US" sz="2400"/>
                    </a:p>
                  </a:txBody>
                  <a:tcPr/>
                </a:tc>
                <a:tc>
                  <a:txBody>
                    <a:bodyPr/>
                    <a:p>
                      <a:pPr>
                        <a:buNone/>
                      </a:pPr>
                      <a:r>
                        <a:rPr lang="zh-CN" altLang="en-US" sz="2400"/>
                        <a:t>命名风格</a:t>
                      </a:r>
                      <a:endParaRPr lang="zh-CN" altLang="en-US" sz="2400"/>
                    </a:p>
                  </a:txBody>
                  <a:tcPr/>
                </a:tc>
                <a:tc>
                  <a:txBody>
                    <a:bodyPr/>
                    <a:p>
                      <a:pPr>
                        <a:buNone/>
                      </a:pPr>
                      <a:r>
                        <a:rPr lang="zh-CN" altLang="en-US" sz="2400"/>
                        <a:t>实例</a:t>
                      </a:r>
                      <a:endParaRPr lang="zh-CN" altLang="en-US" sz="2400"/>
                    </a:p>
                  </a:txBody>
                  <a:tcPr/>
                </a:tc>
              </a:tr>
              <a:tr h="464185">
                <a:tc>
                  <a:txBody>
                    <a:bodyPr/>
                    <a:p>
                      <a:pPr>
                        <a:buNone/>
                      </a:pPr>
                      <a:r>
                        <a:rPr lang="zh-CN" altLang="en-US" sz="2400"/>
                        <a:t>类型（枚举）</a:t>
                      </a:r>
                      <a:endParaRPr lang="zh-CN" altLang="en-US" sz="2400"/>
                    </a:p>
                  </a:txBody>
                  <a:tcPr/>
                </a:tc>
                <a:tc>
                  <a:txBody>
                    <a:bodyPr/>
                    <a:p>
                      <a:pPr>
                        <a:buNone/>
                      </a:pPr>
                      <a:r>
                        <a:rPr lang="zh-CN" altLang="en-US" sz="2400"/>
                        <a:t>大驼峰</a:t>
                      </a:r>
                      <a:endParaRPr lang="zh-CN" altLang="en-US" sz="2400"/>
                    </a:p>
                  </a:txBody>
                  <a:tcPr/>
                </a:tc>
                <a:tc>
                  <a:txBody>
                    <a:bodyPr/>
                    <a:p>
                      <a:pPr>
                        <a:buNone/>
                      </a:pPr>
                      <a:r>
                        <a:rPr lang="en-US" altLang="zh-CN" sz="2400"/>
                        <a:t>RetCode</a:t>
                      </a:r>
                      <a:endParaRPr lang="en-US" altLang="zh-CN" sz="2400"/>
                    </a:p>
                  </a:txBody>
                  <a:tcPr/>
                </a:tc>
              </a:tr>
              <a:tr h="464185">
                <a:tc>
                  <a:txBody>
                    <a:bodyPr/>
                    <a:p>
                      <a:pPr>
                        <a:buNone/>
                      </a:pPr>
                      <a:r>
                        <a:rPr lang="zh-CN" altLang="en-US" sz="2400"/>
                        <a:t>类型（结构体）</a:t>
                      </a:r>
                      <a:endParaRPr lang="zh-CN" altLang="en-US" sz="2400"/>
                    </a:p>
                  </a:txBody>
                  <a:tcPr/>
                </a:tc>
                <a:tc>
                  <a:txBody>
                    <a:bodyPr/>
                    <a:p>
                      <a:pPr>
                        <a:buNone/>
                      </a:pPr>
                      <a:r>
                        <a:rPr lang="zh-CN" altLang="en-US" sz="2400"/>
                        <a:t>大驼峰</a:t>
                      </a:r>
                      <a:endParaRPr lang="zh-CN" altLang="en-US" sz="2400"/>
                    </a:p>
                  </a:txBody>
                  <a:tcPr/>
                </a:tc>
                <a:tc>
                  <a:txBody>
                    <a:bodyPr/>
                    <a:p>
                      <a:pPr>
                        <a:buNone/>
                      </a:pPr>
                      <a:r>
                        <a:rPr lang="en-US" altLang="zh-CN" sz="2400"/>
                        <a:t>KfInput</a:t>
                      </a:r>
                      <a:r>
                        <a:rPr lang="zh-CN" altLang="en-US" sz="2400"/>
                        <a:t>、</a:t>
                      </a:r>
                      <a:r>
                        <a:rPr lang="en-US" altLang="zh-CN" sz="2400"/>
                        <a:t>KfOutput</a:t>
                      </a:r>
                      <a:endParaRPr lang="en-US" altLang="zh-CN" sz="2400"/>
                    </a:p>
                  </a:txBody>
                  <a:tcPr/>
                </a:tc>
              </a:tr>
              <a:tr h="779145">
                <a:tc>
                  <a:txBody>
                    <a:bodyPr/>
                    <a:p>
                      <a:pPr>
                        <a:buNone/>
                      </a:pPr>
                      <a:r>
                        <a:rPr lang="zh-CN" altLang="en-US" sz="2400"/>
                        <a:t>枚举成员</a:t>
                      </a:r>
                      <a:endParaRPr lang="zh-CN" altLang="en-US" sz="2400"/>
                    </a:p>
                  </a:txBody>
                  <a:tcPr/>
                </a:tc>
                <a:tc>
                  <a:txBody>
                    <a:bodyPr/>
                    <a:p>
                      <a:pPr>
                        <a:buNone/>
                      </a:pPr>
                      <a:r>
                        <a:rPr lang="zh-CN" altLang="en-US" sz="2400"/>
                        <a:t>全大写</a:t>
                      </a:r>
                      <a:r>
                        <a:rPr lang="en-US" altLang="zh-CN" sz="2400"/>
                        <a:t>+</a:t>
                      </a:r>
                      <a:r>
                        <a:rPr lang="zh-CN" altLang="en-US" sz="2400"/>
                        <a:t>下划线</a:t>
                      </a:r>
                      <a:endParaRPr lang="zh-CN" altLang="en-US" sz="2400"/>
                    </a:p>
                  </a:txBody>
                  <a:tcPr/>
                </a:tc>
                <a:tc>
                  <a:txBody>
                    <a:bodyPr/>
                    <a:p>
                      <a:pPr>
                        <a:buNone/>
                      </a:pPr>
                      <a:r>
                        <a:rPr lang="en-US" altLang="zh-CN" sz="2400"/>
                        <a:t>K_RET_OK</a:t>
                      </a:r>
                      <a:r>
                        <a:rPr lang="zh-CN" altLang="en-US" sz="2400"/>
                        <a:t>、</a:t>
                      </a:r>
                      <a:r>
                        <a:rPr lang="en-US" altLang="zh-CN" sz="2400"/>
                        <a:t>K_RET_INVALID_PARAM</a:t>
                      </a:r>
                      <a:endParaRPr lang="en-US" altLang="zh-CN" sz="2400"/>
                    </a:p>
                  </a:txBody>
                  <a:tcPr/>
                </a:tc>
              </a:tr>
              <a:tr h="779145">
                <a:tc>
                  <a:txBody>
                    <a:bodyPr/>
                    <a:p>
                      <a:pPr>
                        <a:buNone/>
                      </a:pPr>
                      <a:r>
                        <a:rPr lang="zh-CN" altLang="en-US" sz="2400"/>
                        <a:t>函数</a:t>
                      </a:r>
                      <a:endParaRPr lang="zh-CN" altLang="en-US" sz="2400"/>
                    </a:p>
                  </a:txBody>
                  <a:tcPr/>
                </a:tc>
                <a:tc>
                  <a:txBody>
                    <a:bodyPr/>
                    <a:p>
                      <a:pPr>
                        <a:buNone/>
                      </a:pPr>
                      <a:r>
                        <a:rPr lang="zh-CN" altLang="en-US" sz="2400"/>
                        <a:t>蛇形</a:t>
                      </a:r>
                      <a:endParaRPr lang="zh-CN" altLang="en-US" sz="2400"/>
                    </a:p>
                  </a:txBody>
                  <a:tcPr/>
                </a:tc>
                <a:tc>
                  <a:txBody>
                    <a:bodyPr/>
                    <a:p>
                      <a:pPr>
                        <a:buNone/>
                      </a:pPr>
                      <a:r>
                        <a:rPr lang="en-US" altLang="zh-CN" sz="2400"/>
                        <a:t>kf_linux_iopointer</a:t>
                      </a:r>
                      <a:r>
                        <a:rPr lang="zh-CN" altLang="en-US" sz="2400"/>
                        <a:t>、</a:t>
                      </a:r>
                      <a:r>
                        <a:rPr lang="en-US" altLang="zh-CN" sz="2400"/>
                        <a:t>get_timestamp</a:t>
                      </a:r>
                      <a:endParaRPr lang="en-US" altLang="zh-CN" sz="2400"/>
                    </a:p>
                  </a:txBody>
                  <a:tcPr/>
                </a:tc>
              </a:tr>
              <a:tr h="464185">
                <a:tc>
                  <a:txBody>
                    <a:bodyPr/>
                    <a:p>
                      <a:pPr>
                        <a:buNone/>
                      </a:pPr>
                      <a:r>
                        <a:rPr lang="zh-CN" altLang="en-US" sz="2400"/>
                        <a:t>变量</a:t>
                      </a:r>
                      <a:r>
                        <a:rPr lang="en-US" altLang="zh-CN" sz="2400"/>
                        <a:t>/</a:t>
                      </a:r>
                      <a:r>
                        <a:rPr lang="zh-CN" altLang="en-US" sz="2400"/>
                        <a:t>参数</a:t>
                      </a:r>
                      <a:endParaRPr lang="zh-CN" altLang="en-US" sz="2400"/>
                    </a:p>
                  </a:txBody>
                  <a:tcPr/>
                </a:tc>
                <a:tc>
                  <a:txBody>
                    <a:bodyPr/>
                    <a:p>
                      <a:pPr>
                        <a:buNone/>
                      </a:pPr>
                      <a:r>
                        <a:rPr lang="zh-CN" altLang="en-US" sz="2400"/>
                        <a:t>蛇形（全小写）</a:t>
                      </a:r>
                      <a:endParaRPr lang="zh-CN" altLang="en-US" sz="2400"/>
                    </a:p>
                  </a:txBody>
                  <a:tcPr/>
                </a:tc>
                <a:tc>
                  <a:txBody>
                    <a:bodyPr/>
                    <a:p>
                      <a:pPr>
                        <a:buNone/>
                      </a:pPr>
                      <a:r>
                        <a:rPr lang="en-US" altLang="zh-CN" sz="2400"/>
                        <a:t>dim</a:t>
                      </a:r>
                      <a:r>
                        <a:rPr lang="zh-CN" altLang="en-US" sz="2400"/>
                        <a:t>、</a:t>
                      </a:r>
                      <a:r>
                        <a:rPr lang="en-US" altLang="zh-CN" sz="2400"/>
                        <a:t>temp_p_plus_r</a:t>
                      </a:r>
                      <a:r>
                        <a:rPr lang="zh-CN" altLang="en-US" sz="2400"/>
                        <a:t>、</a:t>
                      </a:r>
                      <a:r>
                        <a:rPr lang="en-US" altLang="zh-CN" sz="2400"/>
                        <a:t>k_mult</a:t>
                      </a:r>
                      <a:endParaRPr lang="en-US" altLang="zh-CN" sz="2400"/>
                    </a:p>
                  </a:txBody>
                  <a:tcPr/>
                </a:tc>
              </a:tr>
              <a:tr h="464185">
                <a:tc>
                  <a:txBody>
                    <a:bodyPr/>
                    <a:p>
                      <a:pPr>
                        <a:buNone/>
                      </a:pPr>
                      <a:r>
                        <a:rPr lang="zh-CN" altLang="en-US" sz="2400"/>
                        <a:t>常量</a:t>
                      </a:r>
                      <a:endParaRPr lang="zh-CN" altLang="en-US" sz="2400"/>
                    </a:p>
                  </a:txBody>
                  <a:tcPr/>
                </a:tc>
                <a:tc>
                  <a:txBody>
                    <a:bodyPr/>
                    <a:p>
                      <a:pPr>
                        <a:buNone/>
                      </a:pPr>
                      <a:r>
                        <a:rPr lang="zh-CN" altLang="en-US" sz="2400"/>
                        <a:t>全大写</a:t>
                      </a:r>
                      <a:r>
                        <a:rPr lang="en-US" altLang="zh-CN" sz="2400"/>
                        <a:t>+</a:t>
                      </a:r>
                      <a:r>
                        <a:rPr lang="zh-CN" altLang="en-US" sz="2400"/>
                        <a:t>下划线</a:t>
                      </a:r>
                      <a:endParaRPr lang="zh-CN" altLang="en-US" sz="2400"/>
                    </a:p>
                  </a:txBody>
                  <a:tcPr/>
                </a:tc>
                <a:tc>
                  <a:txBody>
                    <a:bodyPr/>
                    <a:p>
                      <a:pPr>
                        <a:buNone/>
                      </a:pPr>
                      <a:r>
                        <a:rPr lang="en-US" altLang="zh-CN" sz="2400"/>
                        <a:t>MAX_DIM</a:t>
                      </a:r>
                      <a:endParaRPr lang="en-US" altLang="zh-CN" sz="2400"/>
                    </a:p>
                  </a:txBody>
                  <a:tcPr/>
                </a:tc>
              </a:tr>
              <a:tr h="464185">
                <a:tc>
                  <a:txBody>
                    <a:bodyPr/>
                    <a:p>
                      <a:pPr>
                        <a:buNone/>
                      </a:pPr>
                      <a:r>
                        <a:rPr lang="zh-CN" altLang="en-US" sz="2400"/>
                        <a:t>测试文件</a:t>
                      </a:r>
                      <a:endParaRPr lang="zh-CN" altLang="en-US" sz="2400"/>
                    </a:p>
                  </a:txBody>
                  <a:tcPr/>
                </a:tc>
                <a:tc>
                  <a:txBody>
                    <a:bodyPr/>
                    <a:p>
                      <a:pPr>
                        <a:buNone/>
                      </a:pPr>
                      <a:r>
                        <a:rPr lang="zh-CN" altLang="en-US" sz="2400"/>
                        <a:t>以</a:t>
                      </a:r>
                      <a:r>
                        <a:rPr lang="en-US" altLang="zh-CN" sz="2400"/>
                        <a:t>test</a:t>
                      </a:r>
                      <a:r>
                        <a:rPr lang="zh-CN" altLang="en-US" sz="2400"/>
                        <a:t>结尾</a:t>
                      </a:r>
                      <a:endParaRPr lang="zh-CN" altLang="en-US" sz="2400"/>
                    </a:p>
                  </a:txBody>
                  <a:tcPr/>
                </a:tc>
                <a:tc>
                  <a:txBody>
                    <a:bodyPr/>
                    <a:p>
                      <a:pPr>
                        <a:buNone/>
                      </a:pPr>
                      <a:r>
                        <a:rPr lang="en-US" altLang="zh-CN" sz="2400"/>
                        <a:t>kf_linux_test.c</a:t>
                      </a:r>
                      <a:endParaRPr lang="en-US" altLang="zh-CN" sz="240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研讨要求</a:t>
            </a:r>
            <a:r>
              <a:rPr lang="en-US" altLang="zh-CN"/>
              <a:t>3</a:t>
            </a:r>
            <a:r>
              <a:rPr lang="zh-CN" altLang="en-US"/>
              <a:t>：性能</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graphicFrame>
        <p:nvGraphicFramePr>
          <p:cNvPr id="6" name="表格 5"/>
          <p:cNvGraphicFramePr/>
          <p:nvPr/>
        </p:nvGraphicFramePr>
        <p:xfrm>
          <a:off x="636270" y="1317625"/>
          <a:ext cx="10822940" cy="4602480"/>
        </p:xfrm>
        <a:graphic>
          <a:graphicData uri="http://schemas.openxmlformats.org/drawingml/2006/table">
            <a:tbl>
              <a:tblPr firstRow="1" bandRow="1">
                <a:tableStyleId>{5C22544A-7EE6-4342-B048-85BDC9FD1C3A}</a:tableStyleId>
              </a:tblPr>
              <a:tblGrid>
                <a:gridCol w="1572895"/>
                <a:gridCol w="2052320"/>
                <a:gridCol w="1464945"/>
                <a:gridCol w="2312035"/>
                <a:gridCol w="1237615"/>
                <a:gridCol w="2183130"/>
              </a:tblGrid>
              <a:tr h="381000">
                <a:tc>
                  <a:txBody>
                    <a:bodyPr/>
                    <a:p>
                      <a:pPr algn="ctr">
                        <a:buNone/>
                      </a:pPr>
                      <a:r>
                        <a:rPr lang="zh-CN" altLang="en-US" sz="1400">
                          <a:latin typeface="Times New Roman Regular" panose="02020503050405090304" charset="0"/>
                          <a:cs typeface="Times New Roman Regular" panose="02020503050405090304" charset="0"/>
                        </a:rPr>
                        <a:t>算子</a:t>
                      </a:r>
                      <a:endParaRPr lang="zh-CN" altLang="en-US" sz="1400">
                        <a:latin typeface="Times New Roman Regular" panose="02020503050405090304" charset="0"/>
                        <a:cs typeface="Times New Roman Regular" panose="02020503050405090304" charset="0"/>
                      </a:endParaRPr>
                    </a:p>
                  </a:txBody>
                  <a:tcPr anchor="ctr" anchorCtr="0"/>
                </a:tc>
                <a:tc>
                  <a:txBody>
                    <a:bodyPr/>
                    <a:p>
                      <a:pPr algn="ctr">
                        <a:buNone/>
                      </a:pPr>
                      <a:r>
                        <a:rPr lang="zh-CN" altLang="en-US" sz="1400">
                          <a:latin typeface="Times New Roman Regular" panose="02020503050405090304" charset="0"/>
                          <a:cs typeface="Times New Roman Regular" panose="02020503050405090304" charset="0"/>
                        </a:rPr>
                        <a:t>平台</a:t>
                      </a:r>
                      <a:endParaRPr lang="zh-CN" altLang="en-US" sz="1400">
                        <a:latin typeface="Times New Roman Regular" panose="02020503050405090304" charset="0"/>
                        <a:cs typeface="Times New Roman Regular" panose="02020503050405090304" charset="0"/>
                      </a:endParaRPr>
                    </a:p>
                  </a:txBody>
                  <a:tcPr anchor="ctr" anchorCtr="0"/>
                </a:tc>
                <a:tc>
                  <a:txBody>
                    <a:bodyPr/>
                    <a:p>
                      <a:pPr algn="ctr">
                        <a:buNone/>
                      </a:pPr>
                      <a:r>
                        <a:rPr lang="zh-CN" altLang="en-US" sz="1400">
                          <a:latin typeface="Times New Roman Regular" panose="02020503050405090304" charset="0"/>
                          <a:cs typeface="Times New Roman Regular" panose="02020503050405090304" charset="0"/>
                          <a:sym typeface="+mn-ea"/>
                        </a:rPr>
                        <a:t>执行时间优化前（</a:t>
                      </a:r>
                      <a:r>
                        <a:rPr lang="en-US" altLang="zh-CN" sz="1400">
                          <a:latin typeface="Times New Roman Regular" panose="02020503050405090304" charset="0"/>
                          <a:cs typeface="Times New Roman Regular" panose="02020503050405090304" charset="0"/>
                          <a:sym typeface="+mn-ea"/>
                        </a:rPr>
                        <a:t>ms)</a:t>
                      </a:r>
                      <a:endParaRPr lang="en-US" altLang="zh-CN" sz="1400">
                        <a:latin typeface="Times New Roman Regular" panose="02020503050405090304" charset="0"/>
                        <a:cs typeface="Times New Roman Regular" panose="02020503050405090304" charset="0"/>
                        <a:sym typeface="+mn-ea"/>
                      </a:endParaRPr>
                    </a:p>
                  </a:txBody>
                  <a:tcPr anchor="ctr" anchorCtr="0"/>
                </a:tc>
                <a:tc>
                  <a:txBody>
                    <a:bodyPr/>
                    <a:p>
                      <a:pPr algn="ctr">
                        <a:buNone/>
                      </a:pPr>
                      <a:r>
                        <a:rPr lang="zh-CN" altLang="en-US" sz="1400">
                          <a:latin typeface="Times New Roman Regular" panose="02020503050405090304" charset="0"/>
                          <a:cs typeface="Times New Roman Regular" panose="02020503050405090304" charset="0"/>
                          <a:sym typeface="+mn-ea"/>
                        </a:rPr>
                        <a:t>优化方法</a:t>
                      </a:r>
                      <a:endParaRPr lang="zh-CN" altLang="en-US" sz="1400">
                        <a:latin typeface="Times New Roman Regular" panose="02020503050405090304" charset="0"/>
                        <a:cs typeface="Times New Roman Regular" panose="02020503050405090304" charset="0"/>
                        <a:sym typeface="+mn-ea"/>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执行时间优化后</a:t>
                      </a:r>
                      <a:r>
                        <a:rPr lang="en-US" altLang="zh-CN" sz="1400">
                          <a:latin typeface="Times New Roman Regular" panose="02020503050405090304" charset="0"/>
                          <a:cs typeface="Times New Roman Regular" panose="02020503050405090304" charset="0"/>
                        </a:rPr>
                        <a:t>(ms) </a:t>
                      </a:r>
                      <a:endParaRPr lang="en-US" altLang="zh-CN" sz="1400">
                        <a:latin typeface="Times New Roman Regular" panose="02020503050405090304" charset="0"/>
                        <a:cs typeface="Times New Roman Regular" panose="02020503050405090304" charset="0"/>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加速</a:t>
                      </a:r>
                      <a:r>
                        <a:rPr lang="en-US" altLang="zh-CN" sz="1400">
                          <a:latin typeface="Times New Roman Regular" panose="02020503050405090304" charset="0"/>
                          <a:cs typeface="Times New Roman Regular" panose="02020503050405090304" charset="0"/>
                          <a:sym typeface="+mn-ea"/>
                        </a:rPr>
                        <a:t>%</a:t>
                      </a:r>
                      <a:endParaRPr lang="en-US" altLang="zh-CN" sz="1400">
                        <a:latin typeface="Times New Roman Regular" panose="02020503050405090304" charset="0"/>
                        <a:cs typeface="Times New Roman Regular" panose="02020503050405090304" charset="0"/>
                        <a:sym typeface="+mn-ea"/>
                      </a:endParaRPr>
                    </a:p>
                  </a:txBody>
                  <a:tcPr anchor="ctr" anchorCtr="0"/>
                </a:tc>
              </a:tr>
              <a:tr h="381000">
                <a:tc rowSpan="8">
                  <a:txBody>
                    <a:bodyPr/>
                    <a:p>
                      <a:pPr marL="0" lvl="1" algn="ctr">
                        <a:buNone/>
                      </a:pPr>
                      <a:r>
                        <a:rPr lang="en-US" altLang="zh-CN" sz="1800">
                          <a:latin typeface="Arial" panose="020B0604020202020204" pitchFamily="34" charset="0"/>
                          <a:cs typeface="Arial" panose="020B0604020202020204" pitchFamily="34" charset="0"/>
                          <a:sym typeface="+mn-ea"/>
                        </a:rPr>
                        <a:t>KF</a:t>
                      </a:r>
                      <a:endParaRPr lang="en-US" altLang="zh-CN" sz="1800" b="0">
                        <a:latin typeface="Arial" panose="020B0604020202020204" pitchFamily="34" charset="0"/>
                        <a:cs typeface="Arial" panose="020B0604020202020204" pitchFamily="34" charset="0"/>
                        <a:sym typeface="+mn-ea"/>
                      </a:endParaRPr>
                    </a:p>
                    <a:p>
                      <a:pPr marL="0" lvl="1" algn="ctr">
                        <a:buNone/>
                      </a:pPr>
                      <a:endParaRPr lang="zh-CN" altLang="en-US"/>
                    </a:p>
                  </a:txBody>
                  <a:tcPr anchor="ctr" anchorCtr="0"/>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en-US" altLang="zh-CN" sz="1800" b="0">
                          <a:latin typeface="Arial" panose="020B0604020202020204" pitchFamily="34" charset="0"/>
                          <a:cs typeface="Arial" panose="020B0604020202020204" pitchFamily="34" charset="0"/>
                          <a:sym typeface="+mn-ea"/>
                        </a:rPr>
                        <a:t>O2</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rPr>
                        <a:t>92.7</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sym typeface="+mn-ea"/>
                        </a:rPr>
                        <a:t>82.2</a:t>
                      </a:r>
                      <a:endParaRPr lang="en-US" altLang="zh-CN" sz="1800" b="0">
                        <a:latin typeface="Arial" panose="020B0604020202020204" pitchFamily="34" charset="0"/>
                        <a:cs typeface="Arial" panose="020B0604020202020204" pitchFamily="34" charset="0"/>
                        <a:sym typeface="+mn-ea"/>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en-US" altLang="zh-CN" sz="1800" b="0">
                          <a:latin typeface="Arial" panose="020B0604020202020204" pitchFamily="34" charset="0"/>
                          <a:cs typeface="Arial" panose="020B0604020202020204" pitchFamily="34" charset="0"/>
                          <a:sym typeface="+mn-ea"/>
                        </a:rPr>
                        <a:t>O3</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95.5</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81.6</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zh-CN" altLang="en-US" sz="1800" b="0">
                          <a:latin typeface="Arial" panose="020B0604020202020204" pitchFamily="34" charset="0"/>
                          <a:cs typeface="Arial" panose="020B0604020202020204" pitchFamily="34" charset="0"/>
                        </a:rPr>
                        <a:t>循环分块</a:t>
                      </a:r>
                      <a:r>
                        <a:rPr lang="en-US" altLang="zh-CN" sz="1800" b="0">
                          <a:latin typeface="Arial" panose="020B0604020202020204" pitchFamily="34" charset="0"/>
                          <a:cs typeface="Arial" panose="020B0604020202020204" pitchFamily="34" charset="0"/>
                        </a:rPr>
                        <a:t>+NEON</a:t>
                      </a:r>
                      <a:r>
                        <a:rPr lang="zh-CN" altLang="en-US" sz="1800" b="0">
                          <a:latin typeface="Arial" panose="020B0604020202020204" pitchFamily="34" charset="0"/>
                          <a:cs typeface="Arial" panose="020B0604020202020204" pitchFamily="34" charset="0"/>
                        </a:rPr>
                        <a:t>向量化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56.76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89.0</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en-US" altLang="zh-CN" sz="1800" b="0">
                          <a:latin typeface="Arial" panose="020B0604020202020204" pitchFamily="34" charset="0"/>
                          <a:cs typeface="Arial" panose="020B0604020202020204" pitchFamily="34" charset="0"/>
                        </a:rPr>
                        <a:t>NEON+OpenMP4</a:t>
                      </a:r>
                      <a:r>
                        <a:rPr lang="zh-CN" altLang="en-US" sz="1800" b="0">
                          <a:latin typeface="Arial" panose="020B0604020202020204" pitchFamily="34" charset="0"/>
                          <a:cs typeface="Arial" panose="020B0604020202020204" pitchFamily="34" charset="0"/>
                        </a:rPr>
                        <a:t>核</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25.87</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95.0</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en-US" altLang="zh-CN" sz="1800" b="0">
                          <a:latin typeface="Arial" panose="020B0604020202020204" pitchFamily="34" charset="0"/>
                          <a:cs typeface="Arial" panose="020B0604020202020204" pitchFamily="34" charset="0"/>
                        </a:rPr>
                        <a:t>NEON+OpenMP4</a:t>
                      </a:r>
                      <a:r>
                        <a:rPr lang="zh-CN" altLang="en-US" sz="1800" b="0">
                          <a:latin typeface="Arial" panose="020B0604020202020204" pitchFamily="34" charset="0"/>
                          <a:cs typeface="Arial" panose="020B0604020202020204" pitchFamily="34" charset="0"/>
                        </a:rPr>
                        <a:t>核</a:t>
                      </a:r>
                      <a:r>
                        <a:rPr lang="en-US" altLang="zh-CN" sz="1800" b="0">
                          <a:latin typeface="Arial" panose="020B0604020202020204" pitchFamily="34" charset="0"/>
                          <a:cs typeface="Arial" panose="020B0604020202020204" pitchFamily="34" charset="0"/>
                        </a:rPr>
                        <a:t>+float</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19.93</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96.1</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zh-CN" altLang="en-US" sz="1800" b="0">
                          <a:latin typeface="Arial" panose="020B0604020202020204" pitchFamily="34" charset="0"/>
                          <a:cs typeface="Arial" panose="020B0604020202020204" pitchFamily="34" charset="0"/>
                        </a:rPr>
                        <a:t>对角矩阵优化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99.99</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zh-CN" altLang="en-US" sz="1800" b="0">
                          <a:latin typeface="Arial" panose="020B0604020202020204" pitchFamily="34" charset="0"/>
                          <a:cs typeface="Arial" panose="020B0604020202020204" pitchFamily="34" charset="0"/>
                        </a:rPr>
                        <a:t>对角矩阵优化</a:t>
                      </a:r>
                      <a:r>
                        <a:rPr lang="en-US" altLang="zh-CN" sz="1800" b="0">
                          <a:latin typeface="Arial" panose="020B0604020202020204" pitchFamily="34" charset="0"/>
                          <a:cs typeface="Arial" panose="020B0604020202020204" pitchFamily="34" charset="0"/>
                        </a:rPr>
                        <a:t>+</a:t>
                      </a:r>
                      <a:r>
                        <a:rPr lang="zh-CN" altLang="en-US" sz="1800" b="0">
                          <a:latin typeface="Arial" panose="020B0604020202020204" pitchFamily="34" charset="0"/>
                          <a:cs typeface="Arial" panose="020B0604020202020204" pitchFamily="34" charset="0"/>
                        </a:rPr>
                        <a:t>常量折叠、标量化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0.0125</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99.99</a:t>
                      </a:r>
                      <a:endParaRPr lang="en-US" altLang="zh-CN" sz="1800" b="0">
                        <a:latin typeface="Arial" panose="020B0604020202020204" pitchFamily="34" charset="0"/>
                        <a:cs typeface="Arial" panose="020B0604020202020204" pitchFamily="34" charset="0"/>
                      </a:endParaRPr>
                    </a:p>
                  </a:txBody>
                  <a:tcPr anchor="ctr" anchorCtr="0"/>
                </a:tc>
              </a:tr>
              <a:tr h="381000">
                <a:tc vMerge="1">
                  <a:tcPr/>
                </a:tc>
                <a:tc>
                  <a:txBody>
                    <a:bodyPr/>
                    <a:p>
                      <a:pPr marL="0" lvl="1" algn="ctr">
                        <a:buNone/>
                      </a:pPr>
                      <a:r>
                        <a:rPr lang="en-US" altLang="zh-CN" sz="1800">
                          <a:latin typeface="Arial" panose="020B0604020202020204" pitchFamily="34" charset="0"/>
                          <a:cs typeface="Arial" panose="020B0604020202020204" pitchFamily="34" charset="0"/>
                          <a:sym typeface="+mn-ea"/>
                        </a:rPr>
                        <a:t>ARM A72 + Linux</a:t>
                      </a:r>
                      <a:endParaRPr lang="zh-CN" altLang="en-US"/>
                    </a:p>
                  </a:txBody>
                  <a:tcPr/>
                </a:tc>
                <a:tc>
                  <a:txBody>
                    <a:bodyPr/>
                    <a:p>
                      <a:pPr algn="ctr">
                        <a:buNone/>
                      </a:pPr>
                      <a:r>
                        <a:rPr lang="en-US" altLang="zh-CN" sz="1800">
                          <a:latin typeface="Arial" panose="020B0604020202020204" pitchFamily="34" charset="0"/>
                          <a:cs typeface="Arial" panose="020B0604020202020204" pitchFamily="34" charset="0"/>
                          <a:sym typeface="+mn-ea"/>
                        </a:rPr>
                        <a:t>520</a:t>
                      </a:r>
                      <a:endParaRPr lang="zh-CN" altLang="en-US"/>
                    </a:p>
                  </a:txBody>
                  <a:tcPr/>
                </a:tc>
                <a:tc>
                  <a:txBody>
                    <a:bodyPr/>
                    <a:p>
                      <a:pPr algn="ctr">
                        <a:buNone/>
                      </a:pPr>
                      <a:r>
                        <a:rPr lang="zh-CN" altLang="en-US" sz="1800">
                          <a:latin typeface="Arial" panose="020B0604020202020204" pitchFamily="34" charset="0"/>
                          <a:cs typeface="Arial" panose="020B0604020202020204" pitchFamily="34" charset="0"/>
                          <a:sym typeface="+mn-ea"/>
                        </a:rPr>
                        <a:t>对角矩阵优化</a:t>
                      </a:r>
                      <a:r>
                        <a:rPr lang="en-US" altLang="zh-CN" sz="1800">
                          <a:latin typeface="Arial" panose="020B0604020202020204" pitchFamily="34" charset="0"/>
                          <a:cs typeface="Arial" panose="020B0604020202020204" pitchFamily="34" charset="0"/>
                          <a:sym typeface="+mn-ea"/>
                        </a:rPr>
                        <a:t>+</a:t>
                      </a:r>
                      <a:r>
                        <a:rPr lang="zh-CN" altLang="en-US" sz="1800">
                          <a:latin typeface="Arial" panose="020B0604020202020204" pitchFamily="34" charset="0"/>
                          <a:cs typeface="Arial" panose="020B0604020202020204" pitchFamily="34" charset="0"/>
                          <a:sym typeface="+mn-ea"/>
                        </a:rPr>
                        <a:t>常量折叠、标量化</a:t>
                      </a:r>
                      <a:r>
                        <a:rPr lang="en-US" altLang="zh-CN" sz="1800">
                          <a:latin typeface="Arial" panose="020B0604020202020204" pitchFamily="34" charset="0"/>
                          <a:cs typeface="Arial" panose="020B0604020202020204" pitchFamily="34" charset="0"/>
                          <a:sym typeface="+mn-ea"/>
                        </a:rPr>
                        <a:t>+float</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0.0126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99.99</a:t>
                      </a:r>
                      <a:endParaRPr lang="en-US" altLang="zh-CN" sz="1800" b="0">
                        <a:latin typeface="Arial" panose="020B0604020202020204" pitchFamily="34" charset="0"/>
                        <a:cs typeface="Arial" panose="020B0604020202020204" pitchFamily="34" charset="0"/>
                      </a:endParaRPr>
                    </a:p>
                  </a:txBody>
                  <a:tcPr anchor="ctr" anchorCtr="0"/>
                </a:tc>
              </a:tr>
            </a:tbl>
          </a:graphicData>
        </a:graphic>
      </p:graphicFrame>
      <p:sp>
        <p:nvSpPr>
          <p:cNvPr id="14" name="文本框 13"/>
          <p:cNvSpPr txBox="1"/>
          <p:nvPr/>
        </p:nvSpPr>
        <p:spPr>
          <a:xfrm>
            <a:off x="4251960" y="852805"/>
            <a:ext cx="4064000" cy="368300"/>
          </a:xfrm>
          <a:prstGeom prst="rect">
            <a:avLst/>
          </a:prstGeom>
          <a:noFill/>
        </p:spPr>
        <p:txBody>
          <a:bodyPr wrap="square" rtlCol="0">
            <a:spAutoFit/>
          </a:bodyPr>
          <a:p>
            <a:r>
              <a:rPr lang="zh-CN" altLang="en-US"/>
              <a:t>算子性能优化方法及其实验效果</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sym typeface="+mn-ea"/>
              </a:rPr>
              <a:t>研讨要求</a:t>
            </a:r>
            <a:r>
              <a:rPr lang="en-US" altLang="zh-CN">
                <a:sym typeface="+mn-ea"/>
              </a:rPr>
              <a:t>3</a:t>
            </a:r>
            <a:r>
              <a:rPr lang="zh-CN" altLang="en-US">
                <a:sym typeface="+mn-ea"/>
              </a:rPr>
              <a:t>：性能</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graphicFrame>
        <p:nvGraphicFramePr>
          <p:cNvPr id="6" name="表格 5"/>
          <p:cNvGraphicFramePr/>
          <p:nvPr>
            <p:custDataLst>
              <p:tags r:id="rId1"/>
            </p:custDataLst>
          </p:nvPr>
        </p:nvGraphicFramePr>
        <p:xfrm>
          <a:off x="297180" y="1130300"/>
          <a:ext cx="4940935" cy="1412875"/>
        </p:xfrm>
        <a:graphic>
          <a:graphicData uri="http://schemas.openxmlformats.org/drawingml/2006/table">
            <a:tbl>
              <a:tblPr firstRow="1" bandRow="1">
                <a:tableStyleId>{5C22544A-7EE6-4342-B048-85BDC9FD1C3A}</a:tableStyleId>
              </a:tblPr>
              <a:tblGrid>
                <a:gridCol w="1433195"/>
                <a:gridCol w="1729105"/>
                <a:gridCol w="1778635"/>
              </a:tblGrid>
              <a:tr h="315595">
                <a:tc>
                  <a:txBody>
                    <a:bodyPr/>
                    <a:p>
                      <a:pPr algn="ctr">
                        <a:buNone/>
                      </a:pPr>
                      <a:r>
                        <a:rPr lang="zh-CN" altLang="en-US" sz="1400">
                          <a:latin typeface="Times New Roman Regular" panose="02020503050405090304" charset="0"/>
                          <a:cs typeface="Times New Roman Regular" panose="02020503050405090304" charset="0"/>
                          <a:sym typeface="+mn-ea"/>
                        </a:rPr>
                        <a:t>优化方法</a:t>
                      </a:r>
                      <a:endParaRPr lang="zh-CN" altLang="en-US" sz="1400">
                        <a:latin typeface="Times New Roman Regular" panose="02020503050405090304" charset="0"/>
                        <a:cs typeface="Times New Roman Regular" panose="02020503050405090304" charset="0"/>
                        <a:sym typeface="+mn-ea"/>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执行时间优化后</a:t>
                      </a:r>
                      <a:r>
                        <a:rPr lang="en-US" altLang="zh-CN" sz="1400">
                          <a:latin typeface="Times New Roman Regular" panose="02020503050405090304" charset="0"/>
                          <a:cs typeface="Times New Roman Regular" panose="02020503050405090304" charset="0"/>
                        </a:rPr>
                        <a:t>(ms) </a:t>
                      </a:r>
                      <a:endParaRPr lang="en-US" altLang="zh-CN" sz="1400">
                        <a:latin typeface="Times New Roman Regular" panose="02020503050405090304" charset="0"/>
                        <a:cs typeface="Times New Roman Regular" panose="02020503050405090304" charset="0"/>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加速比（相对</a:t>
                      </a:r>
                      <a:r>
                        <a:rPr lang="en-US" altLang="zh-CN" sz="1400">
                          <a:latin typeface="Times New Roman Regular" panose="02020503050405090304" charset="0"/>
                          <a:cs typeface="Times New Roman Regular" panose="02020503050405090304" charset="0"/>
                          <a:sym typeface="+mn-ea"/>
                        </a:rPr>
                        <a:t>O0</a:t>
                      </a:r>
                      <a:r>
                        <a:rPr lang="zh-CN" altLang="en-US" sz="1400">
                          <a:latin typeface="Times New Roman Regular" panose="02020503050405090304" charset="0"/>
                          <a:cs typeface="Times New Roman Regular" panose="02020503050405090304" charset="0"/>
                          <a:sym typeface="+mn-ea"/>
                        </a:rPr>
                        <a:t>）</a:t>
                      </a:r>
                      <a:endParaRPr lang="zh-CN" altLang="en-US" sz="1400">
                        <a:latin typeface="Times New Roman Regular" panose="02020503050405090304" charset="0"/>
                        <a:cs typeface="Times New Roman Regular" panose="02020503050405090304" charset="0"/>
                        <a:sym typeface="+mn-ea"/>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sym typeface="+mn-ea"/>
                        </a:rPr>
                        <a:t>O0</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rPr>
                        <a:t>520</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sym typeface="+mn-ea"/>
                        </a:rPr>
                        <a:t>1.0x</a:t>
                      </a:r>
                      <a:endParaRPr lang="en-US" altLang="zh-CN" sz="1800" b="0">
                        <a:latin typeface="Arial" panose="020B0604020202020204" pitchFamily="34" charset="0"/>
                        <a:cs typeface="Arial" panose="020B0604020202020204" pitchFamily="34" charset="0"/>
                        <a:sym typeface="+mn-ea"/>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sym typeface="+mn-ea"/>
                        </a:rPr>
                        <a:t>O2</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rPr>
                        <a:t>92.7</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sym typeface="+mn-ea"/>
                        </a:rPr>
                        <a:t>5.6x</a:t>
                      </a:r>
                      <a:endParaRPr lang="en-US" altLang="zh-CN" sz="1800" b="0">
                        <a:latin typeface="Arial" panose="020B0604020202020204" pitchFamily="34" charset="0"/>
                        <a:cs typeface="Arial" panose="020B0604020202020204" pitchFamily="34" charset="0"/>
                        <a:sym typeface="+mn-ea"/>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sym typeface="+mn-ea"/>
                        </a:rPr>
                        <a:t>O3</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95.5</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5.5x</a:t>
                      </a:r>
                      <a:endParaRPr lang="en-US" altLang="zh-CN" sz="1800" b="0">
                        <a:latin typeface="Arial" panose="020B0604020202020204" pitchFamily="34" charset="0"/>
                        <a:cs typeface="Arial" panose="020B0604020202020204" pitchFamily="34" charset="0"/>
                      </a:endParaRPr>
                    </a:p>
                  </a:txBody>
                  <a:tcPr anchor="ctr" anchorCtr="0"/>
                </a:tc>
              </a:tr>
            </a:tbl>
          </a:graphicData>
        </a:graphic>
      </p:graphicFrame>
      <p:sp>
        <p:nvSpPr>
          <p:cNvPr id="8" name="文本框 7"/>
          <p:cNvSpPr txBox="1"/>
          <p:nvPr/>
        </p:nvSpPr>
        <p:spPr>
          <a:xfrm>
            <a:off x="183515" y="3035935"/>
            <a:ext cx="5400040" cy="1932305"/>
          </a:xfrm>
          <a:prstGeom prst="rect">
            <a:avLst/>
          </a:prstGeom>
          <a:noFill/>
        </p:spPr>
        <p:txBody>
          <a:bodyPr wrap="square" rtlCol="0">
            <a:noAutofit/>
          </a:bodyPr>
          <a:p>
            <a:r>
              <a:rPr lang="zh-CN" altLang="en-US">
                <a:latin typeface="Arial" panose="020B0604020202020204" pitchFamily="34" charset="0"/>
                <a:cs typeface="Arial" panose="020B0604020202020204" pitchFamily="34" charset="0"/>
              </a:rPr>
              <a:t>代码的计算瓶颈是矩阵乘法。</a:t>
            </a:r>
            <a:r>
              <a:rPr lang="zh-CN" altLang="en-US">
                <a:latin typeface="Arial" panose="020B0604020202020204" pitchFamily="34" charset="0"/>
                <a:cs typeface="Arial" panose="020B0604020202020204" pitchFamily="34" charset="0"/>
                <a:sym typeface="+mn-ea"/>
              </a:rPr>
              <a:t>两者的复杂度</a:t>
            </a:r>
            <a:r>
              <a:rPr lang="en-US" altLang="zh-CN">
                <a:latin typeface="Arial" panose="020B0604020202020204" pitchFamily="34" charset="0"/>
                <a:cs typeface="Arial" panose="020B0604020202020204" pitchFamily="34" charset="0"/>
                <a:sym typeface="+mn-ea"/>
              </a:rPr>
              <a:t>O</a:t>
            </a:r>
            <a:r>
              <a:rPr lang="zh-CN" altLang="en-US">
                <a:latin typeface="Arial" panose="020B0604020202020204" pitchFamily="34" charset="0"/>
                <a:cs typeface="Arial" panose="020B0604020202020204" pitchFamily="34" charset="0"/>
                <a:sym typeface="+mn-ea"/>
              </a:rPr>
              <a:t>（</a:t>
            </a:r>
            <a:r>
              <a:rPr lang="en-US" altLang="zh-CN">
                <a:latin typeface="Arial" panose="020B0604020202020204" pitchFamily="34" charset="0"/>
                <a:cs typeface="Arial" panose="020B0604020202020204" pitchFamily="34" charset="0"/>
                <a:sym typeface="+mn-ea"/>
              </a:rPr>
              <a:t>n³</a:t>
            </a:r>
            <a:r>
              <a:rPr lang="zh-CN" altLang="en-US">
                <a:latin typeface="Arial" panose="020B0604020202020204" pitchFamily="34" charset="0"/>
                <a:cs typeface="Arial" panose="020B0604020202020204" pitchFamily="34" charset="0"/>
                <a:sym typeface="+mn-ea"/>
              </a:rPr>
              <a:t>）</a:t>
            </a:r>
            <a:endParaRPr lang="en-US" altLang="zh-CN">
              <a:latin typeface="Arial" panose="020B0604020202020204" pitchFamily="34" charset="0"/>
              <a:cs typeface="Arial" panose="020B0604020202020204" pitchFamily="34" charset="0"/>
            </a:endParaRPr>
          </a:p>
          <a:p>
            <a:r>
              <a:rPr lang="zh-CN" altLang="en-US">
                <a:latin typeface="Arial" panose="020B0604020202020204" pitchFamily="34" charset="0"/>
                <a:cs typeface="Arial" panose="020B0604020202020204" pitchFamily="34" charset="0"/>
              </a:rPr>
              <a:t>卡尔曼增益</a:t>
            </a:r>
            <a:r>
              <a:rPr lang="en-US" altLang="zh-CN">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sym typeface="+mn-ea"/>
              </a:rPr>
              <a:t>K=P*inv</a:t>
            </a:r>
            <a:r>
              <a:rPr lang="zh-CN" altLang="en-US">
                <a:latin typeface="Arial" panose="020B0604020202020204" pitchFamily="34" charset="0"/>
                <a:cs typeface="Arial" panose="020B0604020202020204" pitchFamily="34" charset="0"/>
                <a:sym typeface="+mn-ea"/>
              </a:rPr>
              <a:t>（</a:t>
            </a:r>
            <a:r>
              <a:rPr lang="en-US" altLang="zh-CN">
                <a:latin typeface="Arial" panose="020B0604020202020204" pitchFamily="34" charset="0"/>
                <a:cs typeface="Arial" panose="020B0604020202020204" pitchFamily="34" charset="0"/>
                <a:sym typeface="+mn-ea"/>
              </a:rPr>
              <a:t>P+R</a:t>
            </a:r>
            <a:r>
              <a:rPr lang="zh-CN" altLang="en-US">
                <a:latin typeface="Arial" panose="020B0604020202020204" pitchFamily="34" charset="0"/>
                <a:cs typeface="Arial" panose="020B0604020202020204" pitchFamily="34" charset="0"/>
                <a:sym typeface="+mn-ea"/>
              </a:rPr>
              <a:t>）</a:t>
            </a:r>
            <a:br>
              <a:rPr lang="zh-CN" altLang="en-US">
                <a:latin typeface="Arial" panose="020B0604020202020204" pitchFamily="34" charset="0"/>
                <a:cs typeface="Arial" panose="020B0604020202020204" pitchFamily="34" charset="0"/>
              </a:rPr>
            </a:br>
            <a:r>
              <a:rPr lang="zh-CN" altLang="en-US">
                <a:latin typeface="Arial" panose="020B0604020202020204" pitchFamily="34" charset="0"/>
                <a:cs typeface="Arial" panose="020B0604020202020204" pitchFamily="34" charset="0"/>
              </a:rPr>
              <a:t>协方差更新</a:t>
            </a:r>
            <a:r>
              <a:rPr lang="en-US" altLang="zh-CN">
                <a:latin typeface="Arial" panose="020B0604020202020204" pitchFamily="34" charset="0"/>
                <a:cs typeface="Arial" panose="020B0604020202020204" pitchFamily="34" charset="0"/>
              </a:rPr>
              <a:t>  P=</a:t>
            </a:r>
            <a:r>
              <a:rPr lang="zh-CN" altLang="en-US">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I-K</a:t>
            </a:r>
            <a:r>
              <a:rPr lang="zh-CN" altLang="en-US">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*P </a:t>
            </a:r>
            <a:br>
              <a:rPr lang="en-US" altLang="zh-CN">
                <a:latin typeface="Arial" panose="020B0604020202020204" pitchFamily="34" charset="0"/>
                <a:cs typeface="Arial" panose="020B0604020202020204" pitchFamily="34" charset="0"/>
              </a:rPr>
            </a:br>
            <a:r>
              <a:rPr lang="en-US" altLang="zh-CN">
                <a:latin typeface="Arial" panose="020B0604020202020204" pitchFamily="34" charset="0"/>
                <a:cs typeface="Arial" panose="020B0604020202020204" pitchFamily="34" charset="0"/>
              </a:rPr>
              <a:t>-O2 </a:t>
            </a:r>
            <a:r>
              <a:rPr lang="zh-CN" altLang="en-US">
                <a:latin typeface="Arial" panose="020B0604020202020204" pitchFamily="34" charset="0"/>
                <a:cs typeface="Arial" panose="020B0604020202020204" pitchFamily="34" charset="0"/>
              </a:rPr>
              <a:t>提升：消除冗余地址计算，寄存器分配，常量折叠，指令调度，函数内联</a:t>
            </a:r>
            <a:endParaRPr lang="zh-CN" altLang="en-US">
              <a:latin typeface="Arial" panose="020B0604020202020204" pitchFamily="34" charset="0"/>
              <a:cs typeface="Arial" panose="020B0604020202020204" pitchFamily="34" charset="0"/>
            </a:endParaRPr>
          </a:p>
          <a:p>
            <a:r>
              <a:rPr lang="en-US" altLang="zh-CN">
                <a:latin typeface="Arial" panose="020B0604020202020204" pitchFamily="34" charset="0"/>
                <a:cs typeface="Arial" panose="020B0604020202020204" pitchFamily="34" charset="0"/>
              </a:rPr>
              <a:t>-O3</a:t>
            </a:r>
            <a:r>
              <a:rPr lang="zh-CN" altLang="en-US">
                <a:latin typeface="Arial" panose="020B0604020202020204" pitchFamily="34" charset="0"/>
                <a:cs typeface="Arial" panose="020B0604020202020204" pitchFamily="34" charset="0"/>
              </a:rPr>
              <a:t>瓶颈：零元素无法跳过、列访问不连续。</a:t>
            </a:r>
            <a:endParaRPr lang="zh-CN" altLang="en-US">
              <a:latin typeface="Arial" panose="020B0604020202020204" pitchFamily="34" charset="0"/>
              <a:cs typeface="Arial" panose="020B0604020202020204" pitchFamily="34" charset="0"/>
            </a:endParaRPr>
          </a:p>
        </p:txBody>
      </p:sp>
      <p:pic>
        <p:nvPicPr>
          <p:cNvPr id="10" name="图片 9"/>
          <p:cNvPicPr>
            <a:picLocks noChangeAspect="1"/>
          </p:cNvPicPr>
          <p:nvPr/>
        </p:nvPicPr>
        <p:blipFill>
          <a:blip r:embed="rId2"/>
          <a:stretch>
            <a:fillRect/>
          </a:stretch>
        </p:blipFill>
        <p:spPr>
          <a:xfrm>
            <a:off x="5340350" y="980440"/>
            <a:ext cx="6804660" cy="3987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sym typeface="+mn-ea"/>
              </a:rPr>
              <a:t>研讨要求</a:t>
            </a:r>
            <a:r>
              <a:rPr lang="en-US" altLang="zh-CN">
                <a:sym typeface="+mn-ea"/>
              </a:rPr>
              <a:t>3</a:t>
            </a:r>
            <a:r>
              <a:rPr lang="zh-CN" altLang="en-US">
                <a:sym typeface="+mn-ea"/>
              </a:rPr>
              <a:t>：性能</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graphicFrame>
        <p:nvGraphicFramePr>
          <p:cNvPr id="7" name="表格 6"/>
          <p:cNvGraphicFramePr/>
          <p:nvPr>
            <p:custDataLst>
              <p:tags r:id="rId1"/>
            </p:custDataLst>
          </p:nvPr>
        </p:nvGraphicFramePr>
        <p:xfrm>
          <a:off x="201295" y="951865"/>
          <a:ext cx="5410200" cy="2601595"/>
        </p:xfrm>
        <a:graphic>
          <a:graphicData uri="http://schemas.openxmlformats.org/drawingml/2006/table">
            <a:tbl>
              <a:tblPr firstRow="1" bandRow="1">
                <a:tableStyleId>{5C22544A-7EE6-4342-B048-85BDC9FD1C3A}</a:tableStyleId>
              </a:tblPr>
              <a:tblGrid>
                <a:gridCol w="1928495"/>
                <a:gridCol w="1739265"/>
                <a:gridCol w="1742440"/>
              </a:tblGrid>
              <a:tr h="315595">
                <a:tc>
                  <a:txBody>
                    <a:bodyPr/>
                    <a:p>
                      <a:pPr algn="ctr">
                        <a:buNone/>
                      </a:pPr>
                      <a:r>
                        <a:rPr lang="zh-CN" altLang="en-US" sz="1400">
                          <a:latin typeface="Times New Roman Regular" panose="02020503050405090304" charset="0"/>
                          <a:cs typeface="Times New Roman Regular" panose="02020503050405090304" charset="0"/>
                          <a:sym typeface="+mn-ea"/>
                        </a:rPr>
                        <a:t>优化方法</a:t>
                      </a:r>
                      <a:endParaRPr lang="zh-CN" altLang="en-US" sz="1400">
                        <a:latin typeface="Times New Roman Regular" panose="02020503050405090304" charset="0"/>
                        <a:cs typeface="Times New Roman Regular" panose="02020503050405090304" charset="0"/>
                        <a:sym typeface="+mn-ea"/>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执行时间优化后</a:t>
                      </a:r>
                      <a:r>
                        <a:rPr lang="en-US" altLang="zh-CN" sz="1400">
                          <a:latin typeface="Times New Roman Regular" panose="02020503050405090304" charset="0"/>
                          <a:cs typeface="Times New Roman Regular" panose="02020503050405090304" charset="0"/>
                        </a:rPr>
                        <a:t>(ms) </a:t>
                      </a:r>
                      <a:endParaRPr lang="en-US" altLang="zh-CN" sz="1400">
                        <a:latin typeface="Times New Roman Regular" panose="02020503050405090304" charset="0"/>
                        <a:cs typeface="Times New Roman Regular" panose="02020503050405090304" charset="0"/>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加速比（相对</a:t>
                      </a:r>
                      <a:r>
                        <a:rPr lang="en-US" altLang="zh-CN" sz="1400">
                          <a:latin typeface="Times New Roman Regular" panose="02020503050405090304" charset="0"/>
                          <a:cs typeface="Times New Roman Regular" panose="02020503050405090304" charset="0"/>
                          <a:sym typeface="+mn-ea"/>
                        </a:rPr>
                        <a:t>O2</a:t>
                      </a:r>
                      <a:r>
                        <a:rPr lang="zh-CN" altLang="en-US" sz="1400">
                          <a:latin typeface="Times New Roman Regular" panose="02020503050405090304" charset="0"/>
                          <a:cs typeface="Times New Roman Regular" panose="02020503050405090304" charset="0"/>
                          <a:sym typeface="+mn-ea"/>
                        </a:rPr>
                        <a:t>）</a:t>
                      </a:r>
                      <a:endParaRPr lang="zh-CN" altLang="en-US" sz="1400">
                        <a:latin typeface="Times New Roman Regular" panose="02020503050405090304" charset="0"/>
                        <a:cs typeface="Times New Roman Regular" panose="02020503050405090304" charset="0"/>
                        <a:sym typeface="+mn-ea"/>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sym typeface="+mn-ea"/>
                        </a:rPr>
                        <a:t>O2</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rPr>
                        <a:t>92.7</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sym typeface="+mn-ea"/>
                        </a:rPr>
                        <a:t>1x</a:t>
                      </a:r>
                      <a:endParaRPr lang="en-US" altLang="zh-CN" sz="1800" b="0">
                        <a:latin typeface="Arial" panose="020B0604020202020204" pitchFamily="34" charset="0"/>
                        <a:cs typeface="Arial" panose="020B0604020202020204" pitchFamily="34" charset="0"/>
                        <a:sym typeface="+mn-ea"/>
                      </a:endParaRPr>
                    </a:p>
                  </a:txBody>
                  <a:tcPr anchor="ctr" anchorCtr="0"/>
                </a:tc>
              </a:tr>
              <a:tr h="365760">
                <a:tc>
                  <a:txBody>
                    <a:bodyPr/>
                    <a:p>
                      <a:pPr algn="ctr">
                        <a:buNone/>
                      </a:pPr>
                      <a:r>
                        <a:rPr lang="zh-CN" altLang="en-US" sz="1800" b="0">
                          <a:latin typeface="Arial" panose="020B0604020202020204" pitchFamily="34" charset="0"/>
                          <a:cs typeface="Arial" panose="020B0604020202020204" pitchFamily="34" charset="0"/>
                        </a:rPr>
                        <a:t>循环分块</a:t>
                      </a:r>
                      <a:r>
                        <a:rPr lang="en-US" altLang="zh-CN" sz="1800" b="0">
                          <a:latin typeface="Arial" panose="020B0604020202020204" pitchFamily="34" charset="0"/>
                          <a:cs typeface="Arial" panose="020B0604020202020204" pitchFamily="34" charset="0"/>
                        </a:rPr>
                        <a:t>+NEON</a:t>
                      </a:r>
                      <a:r>
                        <a:rPr lang="zh-CN" altLang="en-US" sz="1800" b="0">
                          <a:latin typeface="Arial" panose="020B0604020202020204" pitchFamily="34" charset="0"/>
                          <a:cs typeface="Arial" panose="020B0604020202020204" pitchFamily="34" charset="0"/>
                        </a:rPr>
                        <a:t>向量化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56.76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1.63x</a:t>
                      </a:r>
                      <a:endParaRPr lang="en-US" altLang="zh-CN" sz="1800" b="0">
                        <a:latin typeface="Arial" panose="020B0604020202020204" pitchFamily="34" charset="0"/>
                        <a:cs typeface="Arial" panose="020B0604020202020204" pitchFamily="34" charset="0"/>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rPr>
                        <a:t>NEON+OpenMP4</a:t>
                      </a:r>
                      <a:r>
                        <a:rPr lang="zh-CN" altLang="en-US" sz="1800" b="0">
                          <a:latin typeface="Arial" panose="020B0604020202020204" pitchFamily="34" charset="0"/>
                          <a:cs typeface="Arial" panose="020B0604020202020204" pitchFamily="34" charset="0"/>
                        </a:rPr>
                        <a:t>核</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25.87</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3.58x</a:t>
                      </a:r>
                      <a:endParaRPr lang="en-US" altLang="zh-CN" sz="1800" b="0">
                        <a:latin typeface="Arial" panose="020B0604020202020204" pitchFamily="34" charset="0"/>
                        <a:cs typeface="Arial" panose="020B0604020202020204" pitchFamily="34" charset="0"/>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rPr>
                        <a:t>NEON+OpenMP4</a:t>
                      </a:r>
                      <a:r>
                        <a:rPr lang="zh-CN" altLang="en-US" sz="1800" b="0">
                          <a:latin typeface="Arial" panose="020B0604020202020204" pitchFamily="34" charset="0"/>
                          <a:cs typeface="Arial" panose="020B0604020202020204" pitchFamily="34" charset="0"/>
                        </a:rPr>
                        <a:t>核</a:t>
                      </a:r>
                      <a:r>
                        <a:rPr lang="en-US" altLang="zh-CN" sz="1800" b="0">
                          <a:latin typeface="Arial" panose="020B0604020202020204" pitchFamily="34" charset="0"/>
                          <a:cs typeface="Arial" panose="020B0604020202020204" pitchFamily="34" charset="0"/>
                        </a:rPr>
                        <a:t>+float</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19.93</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4.65x</a:t>
                      </a:r>
                      <a:endParaRPr lang="en-US" altLang="zh-CN" sz="1800" b="0">
                        <a:latin typeface="Arial" panose="020B0604020202020204" pitchFamily="34" charset="0"/>
                        <a:cs typeface="Arial" panose="020B0604020202020204" pitchFamily="34" charset="0"/>
                      </a:endParaRPr>
                    </a:p>
                  </a:txBody>
                  <a:tcPr anchor="ctr" anchorCtr="0"/>
                </a:tc>
              </a:tr>
            </a:tbl>
          </a:graphicData>
        </a:graphic>
      </p:graphicFrame>
      <p:pic>
        <p:nvPicPr>
          <p:cNvPr id="11" name="图片 10"/>
          <p:cNvPicPr>
            <a:picLocks noChangeAspect="1"/>
          </p:cNvPicPr>
          <p:nvPr/>
        </p:nvPicPr>
        <p:blipFill>
          <a:blip r:embed="rId2"/>
          <a:stretch>
            <a:fillRect/>
          </a:stretch>
        </p:blipFill>
        <p:spPr>
          <a:xfrm>
            <a:off x="5692775" y="852805"/>
            <a:ext cx="6363335" cy="3733800"/>
          </a:xfrm>
          <a:prstGeom prst="rect">
            <a:avLst/>
          </a:prstGeom>
        </p:spPr>
      </p:pic>
      <p:sp>
        <p:nvSpPr>
          <p:cNvPr id="5" name="文本框 4"/>
          <p:cNvSpPr txBox="1"/>
          <p:nvPr/>
        </p:nvSpPr>
        <p:spPr>
          <a:xfrm>
            <a:off x="152400" y="3760470"/>
            <a:ext cx="5459095" cy="2306955"/>
          </a:xfrm>
          <a:prstGeom prst="rect">
            <a:avLst/>
          </a:prstGeom>
          <a:noFill/>
        </p:spPr>
        <p:txBody>
          <a:bodyPr wrap="square" rtlCol="0">
            <a:spAutoFit/>
          </a:bodyPr>
          <a:p>
            <a:r>
              <a:rPr lang="zh-CN" altLang="en-US">
                <a:latin typeface="Arial" panose="020B0604020202020204" pitchFamily="34" charset="0"/>
                <a:cs typeface="Arial" panose="020B0604020202020204" pitchFamily="34" charset="0"/>
              </a:rPr>
              <a:t>将矩阵乘法的三重循环按 </a:t>
            </a:r>
            <a:r>
              <a:rPr lang="en-US" altLang="zh-CN">
                <a:latin typeface="Arial" panose="020B0604020202020204" pitchFamily="34" charset="0"/>
                <a:cs typeface="Arial" panose="020B0604020202020204" pitchFamily="34" charset="0"/>
              </a:rPr>
              <a:t>BLK=64 </a:t>
            </a:r>
            <a:r>
              <a:rPr lang="zh-CN" altLang="en-US">
                <a:latin typeface="Arial" panose="020B0604020202020204" pitchFamily="34" charset="0"/>
                <a:cs typeface="Arial" panose="020B0604020202020204" pitchFamily="34" charset="0"/>
              </a:rPr>
              <a:t>切分成小块，使数据能完全装入 </a:t>
            </a:r>
            <a:r>
              <a:rPr lang="en-US" altLang="zh-CN">
                <a:latin typeface="Arial" panose="020B0604020202020204" pitchFamily="34" charset="0"/>
                <a:cs typeface="Arial" panose="020B0604020202020204" pitchFamily="34" charset="0"/>
              </a:rPr>
              <a:t>L1 </a:t>
            </a:r>
            <a:r>
              <a:rPr lang="zh-CN" altLang="en-US">
                <a:latin typeface="Arial" panose="020B0604020202020204" pitchFamily="34" charset="0"/>
                <a:cs typeface="Arial" panose="020B0604020202020204" pitchFamily="34" charset="0"/>
              </a:rPr>
              <a:t>缓存（32 </a:t>
            </a:r>
            <a:r>
              <a:rPr lang="en-US" altLang="zh-CN">
                <a:latin typeface="Arial" panose="020B0604020202020204" pitchFamily="34" charset="0"/>
                <a:cs typeface="Arial" panose="020B0604020202020204" pitchFamily="34" charset="0"/>
              </a:rPr>
              <a:t>KB）,</a:t>
            </a:r>
            <a:r>
              <a:rPr lang="zh-CN" altLang="en-US">
                <a:latin typeface="Arial" panose="020B0604020202020204" pitchFamily="34" charset="0"/>
                <a:cs typeface="Arial" panose="020B0604020202020204" pitchFamily="34" charset="0"/>
              </a:rPr>
              <a:t>减少 </a:t>
            </a:r>
            <a:r>
              <a:rPr lang="en-US" altLang="zh-CN">
                <a:latin typeface="Arial" panose="020B0604020202020204" pitchFamily="34" charset="0"/>
                <a:cs typeface="Arial" panose="020B0604020202020204" pitchFamily="34" charset="0"/>
              </a:rPr>
              <a:t>cache miss</a:t>
            </a:r>
            <a:r>
              <a:rPr lang="zh-CN" altLang="en-US">
                <a:latin typeface="Arial" panose="020B0604020202020204" pitchFamily="34" charset="0"/>
                <a:cs typeface="Arial" panose="020B0604020202020204" pitchFamily="34" charset="0"/>
              </a:rPr>
              <a:t>，使用 </a:t>
            </a:r>
            <a:r>
              <a:rPr lang="en-US" altLang="zh-CN">
                <a:latin typeface="Arial" panose="020B0604020202020204" pitchFamily="34" charset="0"/>
                <a:cs typeface="Arial" panose="020B0604020202020204" pitchFamily="34" charset="0"/>
              </a:rPr>
              <a:t>ARM NEON intrinsic，</a:t>
            </a:r>
            <a:r>
              <a:rPr lang="zh-CN" altLang="en-US">
                <a:latin typeface="Arial" panose="020B0604020202020204" pitchFamily="34" charset="0"/>
                <a:cs typeface="Arial" panose="020B0604020202020204" pitchFamily="34" charset="0"/>
              </a:rPr>
              <a:t>以 </a:t>
            </a:r>
            <a:r>
              <a:rPr lang="en-US" altLang="zh-CN">
                <a:latin typeface="Arial" panose="020B0604020202020204" pitchFamily="34" charset="0"/>
                <a:cs typeface="Arial" panose="020B0604020202020204" pitchFamily="34" charset="0"/>
              </a:rPr>
              <a:t>float64x2_t </a:t>
            </a:r>
            <a:r>
              <a:rPr lang="zh-CN" altLang="en-US">
                <a:latin typeface="Arial" panose="020B0604020202020204" pitchFamily="34" charset="0"/>
                <a:cs typeface="Arial" panose="020B0604020202020204" pitchFamily="34" charset="0"/>
              </a:rPr>
              <a:t>一次处理两个 </a:t>
            </a:r>
            <a:r>
              <a:rPr lang="en-US" altLang="zh-CN">
                <a:latin typeface="Arial" panose="020B0604020202020204" pitchFamily="34" charset="0"/>
                <a:cs typeface="Arial" panose="020B0604020202020204" pitchFamily="34" charset="0"/>
              </a:rPr>
              <a:t>double </a:t>
            </a:r>
            <a:r>
              <a:rPr lang="zh-CN" altLang="en-US">
                <a:latin typeface="Arial" panose="020B0604020202020204" pitchFamily="34" charset="0"/>
                <a:cs typeface="Arial" panose="020B0604020202020204" pitchFamily="34" charset="0"/>
              </a:rPr>
              <a:t>的乘累加</a:t>
            </a:r>
            <a:endParaRPr lang="zh-CN" altLang="en-US">
              <a:latin typeface="Arial" panose="020B0604020202020204" pitchFamily="34" charset="0"/>
              <a:cs typeface="Arial" panose="020B0604020202020204" pitchFamily="34" charset="0"/>
            </a:endParaRPr>
          </a:p>
          <a:p>
            <a:r>
              <a:rPr lang="zh-CN" altLang="en-US">
                <a:latin typeface="Arial" panose="020B0604020202020204" pitchFamily="34" charset="0"/>
                <a:cs typeface="Arial" panose="020B0604020202020204" pitchFamily="34" charset="0"/>
              </a:rPr>
              <a:t>当 </a:t>
            </a:r>
            <a:r>
              <a:rPr lang="en-US" altLang="zh-CN">
                <a:latin typeface="Arial" panose="020B0604020202020204" pitchFamily="34" charset="0"/>
                <a:cs typeface="Arial" panose="020B0604020202020204" pitchFamily="34" charset="0"/>
              </a:rPr>
              <a:t>dim </a:t>
            </a:r>
            <a:r>
              <a:rPr lang="zh-CN" altLang="en-US">
                <a:latin typeface="Arial" panose="020B0604020202020204" pitchFamily="34" charset="0"/>
                <a:cs typeface="Arial" panose="020B0604020202020204" pitchFamily="34" charset="0"/>
              </a:rPr>
              <a:t>较小时，单次迭代耗时已进入微秒甚至亚微秒级，计时器本身的精度和系统调用开销 占比上升，造成测量噪声，线程开销、缓存冷启动 等一次性成本无法被充分摊销</a:t>
            </a:r>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sym typeface="+mn-ea"/>
              </a:rPr>
              <a:t>研讨要求</a:t>
            </a:r>
            <a:r>
              <a:rPr lang="en-US" altLang="zh-CN">
                <a:sym typeface="+mn-ea"/>
              </a:rPr>
              <a:t>3</a:t>
            </a:r>
            <a:r>
              <a:rPr lang="zh-CN" altLang="en-US">
                <a:sym typeface="+mn-ea"/>
              </a:rPr>
              <a:t>：性能</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graphicFrame>
        <p:nvGraphicFramePr>
          <p:cNvPr id="7" name="表格 6"/>
          <p:cNvGraphicFramePr/>
          <p:nvPr/>
        </p:nvGraphicFramePr>
        <p:xfrm>
          <a:off x="274320" y="1105535"/>
          <a:ext cx="5346700" cy="2601595"/>
        </p:xfrm>
        <a:graphic>
          <a:graphicData uri="http://schemas.openxmlformats.org/drawingml/2006/table">
            <a:tbl>
              <a:tblPr firstRow="1" bandRow="1">
                <a:tableStyleId>{5C22544A-7EE6-4342-B048-85BDC9FD1C3A}</a:tableStyleId>
              </a:tblPr>
              <a:tblGrid>
                <a:gridCol w="1936115"/>
                <a:gridCol w="1729740"/>
                <a:gridCol w="1680845"/>
              </a:tblGrid>
              <a:tr h="315595">
                <a:tc>
                  <a:txBody>
                    <a:bodyPr/>
                    <a:p>
                      <a:pPr algn="ctr">
                        <a:buNone/>
                      </a:pPr>
                      <a:r>
                        <a:rPr lang="zh-CN" altLang="en-US" sz="1400">
                          <a:latin typeface="Times New Roman Regular" panose="02020503050405090304" charset="0"/>
                          <a:cs typeface="Times New Roman Regular" panose="02020503050405090304" charset="0"/>
                          <a:sym typeface="+mn-ea"/>
                        </a:rPr>
                        <a:t>优化方法</a:t>
                      </a:r>
                      <a:endParaRPr lang="zh-CN" altLang="en-US" sz="1400">
                        <a:latin typeface="Times New Roman Regular" panose="02020503050405090304" charset="0"/>
                        <a:cs typeface="Times New Roman Regular" panose="02020503050405090304" charset="0"/>
                        <a:sym typeface="+mn-ea"/>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执行时间优化后</a:t>
                      </a:r>
                      <a:r>
                        <a:rPr lang="en-US" altLang="zh-CN" sz="1400">
                          <a:latin typeface="Times New Roman Regular" panose="02020503050405090304" charset="0"/>
                          <a:cs typeface="Times New Roman Regular" panose="02020503050405090304" charset="0"/>
                        </a:rPr>
                        <a:t>(ms) </a:t>
                      </a:r>
                      <a:endParaRPr lang="en-US" altLang="zh-CN" sz="1400">
                        <a:latin typeface="Times New Roman Regular" panose="02020503050405090304" charset="0"/>
                        <a:cs typeface="Times New Roman Regular" panose="02020503050405090304" charset="0"/>
                      </a:endParaRPr>
                    </a:p>
                  </a:txBody>
                  <a:tcPr anchor="ctr" anchorCtr="0"/>
                </a:tc>
                <a:tc>
                  <a:txBody>
                    <a:bodyPr/>
                    <a:p>
                      <a:pPr>
                        <a:buNone/>
                      </a:pPr>
                      <a:r>
                        <a:rPr lang="zh-CN" altLang="en-US" sz="1400">
                          <a:latin typeface="Times New Roman Regular" panose="02020503050405090304" charset="0"/>
                          <a:cs typeface="Times New Roman Regular" panose="02020503050405090304" charset="0"/>
                          <a:sym typeface="+mn-ea"/>
                        </a:rPr>
                        <a:t>加速比（相对</a:t>
                      </a:r>
                      <a:r>
                        <a:rPr lang="en-US" altLang="zh-CN" sz="1400">
                          <a:latin typeface="Times New Roman Regular" panose="02020503050405090304" charset="0"/>
                          <a:cs typeface="Times New Roman Regular" panose="02020503050405090304" charset="0"/>
                          <a:sym typeface="+mn-ea"/>
                        </a:rPr>
                        <a:t>O2</a:t>
                      </a:r>
                      <a:r>
                        <a:rPr lang="zh-CN" altLang="en-US" sz="1400">
                          <a:latin typeface="Times New Roman Regular" panose="02020503050405090304" charset="0"/>
                          <a:cs typeface="Times New Roman Regular" panose="02020503050405090304" charset="0"/>
                          <a:sym typeface="+mn-ea"/>
                        </a:rPr>
                        <a:t>）</a:t>
                      </a:r>
                      <a:endParaRPr lang="zh-CN" altLang="en-US" sz="1400">
                        <a:latin typeface="Times New Roman Regular" panose="02020503050405090304" charset="0"/>
                        <a:cs typeface="Times New Roman Regular" panose="02020503050405090304" charset="0"/>
                        <a:sym typeface="+mn-ea"/>
                      </a:endParaRPr>
                    </a:p>
                  </a:txBody>
                  <a:tcPr anchor="ctr" anchorCtr="0"/>
                </a:tc>
              </a:tr>
              <a:tr h="365760">
                <a:tc>
                  <a:txBody>
                    <a:bodyPr/>
                    <a:p>
                      <a:pPr algn="ctr">
                        <a:buNone/>
                      </a:pPr>
                      <a:r>
                        <a:rPr lang="en-US" altLang="zh-CN" sz="1800" b="0">
                          <a:latin typeface="Arial" panose="020B0604020202020204" pitchFamily="34" charset="0"/>
                          <a:cs typeface="Arial" panose="020B0604020202020204" pitchFamily="34" charset="0"/>
                          <a:sym typeface="+mn-ea"/>
                        </a:rPr>
                        <a:t>O2</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rPr>
                        <a:t>92.7</a:t>
                      </a:r>
                      <a:endParaRPr lang="en-US" altLang="zh-CN" sz="1800" b="0">
                        <a:latin typeface="Arial" panose="020B0604020202020204" pitchFamily="34" charset="0"/>
                        <a:cs typeface="Arial" panose="020B0604020202020204" pitchFamily="34" charset="0"/>
                      </a:endParaRPr>
                    </a:p>
                  </a:txBody>
                  <a:tcPr anchor="ctr" anchorCtr="0"/>
                </a:tc>
                <a:tc>
                  <a:txBody>
                    <a:bodyPr/>
                    <a:p>
                      <a:pPr algn="ctr">
                        <a:buClrTx/>
                        <a:buSzTx/>
                        <a:buFontTx/>
                        <a:buNone/>
                      </a:pPr>
                      <a:r>
                        <a:rPr lang="en-US" altLang="zh-CN" sz="1800" b="0">
                          <a:latin typeface="Arial" panose="020B0604020202020204" pitchFamily="34" charset="0"/>
                          <a:cs typeface="Arial" panose="020B0604020202020204" pitchFamily="34" charset="0"/>
                          <a:sym typeface="+mn-ea"/>
                        </a:rPr>
                        <a:t>1x</a:t>
                      </a:r>
                      <a:endParaRPr lang="en-US" altLang="zh-CN" sz="1800" b="0">
                        <a:latin typeface="Arial" panose="020B0604020202020204" pitchFamily="34" charset="0"/>
                        <a:cs typeface="Arial" panose="020B0604020202020204" pitchFamily="34" charset="0"/>
                        <a:sym typeface="+mn-ea"/>
                      </a:endParaRPr>
                    </a:p>
                  </a:txBody>
                  <a:tcPr anchor="ctr" anchorCtr="0"/>
                </a:tc>
              </a:tr>
              <a:tr h="365760">
                <a:tc>
                  <a:txBody>
                    <a:bodyPr/>
                    <a:p>
                      <a:pPr algn="ctr">
                        <a:buNone/>
                      </a:pPr>
                      <a:r>
                        <a:rPr lang="zh-CN" altLang="en-US" sz="1800" b="0">
                          <a:latin typeface="Arial" panose="020B0604020202020204" pitchFamily="34" charset="0"/>
                          <a:cs typeface="Arial" panose="020B0604020202020204" pitchFamily="34" charset="0"/>
                        </a:rPr>
                        <a:t>对角矩阵优化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5794x</a:t>
                      </a:r>
                      <a:endParaRPr lang="en-US" altLang="zh-CN" sz="1800" b="0">
                        <a:latin typeface="Arial" panose="020B0604020202020204" pitchFamily="34" charset="0"/>
                        <a:cs typeface="Arial" panose="020B0604020202020204" pitchFamily="34" charset="0"/>
                      </a:endParaRPr>
                    </a:p>
                  </a:txBody>
                  <a:tcPr anchor="ctr" anchorCtr="0"/>
                </a:tc>
              </a:tr>
              <a:tr h="365760">
                <a:tc>
                  <a:txBody>
                    <a:bodyPr/>
                    <a:p>
                      <a:pPr algn="ctr">
                        <a:buNone/>
                      </a:pPr>
                      <a:r>
                        <a:rPr lang="zh-CN" altLang="en-US" sz="1800" b="0">
                          <a:latin typeface="Arial" panose="020B0604020202020204" pitchFamily="34" charset="0"/>
                          <a:cs typeface="Arial" panose="020B0604020202020204" pitchFamily="34" charset="0"/>
                        </a:rPr>
                        <a:t>对角矩阵优化</a:t>
                      </a:r>
                      <a:r>
                        <a:rPr lang="en-US" altLang="zh-CN" sz="1800" b="0">
                          <a:latin typeface="Arial" panose="020B0604020202020204" pitchFamily="34" charset="0"/>
                          <a:cs typeface="Arial" panose="020B0604020202020204" pitchFamily="34" charset="0"/>
                        </a:rPr>
                        <a:t>+</a:t>
                      </a:r>
                      <a:r>
                        <a:rPr lang="zh-CN" altLang="en-US" sz="1800" b="0">
                          <a:latin typeface="Arial" panose="020B0604020202020204" pitchFamily="34" charset="0"/>
                          <a:cs typeface="Arial" panose="020B0604020202020204" pitchFamily="34" charset="0"/>
                        </a:rPr>
                        <a:t>常量折叠、标量化</a:t>
                      </a:r>
                      <a:endParaRPr lang="zh-CN" altLang="en-US" sz="1800" b="0">
                        <a:latin typeface="Arial" panose="020B0604020202020204" pitchFamily="34" charset="0"/>
                        <a:cs typeface="Arial" panose="020B0604020202020204" pitchFamily="34" charset="0"/>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0.0125</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7416x</a:t>
                      </a:r>
                      <a:endParaRPr lang="en-US" altLang="zh-CN" sz="1800" b="0">
                        <a:latin typeface="Arial" panose="020B0604020202020204" pitchFamily="34" charset="0"/>
                        <a:cs typeface="Arial" panose="020B0604020202020204" pitchFamily="34" charset="0"/>
                      </a:endParaRPr>
                    </a:p>
                  </a:txBody>
                  <a:tcPr anchor="ctr" anchorCtr="0"/>
                </a:tc>
              </a:tr>
              <a:tr h="365760">
                <a:tc>
                  <a:txBody>
                    <a:bodyPr/>
                    <a:p>
                      <a:pPr algn="ctr">
                        <a:buNone/>
                      </a:pPr>
                      <a:r>
                        <a:rPr lang="zh-CN" altLang="en-US" sz="1800">
                          <a:latin typeface="Arial" panose="020B0604020202020204" pitchFamily="34" charset="0"/>
                          <a:cs typeface="Arial" panose="020B0604020202020204" pitchFamily="34" charset="0"/>
                          <a:sym typeface="+mn-ea"/>
                        </a:rPr>
                        <a:t>对角矩阵优化</a:t>
                      </a:r>
                      <a:r>
                        <a:rPr lang="en-US" altLang="zh-CN" sz="1800">
                          <a:latin typeface="Arial" panose="020B0604020202020204" pitchFamily="34" charset="0"/>
                          <a:cs typeface="Arial" panose="020B0604020202020204" pitchFamily="34" charset="0"/>
                          <a:sym typeface="+mn-ea"/>
                        </a:rPr>
                        <a:t>+</a:t>
                      </a:r>
                      <a:r>
                        <a:rPr lang="zh-CN" altLang="en-US" sz="1800">
                          <a:latin typeface="Arial" panose="020B0604020202020204" pitchFamily="34" charset="0"/>
                          <a:cs typeface="Arial" panose="020B0604020202020204" pitchFamily="34" charset="0"/>
                          <a:sym typeface="+mn-ea"/>
                        </a:rPr>
                        <a:t>常量折叠、标量化</a:t>
                      </a:r>
                      <a:r>
                        <a:rPr lang="en-US" altLang="zh-CN" sz="1800">
                          <a:latin typeface="Arial" panose="020B0604020202020204" pitchFamily="34" charset="0"/>
                          <a:cs typeface="Arial" panose="020B0604020202020204" pitchFamily="34" charset="0"/>
                          <a:sym typeface="+mn-ea"/>
                        </a:rPr>
                        <a:t>+float</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sym typeface="+mn-ea"/>
                        </a:rPr>
                        <a:t>0.0126</a:t>
                      </a:r>
                      <a:endParaRPr lang="en-US" altLang="zh-CN" sz="1800" b="0">
                        <a:latin typeface="Arial" panose="020B0604020202020204" pitchFamily="34" charset="0"/>
                        <a:cs typeface="Arial" panose="020B0604020202020204" pitchFamily="34" charset="0"/>
                        <a:sym typeface="+mn-ea"/>
                      </a:endParaRPr>
                    </a:p>
                  </a:txBody>
                  <a:tcPr anchor="ctr" anchorCtr="0"/>
                </a:tc>
                <a:tc>
                  <a:txBody>
                    <a:bodyPr/>
                    <a:p>
                      <a:pPr algn="ctr">
                        <a:buNone/>
                      </a:pPr>
                      <a:r>
                        <a:rPr lang="en-US" altLang="zh-CN" sz="1800" b="0">
                          <a:latin typeface="Arial" panose="020B0604020202020204" pitchFamily="34" charset="0"/>
                          <a:cs typeface="Arial" panose="020B0604020202020204" pitchFamily="34" charset="0"/>
                        </a:rPr>
                        <a:t>7416x</a:t>
                      </a:r>
                      <a:endParaRPr lang="en-US" altLang="zh-CN" sz="1800" b="0">
                        <a:latin typeface="Arial" panose="020B0604020202020204" pitchFamily="34" charset="0"/>
                        <a:cs typeface="Arial" panose="020B0604020202020204" pitchFamily="34" charset="0"/>
                      </a:endParaRPr>
                    </a:p>
                  </a:txBody>
                  <a:tcPr anchor="ctr" anchorCtr="0"/>
                </a:tc>
              </a:tr>
            </a:tbl>
          </a:graphicData>
        </a:graphic>
      </p:graphicFrame>
      <p:pic>
        <p:nvPicPr>
          <p:cNvPr id="5" name="图片 4"/>
          <p:cNvPicPr>
            <a:picLocks noChangeAspect="1"/>
          </p:cNvPicPr>
          <p:nvPr/>
        </p:nvPicPr>
        <p:blipFill>
          <a:blip r:embed="rId1"/>
          <a:stretch>
            <a:fillRect/>
          </a:stretch>
        </p:blipFill>
        <p:spPr>
          <a:xfrm>
            <a:off x="5621020" y="852805"/>
            <a:ext cx="6388100" cy="4445635"/>
          </a:xfrm>
          <a:prstGeom prst="rect">
            <a:avLst/>
          </a:prstGeom>
        </p:spPr>
      </p:pic>
      <p:sp>
        <p:nvSpPr>
          <p:cNvPr id="6" name="文本框 5"/>
          <p:cNvSpPr txBox="1"/>
          <p:nvPr/>
        </p:nvSpPr>
        <p:spPr>
          <a:xfrm>
            <a:off x="187960" y="3789680"/>
            <a:ext cx="5690235" cy="2051050"/>
          </a:xfrm>
          <a:prstGeom prst="rect">
            <a:avLst/>
          </a:prstGeom>
          <a:noFill/>
        </p:spPr>
        <p:txBody>
          <a:bodyPr wrap="square" rtlCol="0">
            <a:noAutofit/>
          </a:bodyPr>
          <a:p>
            <a:r>
              <a:rPr lang="zh-CN" altLang="en-US"/>
              <a:t>主要是针对这个程序，矩阵乘法是 </a:t>
            </a:r>
            <a:r>
              <a:rPr lang="en-US" altLang="zh-CN"/>
              <a:t>O(n³) </a:t>
            </a:r>
            <a:r>
              <a:rPr lang="zh-CN" altLang="en-US"/>
              <a:t>的，每次迭代要执行多次 </a:t>
            </a:r>
            <a:r>
              <a:rPr lang="en-US" altLang="zh-CN"/>
              <a:t>mat_mul</a:t>
            </a:r>
            <a:r>
              <a:rPr lang="zh-CN" altLang="en-US"/>
              <a:t>三重循环内部有大量 </a:t>
            </a:r>
            <a:r>
              <a:rPr lang="en-US" altLang="zh-CN"/>
              <a:t>i * k + l </a:t>
            </a:r>
            <a:r>
              <a:rPr lang="zh-CN" altLang="en-US"/>
              <a:t>这样的索引乘法，数量级也是 </a:t>
            </a:r>
            <a:r>
              <a:rPr lang="en-US" altLang="zh-CN"/>
              <a:t>O(n³)</a:t>
            </a:r>
            <a:endParaRPr lang="en-US" altLang="zh-CN"/>
          </a:p>
          <a:p>
            <a:r>
              <a:rPr lang="zh-CN" altLang="en-US"/>
              <a:t>卡尔曼滤波的协方差阵 </a:t>
            </a:r>
            <a:r>
              <a:rPr lang="en-US" altLang="zh-CN"/>
              <a:t>P、</a:t>
            </a:r>
            <a:r>
              <a:rPr lang="zh-CN" altLang="en-US"/>
              <a:t>过程噪声 </a:t>
            </a:r>
            <a:r>
              <a:rPr lang="en-US" altLang="zh-CN"/>
              <a:t>Q、</a:t>
            </a:r>
            <a:r>
              <a:rPr lang="zh-CN" altLang="en-US"/>
              <a:t>测量噪声 </a:t>
            </a:r>
            <a:r>
              <a:rPr lang="en-US" altLang="zh-CN"/>
              <a:t>R、</a:t>
            </a:r>
            <a:r>
              <a:rPr lang="zh-CN" altLang="en-US"/>
              <a:t>增益 </a:t>
            </a:r>
            <a:r>
              <a:rPr lang="en-US" altLang="zh-CN"/>
              <a:t>K）</a:t>
            </a:r>
            <a:r>
              <a:rPr lang="zh-CN" altLang="en-US"/>
              <a:t>在整个运算过程中始终保持为对角阵时，完全可以抛弃</a:t>
            </a:r>
            <a:r>
              <a:rPr lang="en-US" altLang="zh-CN"/>
              <a:t>dim×dim</a:t>
            </a:r>
            <a:r>
              <a:rPr lang="zh-CN" altLang="en-US"/>
              <a:t>的稠密矩阵存储方式，改用长度为</a:t>
            </a:r>
            <a:r>
              <a:rPr lang="en-US" altLang="zh-CN"/>
              <a:t>dim</a:t>
            </a:r>
            <a:r>
              <a:rPr lang="zh-CN" altLang="en-US"/>
              <a:t>的一维向量仅存储对角线元素。此时，原本的多重循环矩阵乘法、矩阵加法将退化为逐元素标量运算，从而彻底消除内层循环中的地址索引乘法以及 </a:t>
            </a:r>
            <a:r>
              <a:rPr lang="en-US" altLang="zh-CN"/>
              <a:t>O(n³) </a:t>
            </a:r>
            <a:r>
              <a:rPr lang="zh-CN" altLang="en-US"/>
              <a:t>的计算量。</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0" indent="0" algn="l" rtl="0" eaLnBrk="0">
              <a:lnSpc>
                <a:spcPct val="116000"/>
              </a:lnSpc>
              <a:buFont typeface="+mj-lt"/>
              <a:buNone/>
            </a:pPr>
            <a:r>
              <a:rPr lang="en-US" altLang="zh-CN"/>
              <a:t>  </a:t>
            </a:r>
            <a:r>
              <a:rPr lang="zh-CN"/>
              <a:t>总结与提炼</a:t>
            </a:r>
            <a:endParaRPr lang="zh-CN"/>
          </a:p>
          <a:p>
            <a:pPr lvl="1" algn="l" rtl="0" eaLnBrk="0">
              <a:lnSpc>
                <a:spcPct val="136000"/>
              </a:lnSpc>
            </a:pPr>
            <a:r>
              <a:rPr lang="zh-CN" altLang="en-US"/>
              <a:t>提供如下</a:t>
            </a:r>
            <a:r>
              <a:rPr lang="en-US" altLang="zh-CN"/>
              <a:t>2</a:t>
            </a:r>
            <a:r>
              <a:rPr lang="zh-CN" altLang="en-US"/>
              <a:t>个文档</a:t>
            </a:r>
            <a:endParaRPr lang="zh-CN" altLang="en-US"/>
          </a:p>
          <a:p>
            <a:pPr marL="914400" lvl="2" indent="0" algn="l" rtl="0" eaLnBrk="0">
              <a:lnSpc>
                <a:spcPct val="136000"/>
              </a:lnSpc>
              <a:buNone/>
            </a:pPr>
            <a:r>
              <a:rPr lang="zh-CN" altLang="en-US">
                <a:solidFill>
                  <a:srgbClr val="0070C0"/>
                </a:solidFill>
              </a:rPr>
              <a:t>程序性能优化</a:t>
            </a:r>
            <a:r>
              <a:rPr lang="en-US" altLang="zh-CN">
                <a:solidFill>
                  <a:srgbClr val="0070C0"/>
                </a:solidFill>
              </a:rPr>
              <a:t> general-20250815.docx</a:t>
            </a:r>
            <a:endParaRPr lang="en-US" altLang="zh-CN">
              <a:solidFill>
                <a:srgbClr val="0070C0"/>
              </a:solidFill>
            </a:endParaRPr>
          </a:p>
          <a:p>
            <a:pPr marL="914400" lvl="2" indent="0" algn="l" rtl="0" eaLnBrk="0">
              <a:lnSpc>
                <a:spcPct val="136000"/>
              </a:lnSpc>
              <a:buNone/>
            </a:pPr>
            <a:r>
              <a:rPr lang="en-US" altLang="zh-CN">
                <a:solidFill>
                  <a:srgbClr val="0070C0"/>
                </a:solidFill>
              </a:rPr>
              <a:t>ARM</a:t>
            </a:r>
            <a:r>
              <a:rPr lang="zh-CN" altLang="en-US">
                <a:solidFill>
                  <a:srgbClr val="0070C0"/>
                </a:solidFill>
              </a:rPr>
              <a:t>平台上的程序性能优化方法</a:t>
            </a:r>
            <a:r>
              <a:rPr lang="en-US" altLang="zh-CN">
                <a:solidFill>
                  <a:srgbClr val="0070C0"/>
                </a:solidFill>
              </a:rPr>
              <a:t>-20250815.doc</a:t>
            </a:r>
            <a:endParaRPr lang="en-US" altLang="zh-CN">
              <a:solidFill>
                <a:srgbClr val="0070C0"/>
              </a:solidFill>
            </a:endParaRPr>
          </a:p>
          <a:p>
            <a:pPr lvl="1" algn="l" rtl="0" eaLnBrk="0">
              <a:lnSpc>
                <a:spcPct val="136000"/>
              </a:lnSpc>
            </a:pPr>
            <a:r>
              <a:rPr lang="zh-CN"/>
              <a:t>请总结自己的实践经验，使用</a:t>
            </a:r>
            <a:r>
              <a:rPr lang="en-US" altLang="zh-CN"/>
              <a:t>WPS</a:t>
            </a:r>
            <a:r>
              <a:rPr lang="zh-CN" altLang="en-US"/>
              <a:t>或</a:t>
            </a:r>
            <a:r>
              <a:rPr lang="en-US" altLang="zh-CN"/>
              <a:t>WORD</a:t>
            </a:r>
            <a:r>
              <a:rPr lang="zh-CN" altLang="en-US"/>
              <a:t>的</a:t>
            </a:r>
            <a:r>
              <a:rPr lang="en-US" altLang="zh-CN"/>
              <a:t>“</a:t>
            </a:r>
            <a:r>
              <a:rPr lang="zh-CN" altLang="en-US"/>
              <a:t>审阅</a:t>
            </a:r>
            <a:r>
              <a:rPr lang="en-US" altLang="zh-CN"/>
              <a:t>”</a:t>
            </a:r>
            <a:r>
              <a:rPr lang="zh-CN" altLang="en-US"/>
              <a:t>模式</a:t>
            </a:r>
            <a:r>
              <a:rPr lang="zh-CN"/>
              <a:t>修改、增加上述文档的内容，也可以另行撰写新</a:t>
            </a:r>
            <a:r>
              <a:rPr lang="zh-CN"/>
              <a:t>文档。</a:t>
            </a:r>
            <a:endParaRPr lang="zh-CN"/>
          </a:p>
        </p:txBody>
      </p:sp>
      <p:sp>
        <p:nvSpPr>
          <p:cNvPr id="4" name="灯片编号占位符 3"/>
          <p:cNvSpPr>
            <a:spLocks noGrp="1"/>
          </p:cNvSpPr>
          <p:nvPr>
            <p:ph type="sldNum" sz="quarter" idx="4"/>
          </p:nvPr>
        </p:nvSpPr>
        <p:spPr>
          <a:xfrm>
            <a:off x="9448800" y="6492875"/>
            <a:ext cx="2743200" cy="365125"/>
          </a:xfrm>
        </p:spPr>
        <p:txBody>
          <a:bodyPr/>
          <a:p>
            <a:fld id="{BF71A997-7E79-41BB-B83B-6503C36C821C}" type="slidenum">
              <a:rPr lang="en-US" altLang="zh-CN" smtClean="0"/>
            </a:fld>
            <a:endParaRPr lang="en-US" altLang="zh-CN" smtClean="0"/>
          </a:p>
        </p:txBody>
      </p:sp>
      <p:sp>
        <p:nvSpPr>
          <p:cNvPr id="5" name="标题 4"/>
          <p:cNvSpPr/>
          <p:nvPr>
            <p:ph type="title"/>
          </p:nvPr>
        </p:nvSpPr>
        <p:spPr/>
        <p:txBody>
          <a:bodyPr/>
          <a:p>
            <a:r>
              <a:rPr lang="zh-CN" altLang="en-US"/>
              <a:t>研讨要求</a:t>
            </a:r>
            <a:r>
              <a:rPr lang="en-US" altLang="zh-CN"/>
              <a:t>4</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815" y="219075"/>
            <a:ext cx="11500485" cy="525780"/>
          </a:xfrm>
        </p:spPr>
        <p:txBody>
          <a:bodyPr/>
          <a:lstStyle/>
          <a:p>
            <a:r>
              <a:rPr lang="zh-CN" altLang="en-US"/>
              <a:t>系统结构层次上程序性能优化总结</a:t>
            </a:r>
            <a:endParaRPr lang="zh-CN" altLang="en-US"/>
          </a:p>
        </p:txBody>
      </p:sp>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sp>
        <p:nvSpPr>
          <p:cNvPr id="5" name="文本框 4"/>
          <p:cNvSpPr txBox="1"/>
          <p:nvPr/>
        </p:nvSpPr>
        <p:spPr>
          <a:xfrm>
            <a:off x="763270" y="1075055"/>
            <a:ext cx="10568940" cy="4707890"/>
          </a:xfrm>
          <a:prstGeom prst="rect">
            <a:avLst/>
          </a:prstGeom>
          <a:noFill/>
        </p:spPr>
        <p:txBody>
          <a:bodyPr wrap="square" rtlCol="0">
            <a:spAutoFit/>
          </a:bodyPr>
          <a:p>
            <a:r>
              <a:rPr lang="zh-CN" altLang="en-US" sz="2000"/>
              <a:t>算法重构（利用对角矩阵性质）→ 加速 5800×</a:t>
            </a:r>
            <a:endParaRPr lang="zh-CN" altLang="en-US" sz="2000"/>
          </a:p>
          <a:p>
            <a:endParaRPr lang="en-US" altLang="zh-CN" sz="2000"/>
          </a:p>
          <a:p>
            <a:r>
              <a:rPr lang="zh-CN" altLang="en-US" sz="2000"/>
              <a:t>编译器优化 -</a:t>
            </a:r>
            <a:r>
              <a:rPr lang="en-US" altLang="zh-CN" sz="2000"/>
              <a:t>O2（</a:t>
            </a:r>
            <a:r>
              <a:rPr lang="zh-CN" altLang="en-US" sz="2000"/>
              <a:t>指令调度、寄存器分配）→ 加速 5.6×</a:t>
            </a:r>
            <a:endParaRPr lang="zh-CN" altLang="en-US" sz="2000"/>
          </a:p>
          <a:p>
            <a:endParaRPr lang="en-US" altLang="zh-CN" sz="2000"/>
          </a:p>
          <a:p>
            <a:r>
              <a:rPr lang="zh-CN" altLang="en-US" sz="2000"/>
              <a:t>缓存+</a:t>
            </a:r>
            <a:r>
              <a:rPr lang="en-US" altLang="zh-CN" sz="2000"/>
              <a:t>SIMD（</a:t>
            </a:r>
            <a:r>
              <a:rPr lang="zh-CN" altLang="en-US" sz="2000"/>
              <a:t>循环分块 + </a:t>
            </a:r>
            <a:r>
              <a:rPr lang="en-US" altLang="zh-CN" sz="2000"/>
              <a:t>NEON </a:t>
            </a:r>
            <a:r>
              <a:rPr lang="zh-CN" altLang="en-US" sz="2000"/>
              <a:t>向量化）→ 额外 1.</a:t>
            </a:r>
            <a:r>
              <a:rPr lang="en-US" altLang="zh-CN" sz="2000"/>
              <a:t>63</a:t>
            </a:r>
            <a:r>
              <a:rPr lang="zh-CN" altLang="en-US" sz="2000"/>
              <a:t>×</a:t>
            </a:r>
            <a:endParaRPr lang="zh-CN" altLang="en-US" sz="2000"/>
          </a:p>
          <a:p>
            <a:endParaRPr lang="en-US" altLang="zh-CN" sz="2000"/>
          </a:p>
          <a:p>
            <a:r>
              <a:rPr lang="zh-CN" altLang="en-US" sz="2000"/>
              <a:t>多核并行（</a:t>
            </a:r>
            <a:r>
              <a:rPr lang="en-US" altLang="zh-CN" sz="2000"/>
              <a:t>OpenMP 4 </a:t>
            </a:r>
            <a:r>
              <a:rPr lang="zh-CN" altLang="en-US" sz="2000"/>
              <a:t>核）→ 额外 2.</a:t>
            </a:r>
            <a:r>
              <a:rPr lang="en-US" altLang="zh-CN" sz="2000"/>
              <a:t>19</a:t>
            </a:r>
            <a:r>
              <a:rPr lang="zh-CN" altLang="en-US" sz="2000"/>
              <a:t>×</a:t>
            </a:r>
            <a:endParaRPr lang="zh-CN" altLang="en-US" sz="2000"/>
          </a:p>
          <a:p>
            <a:endParaRPr lang="en-US" altLang="zh-CN" sz="2000"/>
          </a:p>
          <a:p>
            <a:r>
              <a:rPr lang="zh-CN" altLang="en-US" sz="2000"/>
              <a:t>数据宽度（</a:t>
            </a:r>
            <a:r>
              <a:rPr lang="en-US" altLang="zh-CN" sz="2000"/>
              <a:t>float </a:t>
            </a:r>
            <a:r>
              <a:rPr lang="zh-CN" altLang="en-US" sz="2000"/>
              <a:t>替代 </a:t>
            </a:r>
            <a:r>
              <a:rPr lang="en-US" altLang="zh-CN" sz="2000"/>
              <a:t>double）→ </a:t>
            </a:r>
            <a:r>
              <a:rPr lang="zh-CN" altLang="en-US" sz="2000"/>
              <a:t>额外 1.30×</a:t>
            </a:r>
            <a:endParaRPr lang="zh-CN" altLang="en-US" sz="2000"/>
          </a:p>
          <a:p>
            <a:br>
              <a:rPr lang="zh-CN" altLang="en-US" sz="2000"/>
            </a:br>
            <a:r>
              <a:rPr lang="zh-CN" altLang="en-US" sz="2000"/>
              <a:t>算法优化是质变，系统结构优化是量变 —— 先消除冗余计算，再榨干硬件性能。</a:t>
            </a:r>
            <a:endParaRPr lang="zh-CN" altLang="en-US" sz="2000"/>
          </a:p>
          <a:p>
            <a:r>
              <a:rPr lang="en-US" altLang="zh-CN" sz="2000"/>
              <a:t>-O2 </a:t>
            </a:r>
            <a:r>
              <a:rPr lang="zh-CN" altLang="en-US" sz="2000"/>
              <a:t>是必选：零成本消除大量低级冗余，-</a:t>
            </a:r>
            <a:r>
              <a:rPr lang="en-US" altLang="zh-CN" sz="2000"/>
              <a:t>O3 </a:t>
            </a:r>
            <a:r>
              <a:rPr lang="zh-CN" altLang="en-US" sz="2000"/>
              <a:t>需实测验证。</a:t>
            </a:r>
            <a:endParaRPr lang="zh-CN" altLang="en-US" sz="2000"/>
          </a:p>
          <a:p>
            <a:r>
              <a:rPr lang="en-US" altLang="zh-CN" sz="2000"/>
              <a:t>SIMD </a:t>
            </a:r>
            <a:r>
              <a:rPr lang="zh-CN" altLang="en-US" sz="2000"/>
              <a:t>需连续访存：非连续列访问严重限制 </a:t>
            </a:r>
            <a:r>
              <a:rPr lang="en-US" altLang="zh-CN" sz="2000"/>
              <a:t>NEON </a:t>
            </a:r>
            <a:r>
              <a:rPr lang="zh-CN" altLang="en-US" sz="2000"/>
              <a:t>效率，必要时先转置数据。</a:t>
            </a:r>
            <a:endParaRPr lang="zh-CN" altLang="en-US" sz="2000"/>
          </a:p>
          <a:p>
            <a:r>
              <a:rPr lang="zh-CN" altLang="en-US" sz="2000"/>
              <a:t>多核并行有代价：线程开销、带宽瓶颈制约线性加速，小规模宜关闭。</a:t>
            </a:r>
            <a:endParaRPr lang="zh-CN" altLang="en-US" sz="2000"/>
          </a:p>
          <a:p>
            <a:r>
              <a:rPr lang="en-US" altLang="zh-CN" sz="2000"/>
              <a:t>float </a:t>
            </a:r>
            <a:r>
              <a:rPr lang="zh-CN" altLang="en-US" sz="2000"/>
              <a:t>优化存边界：计算密集时有效，计算不再是瓶颈后则无效，且须评估精度损失。</a:t>
            </a:r>
            <a:endParaRPr lang="zh-C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7180" y="852805"/>
            <a:ext cx="11685905" cy="5537200"/>
          </a:xfrm>
        </p:spPr>
        <p:txBody>
          <a:bodyPr>
            <a:normAutofit/>
          </a:bodyPr>
          <a:lstStyle/>
          <a:p>
            <a:pPr marL="0" indent="0">
              <a:lnSpc>
                <a:spcPct val="90000"/>
              </a:lnSpc>
              <a:buNone/>
            </a:pPr>
            <a:r>
              <a:rPr lang="en-US" altLang="zh-CN" sz="2435" b="1" dirty="0">
                <a:solidFill>
                  <a:schemeClr val="tx1"/>
                </a:solidFill>
                <a:latin typeface="微软雅黑" panose="020B0503020204020204" charset="-122"/>
                <a:cs typeface="微软雅黑" panose="020B0503020204020204" charset="-122"/>
              </a:rPr>
              <a:t>  </a:t>
            </a:r>
            <a:endParaRPr lang="zh-CN" altLang="en-US"/>
          </a:p>
        </p:txBody>
      </p:sp>
      <p:sp>
        <p:nvSpPr>
          <p:cNvPr id="4" name="灯片编号占位符 3"/>
          <p:cNvSpPr>
            <a:spLocks noGrp="1"/>
          </p:cNvSpPr>
          <p:nvPr>
            <p:ph type="sldNum" sz="quarter" idx="4"/>
          </p:nvPr>
        </p:nvSpPr>
        <p:spPr>
          <a:xfrm>
            <a:off x="9448800" y="6492875"/>
            <a:ext cx="2743200" cy="365125"/>
          </a:xfrm>
        </p:spPr>
        <p:txBody>
          <a:bodyPr/>
          <a:lstStyle/>
          <a:p>
            <a:fld id="{BF71A997-7E79-41BB-B83B-6503C36C821C}" type="slidenum">
              <a:rPr lang="en-US" altLang="zh-CN" smtClean="0"/>
            </a:fld>
            <a:endParaRPr lang="en-US" altLang="zh-CN"/>
          </a:p>
        </p:txBody>
      </p:sp>
      <p:sp>
        <p:nvSpPr>
          <p:cNvPr id="6" name="矩形 5"/>
          <p:cNvSpPr/>
          <p:nvPr/>
        </p:nvSpPr>
        <p:spPr>
          <a:xfrm>
            <a:off x="3718560" y="2612390"/>
            <a:ext cx="4754880" cy="1198880"/>
          </a:xfrm>
          <a:prstGeom prst="rect">
            <a:avLst/>
          </a:prstGeom>
          <a:noFill/>
          <a:ln>
            <a:noFill/>
          </a:ln>
        </p:spPr>
        <p:txBody>
          <a:bodyPr wrap="none" rtlCol="0" anchor="t">
            <a:spAutoFit/>
          </a:bodyPr>
          <a:p>
            <a:pPr algn="ctr"/>
            <a:r>
              <a:rPr lang="zh-CN" altLang="en-US" sz="7200" b="1">
                <a:solidFill>
                  <a:schemeClr val="accent1"/>
                </a:solidFill>
                <a:effectLst>
                  <a:outerShdw blurRad="38100" dist="25400" dir="5400000" algn="ctr" rotWithShape="0">
                    <a:srgbClr val="6E747A">
                      <a:alpha val="43000"/>
                    </a:srgbClr>
                  </a:outerShdw>
                </a:effectLst>
              </a:rPr>
              <a:t>感谢聆听！</a:t>
            </a:r>
            <a:endParaRPr lang="zh-CN" altLang="en-US" sz="7200" b="1">
              <a:solidFill>
                <a:schemeClr val="accent1"/>
              </a:solidFill>
              <a:effectLst>
                <a:outerShdw blurRad="38100" dist="25400" dir="5400000" algn="ctr" rotWithShape="0">
                  <a:srgbClr val="6E747A">
                    <a:alpha val="43000"/>
                  </a:srgbClr>
                </a:outerShdw>
              </a:effectLst>
            </a:endParaRPr>
          </a:p>
        </p:txBody>
      </p:sp>
      <p:sp>
        <p:nvSpPr>
          <p:cNvPr id="2" name="文本框 1"/>
          <p:cNvSpPr txBox="1"/>
          <p:nvPr/>
        </p:nvSpPr>
        <p:spPr>
          <a:xfrm>
            <a:off x="8823325" y="4207510"/>
            <a:ext cx="2667000" cy="368300"/>
          </a:xfrm>
          <a:prstGeom prst="rect">
            <a:avLst/>
          </a:prstGeom>
          <a:noFill/>
        </p:spPr>
        <p:txBody>
          <a:bodyPr wrap="square" rtlCol="0">
            <a:spAutoFit/>
          </a:bodyPr>
          <a:p>
            <a:endParaRPr lang="zh-CN" altLang="en-US"/>
          </a:p>
        </p:txBody>
      </p:sp>
    </p:spTree>
  </p:cSld>
  <p:clrMapOvr>
    <a:masterClrMapping/>
  </p:clrMapOvr>
</p:sld>
</file>

<file path=ppt/tags/tag1.xml><?xml version="1.0" encoding="utf-8"?>
<p:tagLst xmlns:p="http://schemas.openxmlformats.org/presentationml/2006/main">
  <p:tag name="TABLE_ENDDRAG_ORIGIN_RECT" val="818*339"/>
  <p:tag name="TABLE_ENDDRAG_RECT" val="67*102*818*340"/>
</p:tagLst>
</file>

<file path=ppt/tags/tag2.xml><?xml version="1.0" encoding="utf-8"?>
<p:tagLst xmlns:p="http://schemas.openxmlformats.org/presentationml/2006/main">
  <p:tag name="TABLE_ENDDRAG_ORIGIN_RECT" val="424*99"/>
  <p:tag name="TABLE_ENDDRAG_RECT" val="23*89*424*99"/>
</p:tagLst>
</file>

<file path=ppt/tags/tag3.xml><?xml version="1.0" encoding="utf-8"?>
<p:tagLst xmlns:p="http://schemas.openxmlformats.org/presentationml/2006/main">
  <p:tag name="TABLE_ENDDRAG_ORIGIN_RECT" val="464*226"/>
  <p:tag name="TABLE_ENDDRAG_RECT" val="15*74*464*2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4001</Words>
  <Application>WPS 演示</Application>
  <PresentationFormat>宽屏</PresentationFormat>
  <Paragraphs>459</Paragraphs>
  <Slides>19</Slides>
  <Notes>39</Notes>
  <HiddenSlides>20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微软雅黑</vt:lpstr>
      <vt:lpstr>Wingdings</vt:lpstr>
      <vt:lpstr>Times New Roman Regular</vt:lpstr>
      <vt:lpstr>Times New Roman</vt:lpstr>
      <vt:lpstr>等线</vt:lpstr>
      <vt:lpstr>Arial Unicode MS</vt:lpstr>
      <vt:lpstr>Calibri</vt:lpstr>
      <vt:lpstr>Office 主题​​</vt:lpstr>
      <vt:lpstr>PowerPoint 演示文稿</vt:lpstr>
      <vt:lpstr>卡尔曼滤波</vt:lpstr>
      <vt:lpstr>卡尔曼滤波</vt:lpstr>
      <vt:lpstr>卡尔曼滤波</vt:lpstr>
      <vt:lpstr>卡尔曼滤波</vt:lpstr>
      <vt:lpstr>扩展卡尔曼滤波</vt:lpstr>
      <vt:lpstr>程序流程图</vt:lpstr>
      <vt:lpstr>程序流程图</vt:lpstr>
      <vt:lpstr>研讨要求1：接口与时间函数</vt:lpstr>
      <vt:lpstr>研讨要求1：接口与时间函数</vt:lpstr>
      <vt:lpstr>研讨要求</vt:lpstr>
      <vt:lpstr>研讨要求2：格式</vt:lpstr>
      <vt:lpstr>研讨要求3：性能</vt:lpstr>
      <vt:lpstr>研讨要求3：性能</vt:lpstr>
      <vt:lpstr>研讨要求3：性能</vt:lpstr>
      <vt:lpstr>研讨要求3：性能</vt:lpstr>
      <vt:lpstr>研讨要求4</vt:lpstr>
      <vt:lpstr>系统结构层次上程序性能优化总结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 Jingji(斯静吉)(UAES/MKC)</dc:creator>
  <cp:lastModifiedBy>殇</cp:lastModifiedBy>
  <cp:revision>351</cp:revision>
  <dcterms:created xsi:type="dcterms:W3CDTF">2022-12-15T04:36:00Z</dcterms:created>
  <dcterms:modified xsi:type="dcterms:W3CDTF">2026-06-03T02:00:13Z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194D6D1F9F3D4224AB1EE3D4178E089F_13</vt:lpwstr>
  </property>
  <property fmtid="{D5CDD505-2E9C-101B-9397-08002B2CF9AE}" pid="3" name="KSOProductBuildVer">
    <vt:lpwstr>2052-12.1.0.26375</vt:lpwstr>
  </property>
</Properties>
</file>