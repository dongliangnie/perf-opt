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08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原始程序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10</c:v>
                </c:pt>
                <c:pt idx="1">
                  <c:v>19</c:v>
                </c:pt>
                <c:pt idx="2">
                  <c:v>28</c:v>
                </c:pt>
                <c:pt idx="3">
                  <c:v>37</c:v>
                </c:pt>
                <c:pt idx="4">
                  <c:v>46</c:v>
                </c:pt>
                <c:pt idx="5">
                  <c:v>55</c:v>
                </c:pt>
                <c:pt idx="6">
                  <c:v>64</c:v>
                </c:pt>
                <c:pt idx="7">
                  <c:v>73</c:v>
                </c:pt>
                <c:pt idx="8">
                  <c:v>82</c:v>
                </c:pt>
                <c:pt idx="9">
                  <c:v>91</c:v>
                </c:pt>
                <c:pt idx="10">
                  <c:v>100</c:v>
                </c:pt>
                <c:pt idx="11">
                  <c:v>136</c:v>
                </c:pt>
                <c:pt idx="12">
                  <c:v>181</c:v>
                </c:pt>
                <c:pt idx="13">
                  <c:v>226</c:v>
                </c:pt>
                <c:pt idx="14">
                  <c:v>298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1.2E-2</c:v>
                </c:pt>
                <c:pt idx="1">
                  <c:v>0.05</c:v>
                </c:pt>
                <c:pt idx="2">
                  <c:v>0.1</c:v>
                </c:pt>
                <c:pt idx="3">
                  <c:v>0.3</c:v>
                </c:pt>
                <c:pt idx="4">
                  <c:v>0.98399999999999999</c:v>
                </c:pt>
                <c:pt idx="5">
                  <c:v>1.5</c:v>
                </c:pt>
                <c:pt idx="6">
                  <c:v>2</c:v>
                </c:pt>
                <c:pt idx="7">
                  <c:v>2.6</c:v>
                </c:pt>
                <c:pt idx="8">
                  <c:v>3</c:v>
                </c:pt>
                <c:pt idx="9">
                  <c:v>3.4129999999999998</c:v>
                </c:pt>
                <c:pt idx="10">
                  <c:v>4.5</c:v>
                </c:pt>
                <c:pt idx="11">
                  <c:v>7.9340000000000002</c:v>
                </c:pt>
                <c:pt idx="12">
                  <c:v>16.238</c:v>
                </c:pt>
                <c:pt idx="13">
                  <c:v>29.344999999999999</c:v>
                </c:pt>
                <c:pt idx="14">
                  <c:v>68.114999999999995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CB-4EFF-9AE3-281361CDD2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优化① 指针步长消减</c:v>
                </c:pt>
              </c:strCache>
            </c:strRef>
          </c:tx>
          <c:spPr>
            <a:ln w="31750" cap="flat">
              <a:solidFill>
                <a:srgbClr val="E07B3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7B39"/>
              </a:solidFill>
              <a:ln w="9525" cap="flat">
                <a:solidFill>
                  <a:srgbClr val="E07B39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10</c:v>
                </c:pt>
                <c:pt idx="1">
                  <c:v>19</c:v>
                </c:pt>
                <c:pt idx="2">
                  <c:v>28</c:v>
                </c:pt>
                <c:pt idx="3">
                  <c:v>37</c:v>
                </c:pt>
                <c:pt idx="4">
                  <c:v>46</c:v>
                </c:pt>
                <c:pt idx="5">
                  <c:v>55</c:v>
                </c:pt>
                <c:pt idx="6">
                  <c:v>64</c:v>
                </c:pt>
                <c:pt idx="7">
                  <c:v>73</c:v>
                </c:pt>
                <c:pt idx="8">
                  <c:v>82</c:v>
                </c:pt>
                <c:pt idx="9">
                  <c:v>91</c:v>
                </c:pt>
                <c:pt idx="10">
                  <c:v>100</c:v>
                </c:pt>
                <c:pt idx="11">
                  <c:v>136</c:v>
                </c:pt>
                <c:pt idx="12">
                  <c:v>181</c:v>
                </c:pt>
                <c:pt idx="13">
                  <c:v>226</c:v>
                </c:pt>
                <c:pt idx="14">
                  <c:v>298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5.0000000000000001E-3</c:v>
                </c:pt>
                <c:pt idx="1">
                  <c:v>0.02</c:v>
                </c:pt>
                <c:pt idx="2">
                  <c:v>0.06</c:v>
                </c:pt>
                <c:pt idx="3">
                  <c:v>0.15</c:v>
                </c:pt>
                <c:pt idx="4">
                  <c:v>0.26900000000000002</c:v>
                </c:pt>
                <c:pt idx="5">
                  <c:v>0.6</c:v>
                </c:pt>
                <c:pt idx="6">
                  <c:v>1</c:v>
                </c:pt>
                <c:pt idx="7">
                  <c:v>1.5</c:v>
                </c:pt>
                <c:pt idx="8">
                  <c:v>2</c:v>
                </c:pt>
                <c:pt idx="9">
                  <c:v>2.7120000000000002</c:v>
                </c:pt>
                <c:pt idx="10">
                  <c:v>3.2</c:v>
                </c:pt>
                <c:pt idx="11">
                  <c:v>5.28</c:v>
                </c:pt>
                <c:pt idx="12">
                  <c:v>8.6560000000000006</c:v>
                </c:pt>
                <c:pt idx="13">
                  <c:v>12.974</c:v>
                </c:pt>
                <c:pt idx="14">
                  <c:v>32.482999999999997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CB-4EFF-9AE3-281361CDD21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优化② Cache 局部性翻转</c:v>
                </c:pt>
              </c:strCache>
            </c:strRef>
          </c:tx>
          <c:spPr>
            <a:ln w="31750" cap="flat">
              <a:solidFill>
                <a:srgbClr val="0E7C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60"/>
              </a:solidFill>
              <a:ln w="9525" cap="flat">
                <a:solidFill>
                  <a:srgbClr val="0E7C60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10</c:v>
                </c:pt>
                <c:pt idx="1">
                  <c:v>19</c:v>
                </c:pt>
                <c:pt idx="2">
                  <c:v>28</c:v>
                </c:pt>
                <c:pt idx="3">
                  <c:v>37</c:v>
                </c:pt>
                <c:pt idx="4">
                  <c:v>46</c:v>
                </c:pt>
                <c:pt idx="5">
                  <c:v>55</c:v>
                </c:pt>
                <c:pt idx="6">
                  <c:v>64</c:v>
                </c:pt>
                <c:pt idx="7">
                  <c:v>73</c:v>
                </c:pt>
                <c:pt idx="8">
                  <c:v>82</c:v>
                </c:pt>
                <c:pt idx="9">
                  <c:v>91</c:v>
                </c:pt>
                <c:pt idx="10">
                  <c:v>100</c:v>
                </c:pt>
                <c:pt idx="11">
                  <c:v>136</c:v>
                </c:pt>
                <c:pt idx="12">
                  <c:v>181</c:v>
                </c:pt>
                <c:pt idx="13">
                  <c:v>226</c:v>
                </c:pt>
                <c:pt idx="14">
                  <c:v>298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6.0000000000000001E-3</c:v>
                </c:pt>
                <c:pt idx="1">
                  <c:v>0.01</c:v>
                </c:pt>
                <c:pt idx="2">
                  <c:v>0.02</c:v>
                </c:pt>
                <c:pt idx="3">
                  <c:v>0.04</c:v>
                </c:pt>
                <c:pt idx="4">
                  <c:v>0.105</c:v>
                </c:pt>
                <c:pt idx="5">
                  <c:v>0.2</c:v>
                </c:pt>
                <c:pt idx="6">
                  <c:v>0.3</c:v>
                </c:pt>
                <c:pt idx="7">
                  <c:v>0.45</c:v>
                </c:pt>
                <c:pt idx="8">
                  <c:v>0.6</c:v>
                </c:pt>
                <c:pt idx="9">
                  <c:v>0.81699999999999995</c:v>
                </c:pt>
                <c:pt idx="10">
                  <c:v>1</c:v>
                </c:pt>
                <c:pt idx="11">
                  <c:v>2.0350000000000001</c:v>
                </c:pt>
                <c:pt idx="12">
                  <c:v>3.823</c:v>
                </c:pt>
                <c:pt idx="13">
                  <c:v>4.3470000000000004</c:v>
                </c:pt>
                <c:pt idx="14">
                  <c:v>7.2690000000000001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4CB-4EFF-9AE3-281361CDD2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zh-CN" altLang="en-US" b="0" i="0" u="none" strike="noStrike">
                    <a:solidFill>
                      <a:srgbClr val="000000"/>
                    </a:solidFill>
                    <a:latin typeface="Arial"/>
                  </a:rPr>
                  <a:t>状态维度 </a:t>
                </a: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dim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zh-CN" altLang="en-US" b="0" i="0" u="none" strike="noStrike">
                    <a:solidFill>
                      <a:srgbClr val="000000"/>
                    </a:solidFill>
                    <a:latin typeface="Arial"/>
                  </a:rPr>
                  <a:t>执行时间 </a:t>
                </a:r>
                <a:r>
                  <a:rPr lang="en-US" altLang="zh-CN" b="0" i="0" u="none" strike="noStrike">
                    <a:solidFill>
                      <a:srgbClr val="000000"/>
                    </a:solidFill>
                    <a:latin typeface="Arial"/>
                  </a:rPr>
                  <a:t>(</a:t>
                </a: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59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76212" y="76791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卡尔曼滤波算子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14076" y="152845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2000" b="1" dirty="0" err="1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程序性能优化研讨汇报</a:t>
            </a:r>
            <a:endParaRPr lang="en-US" altLang="zh-CN" sz="2000" dirty="0"/>
          </a:p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825" y="19005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82880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48716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1462" y="362546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b="1" dirty="0" err="1">
                <a:solidFill>
                  <a:srgbClr val="0096B7"/>
                </a:solidFill>
              </a:rPr>
              <a:t>加速比：</a:t>
            </a:r>
            <a:r>
              <a:rPr lang="en-US" altLang="zh-CN" dirty="0" err="1">
                <a:solidFill>
                  <a:srgbClr val="FFFFFF"/>
                </a:solidFill>
              </a:rPr>
              <a:t>dim</a:t>
            </a:r>
            <a:r>
              <a:rPr lang="en-US" altLang="zh-CN" dirty="0">
                <a:solidFill>
                  <a:srgbClr val="FFFFFF"/>
                </a:solidFill>
              </a:rPr>
              <a:t>=298 </a:t>
            </a:r>
            <a:r>
              <a:rPr lang="en-US" altLang="zh-CN" dirty="0" err="1">
                <a:solidFill>
                  <a:srgbClr val="FFFFFF"/>
                </a:solidFill>
              </a:rPr>
              <a:t>时达到</a:t>
            </a:r>
            <a:r>
              <a:rPr lang="en-US" altLang="zh-CN" dirty="0">
                <a:solidFill>
                  <a:srgbClr val="FFFFFF"/>
                </a:solidFill>
              </a:rPr>
              <a:t> </a:t>
            </a:r>
            <a:r>
              <a:rPr lang="en-US" altLang="zh-CN" b="1" dirty="0">
                <a:solidFill>
                  <a:srgbClr val="F5C842"/>
                </a:solidFill>
              </a:rPr>
              <a:t>9.37×</a:t>
            </a:r>
            <a:endParaRPr lang="en-US" altLang="zh-CN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725F1AA5-FF64-1905-BB18-B49FBCDF5430}"/>
              </a:ext>
            </a:extLst>
          </p:cNvPr>
          <p:cNvSpPr/>
          <p:nvPr/>
        </p:nvSpPr>
        <p:spPr>
          <a:xfrm>
            <a:off x="314076" y="1972820"/>
            <a:ext cx="5029200" cy="36576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B593B4-947B-5B71-952E-4B918F033BB8}"/>
              </a:ext>
            </a:extLst>
          </p:cNvPr>
          <p:cNvSpPr txBox="1"/>
          <p:nvPr/>
        </p:nvSpPr>
        <p:spPr>
          <a:xfrm>
            <a:off x="314076" y="2246247"/>
            <a:ext cx="4581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 err="1">
                <a:solidFill>
                  <a:srgbClr val="0096B7"/>
                </a:solidFill>
              </a:rPr>
              <a:t>平台：</a:t>
            </a:r>
            <a:r>
              <a:rPr lang="en-US" altLang="zh-CN" dirty="0" err="1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鲲鹏</a:t>
            </a:r>
            <a:r>
              <a:rPr lang="en-US" altLang="zh-CN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ARMv8 + </a:t>
            </a:r>
            <a:r>
              <a:rPr lang="en-US" altLang="zh-CN" dirty="0" err="1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Linux（GCC</a:t>
            </a:r>
            <a:r>
              <a:rPr lang="en-US" altLang="zh-CN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9.3+）</a:t>
            </a:r>
            <a:endParaRPr lang="en-US" altLang="zh-CN" dirty="0"/>
          </a:p>
          <a:p>
            <a:endParaRPr lang="en-US" altLang="zh-CN" sz="18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0A50AAD-7884-886A-7178-35F77C6EF9B4}"/>
              </a:ext>
            </a:extLst>
          </p:cNvPr>
          <p:cNvSpPr txBox="1"/>
          <p:nvPr/>
        </p:nvSpPr>
        <p:spPr>
          <a:xfrm>
            <a:off x="271462" y="2960870"/>
            <a:ext cx="6436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800" b="1" dirty="0" err="1">
                <a:solidFill>
                  <a:srgbClr val="0096B7"/>
                </a:solidFill>
              </a:rPr>
              <a:t>优化路径：</a:t>
            </a:r>
            <a:r>
              <a:rPr lang="en-US" altLang="zh-CN" sz="1800" dirty="0" err="1">
                <a:solidFill>
                  <a:srgbClr val="FFFFFF"/>
                </a:solidFill>
              </a:rPr>
              <a:t>原始程序</a:t>
            </a:r>
            <a:r>
              <a:rPr lang="en-US" altLang="zh-CN" sz="1800" dirty="0">
                <a:solidFill>
                  <a:srgbClr val="FFFFFF"/>
                </a:solidFill>
              </a:rPr>
              <a:t>  →  </a:t>
            </a:r>
            <a:r>
              <a:rPr lang="en-US" altLang="zh-CN" sz="1800" dirty="0" err="1">
                <a:solidFill>
                  <a:srgbClr val="FFFFFF"/>
                </a:solidFill>
              </a:rPr>
              <a:t>指针步长消减</a:t>
            </a:r>
            <a:r>
              <a:rPr lang="en-US" altLang="zh-CN" sz="1800" dirty="0">
                <a:solidFill>
                  <a:srgbClr val="FFFFFF"/>
                </a:solidFill>
              </a:rPr>
              <a:t>  →  Cache </a:t>
            </a:r>
            <a:r>
              <a:rPr lang="en-US" altLang="zh-CN" sz="1800" dirty="0" err="1">
                <a:solidFill>
                  <a:srgbClr val="FFFFFF"/>
                </a:solidFill>
              </a:rPr>
              <a:t>局部性翻转</a:t>
            </a:r>
            <a:endParaRPr lang="en-US" altLang="zh-CN" sz="18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6EFBBA0-807A-EF28-4EF6-CFF463C46A06}"/>
              </a:ext>
            </a:extLst>
          </p:cNvPr>
          <p:cNvSpPr txBox="1"/>
          <p:nvPr/>
        </p:nvSpPr>
        <p:spPr>
          <a:xfrm>
            <a:off x="271462" y="4233291"/>
            <a:ext cx="6496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96B7"/>
                </a:solidFill>
              </a:rPr>
              <a:t>小组成员</a:t>
            </a:r>
            <a:r>
              <a:rPr lang="en-US" altLang="zh-CN" sz="1800" b="1" dirty="0">
                <a:solidFill>
                  <a:srgbClr val="0096B7"/>
                </a:solidFill>
              </a:rPr>
              <a:t>：</a:t>
            </a:r>
            <a:r>
              <a:rPr lang="zh-CN" altLang="en-US" b="1" dirty="0">
                <a:solidFill>
                  <a:srgbClr val="F5C842"/>
                </a:solidFill>
              </a:rPr>
              <a:t>黄嘉俊（优化代码）  符来银 （</a:t>
            </a:r>
            <a:r>
              <a:rPr lang="en-US" altLang="zh-CN" b="1" dirty="0">
                <a:solidFill>
                  <a:srgbClr val="F5C842"/>
                </a:solidFill>
              </a:rPr>
              <a:t>PPT</a:t>
            </a:r>
            <a:r>
              <a:rPr lang="zh-CN" altLang="en-US" b="1" dirty="0">
                <a:solidFill>
                  <a:srgbClr val="F5C842"/>
                </a:solidFill>
              </a:rPr>
              <a:t>制作与汇报）</a:t>
            </a:r>
            <a:r>
              <a:rPr lang="en-US" altLang="zh-CN" b="1" dirty="0">
                <a:solidFill>
                  <a:srgbClr val="F5C842"/>
                </a:solidFill>
              </a:rPr>
              <a:t>　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　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0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算法介绍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卡尔曼滤波原理 · 简化模型 · 实时性需求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0789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0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4612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程序流程图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901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代码结构 · 三大接口函数 · 优化内核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1463040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0789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2648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性能分析与优化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901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代码规范 · 接口详解 · 优化方法 · 文件说明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01368" y="2743200"/>
            <a:ext cx="265176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01368" y="2816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0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01368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性能实验结果对比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01368" y="36393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三阶段折线图 · 量化加速比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81728" y="2743200"/>
            <a:ext cx="265176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2816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0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81728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系统结构层次优化总结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81728" y="36393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/ 流水线 / 存储层次 · 经验提炼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5" name="Text 23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3373"/>
            <a:ext cx="502920" cy="483300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9271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4420" y="39271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算法介绍 — 卡尔曼滤波（Kalman Filter）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010031"/>
            <a:ext cx="4114800" cy="18745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11751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什么是卡尔曼滤波？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1958" y="1584199"/>
            <a:ext cx="384048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由 Rudolf Kálmán 于1960年提出的最优递归线性估计算法。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在高斯噪声假设下对系统状态进行最优估计，无需保留历史数据。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广泛用于 IMU 融合、GPS 定位、自动驾驶感知等实时场景。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核心思想：两步递推 — 先预测，再用观测修正。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1027272"/>
            <a:ext cx="4114800" cy="1874520"/>
          </a:xfrm>
          <a:prstGeom prst="rect">
            <a:avLst/>
          </a:prstGeom>
          <a:solidFill>
            <a:srgbClr val="E8F4FB"/>
          </a:solidFill>
          <a:ln w="12700">
            <a:solidFill>
              <a:srgbClr val="00A0D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Text 7"/>
          <p:cNvSpPr/>
          <p:nvPr/>
        </p:nvSpPr>
        <p:spPr>
          <a:xfrm>
            <a:off x="4709160" y="1161195"/>
            <a:ext cx="3931920" cy="33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本次简化假设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90122" y="1584200"/>
            <a:ext cx="3931920" cy="158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I（观测矩阵 = 单位阵）      F = I（状态转移矩阵 = 单位阵）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预测：P_pred = P + Q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增益：K = P · inv(P + 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更新：x = x + K·(z − x)    P = (I−K)·P_pred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302889"/>
            <a:ext cx="841248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33737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算子类型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83080" y="333737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单次更新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88920" y="333737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实时要求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03320" y="333737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26280" y="333737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状态维度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32120" y="333737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复杂度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0" y="333737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实验步数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653028"/>
            <a:ext cx="14173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6530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EKF（扩展卡尔曼滤波）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783080" y="3653028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36530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单次更新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88920" y="3653028"/>
            <a:ext cx="91440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36530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 ms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703320" y="3653028"/>
            <a:ext cx="822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36530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数据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26280" y="3653028"/>
            <a:ext cx="10058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36530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dim=10~300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532120" y="3653028"/>
            <a:ext cx="1051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365302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O(dim³)/步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583680" y="3653028"/>
            <a:ext cx="21031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36530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steps=1（计时单次迭代）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4407408"/>
            <a:ext cx="841248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4" name="Text 32"/>
          <p:cNvSpPr/>
          <p:nvPr/>
        </p:nvSpPr>
        <p:spPr>
          <a:xfrm>
            <a:off x="457200" y="437292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性能瓶颈：mat_mul  O(dim³)  每步执行 2 次，占用 &gt; 90% 时间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64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优化目标与实现效果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solidFill>
            <a:srgbClr val="E8F4FB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核心问题：mat_mul 是 O(dim³) 的矩阵乘法，每次 KF 迭代执行 2 次，是绝对性能瓶颈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2651760" cy="1737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15568"/>
            <a:ext cx="2651760" cy="365760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15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提升 Cache 利用率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1856232"/>
            <a:ext cx="2505456" cy="9875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 mat_mul 内层循环访问模式由列间跳跃改为行内连续（unit-stride），使 Cache Line 利用率从 12.5% 提升至 100%。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115568"/>
            <a:ext cx="2651760" cy="1737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115568"/>
            <a:ext cx="2651760" cy="3657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115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消除冗余地址计算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73552" y="1856232"/>
            <a:ext cx="2505456" cy="9875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将循环内重复计算的行基址提升为局部变量，减少乘法指令数约 30%，让编译器把行基址固定在寄存器中。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115568"/>
            <a:ext cx="2651760" cy="1737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115568"/>
            <a:ext cx="2651760" cy="365760"/>
          </a:xfrm>
          <a:prstGeom prst="rect">
            <a:avLst/>
          </a:prstGeom>
          <a:solidFill>
            <a:srgbClr val="0E7C60"/>
          </a:solidFill>
          <a:ln w="12700">
            <a:solidFill>
              <a:srgbClr val="0E7C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115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满足实时性约束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08192" y="1856232"/>
            <a:ext cx="2505456" cy="9875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dim=298 时单次 KF 更新低于 10 ms，满足 EKF 实时运行需求，为后续 NEON / OpenMP 扩展留有余量。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0175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实现效果（实机测试 dim=298）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364992"/>
            <a:ext cx="841248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649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优化① 指针步长消减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33649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68.115 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3649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33649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7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32.483 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0" y="33649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2.10×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490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优化② Cache 局部性翻转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3749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32.483 ms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37490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749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7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7.269 ms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0" y="3749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0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4.46×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4133088"/>
            <a:ext cx="841248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1330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综合效果（相对原始）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83280" y="41330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68.115 ms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41330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41330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7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7.269 ms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0" y="41330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9.37×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64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程序流程图 — 实验全流程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749040" y="594360"/>
            <a:ext cx="512064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943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09360" y="941832"/>
            <a:ext cx="0" cy="91440"/>
          </a:xfrm>
          <a:prstGeom prst="line">
            <a:avLst/>
          </a:prstGeom>
          <a:noFill/>
          <a:ln w="19050">
            <a:solidFill>
              <a:srgbClr val="00A0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1005840"/>
            <a:ext cx="51206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0058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dim=10→300（步长9，共33次迭代）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353312"/>
            <a:ext cx="0" cy="91440"/>
          </a:xfrm>
          <a:prstGeom prst="line">
            <a:avLst/>
          </a:prstGeom>
          <a:noFill/>
          <a:ln w="19050">
            <a:solidFill>
              <a:srgbClr val="00A0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444752"/>
            <a:ext cx="51206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4447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内存分配  calloc 13个矩阵/向量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792224"/>
            <a:ext cx="0" cy="91440"/>
          </a:xfrm>
          <a:prstGeom prst="line">
            <a:avLst/>
          </a:prstGeom>
          <a:noFill/>
          <a:ln w="19050">
            <a:solidFill>
              <a:srgbClr val="00A0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883664"/>
            <a:ext cx="51206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8836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数据初始化  P=I, Q=0.5I, R=0.5I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2231136"/>
            <a:ext cx="0" cy="91440"/>
          </a:xfrm>
          <a:prstGeom prst="line">
            <a:avLst/>
          </a:prstGeom>
          <a:noFill/>
          <a:ln w="19050">
            <a:solidFill>
              <a:srgbClr val="00A0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2322576"/>
            <a:ext cx="51206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32257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计时开始  timestamp() → T_start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2670048"/>
            <a:ext cx="0" cy="91440"/>
          </a:xfrm>
          <a:prstGeom prst="line">
            <a:avLst/>
          </a:prstGeom>
          <a:noFill/>
          <a:ln w="19050">
            <a:solidFill>
              <a:srgbClr val="00A0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2761488"/>
            <a:ext cx="5120640" cy="34747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76148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KF滤波步骤  predict → update（核心计算）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3108960"/>
            <a:ext cx="0" cy="91440"/>
          </a:xfrm>
          <a:prstGeom prst="line">
            <a:avLst/>
          </a:prstGeom>
          <a:noFill/>
          <a:ln w="19050">
            <a:solidFill>
              <a:srgbClr val="00A0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0" y="3200400"/>
            <a:ext cx="51206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32004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计时结束  timestamp_diff() → elapsed_ns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3547872"/>
            <a:ext cx="0" cy="91440"/>
          </a:xfrm>
          <a:prstGeom prst="line">
            <a:avLst/>
          </a:prstGeom>
          <a:noFill/>
          <a:ln w="19050">
            <a:solidFill>
              <a:srgbClr val="00A0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3639312"/>
            <a:ext cx="51206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63931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 printf("%d,%.6f,A72,KF")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3986784"/>
            <a:ext cx="0" cy="91440"/>
          </a:xfrm>
          <a:prstGeom prst="line">
            <a:avLst/>
          </a:prstGeom>
          <a:noFill/>
          <a:ln w="19050">
            <a:solidFill>
              <a:srgbClr val="00A0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49040" y="4078224"/>
            <a:ext cx="512064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407822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内存释放  free() 所有矩阵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155448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外层循环遍历 dim=10~300，步长9，33次迭代，每次独立分配释放内存，互不干扰。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233172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仅对 KF 核心函数计时，内存操作在计时区间外，保证测量精度。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27432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每次迭代执行 2 次 mat_mul（O(dim³)），是优化核心。i-l-j 顺序翻转后大幅提速。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338328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CSV 格式输出：dim, 耗时(ms), 平台, 算子，可直接导入 Excel/Python 绘图。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64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程序流程图 — 优化后代码结构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109728" cy="5029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640080"/>
            <a:ext cx="402336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8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kf_linux.h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961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公共接口 &amp; 类型声明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640080"/>
            <a:ext cx="109728" cy="502920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73168" y="640080"/>
            <a:ext cx="402336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658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kf_linux.c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8961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优化核心实现（主体）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417320"/>
            <a:ext cx="109728" cy="502920"/>
          </a:xfrm>
          <a:prstGeom prst="rect">
            <a:avLst/>
          </a:prstGeom>
          <a:solidFill>
            <a:srgbClr val="0E7C60"/>
          </a:solidFill>
          <a:ln w="12700">
            <a:solidFill>
              <a:srgbClr val="0E7C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1417320"/>
            <a:ext cx="402336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356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kf_linux_test.c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1673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 &amp; 性能采样入口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10972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73168" y="1417320"/>
            <a:ext cx="402336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4356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timestamp.h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673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计时接口声明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194560"/>
            <a:ext cx="10972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2194560"/>
            <a:ext cx="402336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timestamp.c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24505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纳秒级计时实现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194560"/>
            <a:ext cx="109728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2194560"/>
            <a:ext cx="402336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readme.txt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4505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编译与执行说明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063240"/>
            <a:ext cx="8412480" cy="8046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编译命令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383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-O2 kf_linux.c kf_linux_test.c timestamp.c -o kf_run -lm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主调用链：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224528"/>
            <a:ext cx="1280160" cy="347472"/>
          </a:xfrm>
          <a:prstGeom prst="rect">
            <a:avLst/>
          </a:prstGeom>
          <a:solidFill>
            <a:srgbClr val="1E5F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main()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45920" y="422452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</a:rPr>
              <a:t>→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28800" y="4224528"/>
            <a:ext cx="1280160" cy="347472"/>
          </a:xfrm>
          <a:prstGeom prst="rect">
            <a:avLst/>
          </a:prstGeom>
          <a:solidFill>
            <a:srgbClr val="00A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0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ioself_profiling()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108960" y="422452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</a:rPr>
              <a:t>→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91840" y="4224528"/>
            <a:ext cx="1280160" cy="347472"/>
          </a:xfrm>
          <a:prstGeom prst="rect">
            <a:avLst/>
          </a:prstGeom>
          <a:solidFill>
            <a:srgbClr val="1E5F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run_one_profile()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0" y="422452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</a:rPr>
              <a:t>→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4224528"/>
            <a:ext cx="1280160" cy="347472"/>
          </a:xfrm>
          <a:prstGeom prst="rect">
            <a:avLst/>
          </a:prstGeom>
          <a:solidFill>
            <a:srgbClr val="00A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timestamp()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35040" y="422452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</a:rPr>
              <a:t>→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4224528"/>
            <a:ext cx="1280160" cy="347472"/>
          </a:xfrm>
          <a:prstGeom prst="rect">
            <a:avLst/>
          </a:prstGeom>
          <a:solidFill>
            <a:srgbClr val="1E5F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kf_core_compute()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498080" y="422452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</a:rPr>
              <a:t>→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680960" y="4224528"/>
            <a:ext cx="1280160" cy="347472"/>
          </a:xfrm>
          <a:prstGeom prst="rect">
            <a:avLst/>
          </a:prstGeom>
          <a:solidFill>
            <a:srgbClr val="00A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0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timestamp_diff() + printf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64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代码规范 &amp; 初始程序分析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要求① 命名规范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31089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类别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9144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91440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本项目示例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225296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2529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类型/枚举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12252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大驼峰 UpperCamel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0" y="122529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KfInput, KfOutput, KfAosState, RetCode, KfMode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554480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函数/模块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蛇形 snake_case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0" y="1554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kf_linux_iopointer, locality_optimized_mat_mul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1883664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8836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局部变量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18836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蛇形 snake_case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1840" y="188366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a_val, b_row, result_row, elapsed_ns, dim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212848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2128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2212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全大写 SNAKE_CASE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91840" y="221284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KF_MAX_DIM, K_RET_OK, K_RET_INVALID_PARAM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要求② 初始程序性能问题分析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2944368"/>
            <a:ext cx="265176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944368"/>
            <a:ext cx="26517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944368"/>
            <a:ext cx="21031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❶ 循环顺序 i-j-l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68880" y="294436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不友好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38912" y="3310128"/>
            <a:ext cx="2505456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mat_mul 内层 l 循环中 B[l*m+j] 跨行访问，步长=m×8B。Cache Line 64B 装入8个 double，但每次只用1个，有效利用率≈12.5%，严重 Cache Miss。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2944368"/>
            <a:ext cx="265176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2944368"/>
            <a:ext cx="26517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2944368"/>
            <a:ext cx="21031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❷ 重复计算地址偏移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0" y="294436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冗余乘法指令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73552" y="3310128"/>
            <a:ext cx="2505456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A[i*k+l] 和 B[l*m+j] 的行基址在每次迭代中被重复乘法计算，编译器不一定能提升为常量，产生大量冗余乘法指令。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35040" y="2944368"/>
            <a:ext cx="265176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2944368"/>
            <a:ext cx="2651760" cy="34747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2944368"/>
            <a:ext cx="21031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❸ 无指针缓存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38160" y="294436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寄存器利用差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08192" y="3310128"/>
            <a:ext cx="2505456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每次内层访问都通过基指针+偏移下标访问，没有将行基址缓存为局部指针变量，编译器难以进行有效的寄存器分配和自动向量化。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64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性能分析与优化 — 三大接口函数详解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solidFill>
            <a:srgbClr val="E8F4FB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命名规则：功能_平台_输入输出方式    三个接口均以 kf_linux_ 开头，前缀标识平台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137160" cy="12344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9966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kf_linux_iopointer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234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RetCode kf_linux_iopointer(int horizon, void *input, void *output)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35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作用：调用者提供输入/输出缓冲区指针，适用于生产环境集成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162763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参数 horizon 指定状态维度（dim），必须在 (0, KF_MAX_DIM=300] 范围内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input 强制转型为 KfInput*，output 转型为 KfOutput*，函数内校验合法性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当 mode == KF_MODE_SOA_NEON 时调用 kf_core_compute，计算结果写入 kf_out-&gt;final_sum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执行完整的 KF 更新步骤（predict → gain → update），返回 K_RET_OK / 错误码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221992"/>
            <a:ext cx="8412480" cy="153619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9189" y="2206180"/>
            <a:ext cx="129159" cy="1409891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58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kf_linux_ioself_profiling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4963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RetCode kf_linux_ioself_profiling(int horizon)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26974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作用：自产生数据、计时并打印，用于性能采样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2889504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内部调用 run_one_profile(horizon)，自行分配/初始化/释放所有矩阵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使用 timestamp() 精确记录 KF 核心计算的纳秒级耗时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以 CSV 格式打印：dim, 耗时(ms), A72, KF，可直接导入绘图工具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每次调用独立分配内存，不受上次采样状态影响，保证测量独立性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8056" y="3721608"/>
            <a:ext cx="8412480" cy="1335024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16071"/>
            <a:ext cx="146304" cy="1440561"/>
          </a:xfrm>
          <a:prstGeom prst="rect">
            <a:avLst/>
          </a:prstGeom>
          <a:solidFill>
            <a:srgbClr val="0E7C60"/>
          </a:solidFill>
          <a:ln w="12700">
            <a:solidFill>
              <a:srgbClr val="0E7C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20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kf_linux_ioself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758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RetCode kf_linux_ioself(int horizon)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39593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作用：自产生数据，不计时、不打印，用于功能验证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4151376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内部调用 kf_self_test(horizon, enable_timing=0)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不执行 timestamp() 采集，无 printf 输出，适合快速功能回归测试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与 ioself_profiling 共享相同的矩阵初始化逻辑，结果可对比验证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可用于集成测试、批量维度扫描等不需要性能数据的场景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64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性能分析与优化 — 时间函数 &amp; 测试主函数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594359"/>
            <a:ext cx="4160520" cy="3839527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416052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94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时间函数（timestamp.h / timestamp.c）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类型定义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timespec TimeStamp;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使用 POSIX timespec 结构，包含 tv_sec（秒）和 tv_nsec（纳秒）字段。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6824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timestamp()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调用 clock_gettime(CLOCK_MONOTONIC, &amp;ts)，返回单调递增时钟快照。CLOCK_MONOTONIC 不受系统时间调整影响，保证计时精度。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359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timestamp_diff()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603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返回 int64_t 纳秒差值：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(end.tv_sec - start.tv_sec) × 10⁹ + (end.tv_nsec - start.tv_nsec)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精度：纳秒级，适配 ARM A72 实时场景要求。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0358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使用方式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23697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 start = timestamp();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核心计算 ...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 end = timestamp();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int64_t ns = timestamp_diff(start, end);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printf("%.6f ms", ns / 1e6);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895159"/>
            <a:ext cx="4069080" cy="381304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Shape 15"/>
          <p:cNvSpPr/>
          <p:nvPr/>
        </p:nvSpPr>
        <p:spPr>
          <a:xfrm>
            <a:off x="4709160" y="594360"/>
            <a:ext cx="406908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5943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测试主函数（kf_linux_test.c）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110994"/>
            <a:ext cx="37947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83455" y="1606300"/>
            <a:ext cx="548640" cy="25603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3455" y="1610875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单一职责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12105" y="154533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</a:t>
            </a:r>
            <a:r>
              <a:rPr lang="en-US" sz="850" dirty="0" err="1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仅负责遍历维度并调用接口，逻辑极简，符合单一职责原则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0600" y="2304288"/>
            <a:ext cx="548640" cy="25603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5" name="Text 23"/>
          <p:cNvSpPr/>
          <p:nvPr/>
        </p:nvSpPr>
        <p:spPr>
          <a:xfrm>
            <a:off x="4800600" y="23042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独立采样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22583" y="223113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每次循环调用 ioself_profiling 时内部重新分配内存，各采样点完全独立，不受上次状态影响（研讨要求明确指出）。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83455" y="3042858"/>
            <a:ext cx="548640" cy="25603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3455" y="308533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维度范围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49240" y="2980755"/>
            <a:ext cx="3291840" cy="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从 10 到 300，步长 9，共 33 个测量点，覆盖从小维度到接近上限 KF_MAX_DIM=300 的全范围。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3904488"/>
            <a:ext cx="548640" cy="25603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9044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输出格式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32095" y="378104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printf 输出 CSV：dim, ms, A72, KF，每行一条记录，便于批量导入分析工具绘制性能曲线。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02895" y="4453128"/>
            <a:ext cx="8412480" cy="658368"/>
          </a:xfrm>
          <a:prstGeom prst="rect">
            <a:avLst/>
          </a:prstGeom>
          <a:solidFill>
            <a:srgbClr val="E8F4FB"/>
          </a:solidFill>
          <a:ln w="12700">
            <a:solidFill>
              <a:srgbClr val="00A0D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4" name="Text 32"/>
          <p:cNvSpPr/>
          <p:nvPr/>
        </p:nvSpPr>
        <p:spPr>
          <a:xfrm>
            <a:off x="594360" y="4479607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关键点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7000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注意：每次采样应该不受上次采样的影响 → 通过每次进入 ioself_profiling 时重新 calloc / srand 实现隔离；计时区间严格包裹 kf_core_compute，不包含内存分配与初始化，保证纳秒级测量精度。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64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性能分析与优化 — 六个源文件详解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594360"/>
            <a:ext cx="411480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4114800" cy="3200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594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kf_linux.h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9144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公共接口 &amp; 类型声明（仅含调用所需声明）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1161288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定义 KF_MAX_DIM=300 维度上限常量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枚举 RetCode（K_RET_OK/INVALID_PARAM/UNK_ERROR）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枚举 KfMode（AOS_SCALAR / SOA_NEON）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结构体 KfInput（含13个指针字段）、KfOutput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声明三个对外接口函数原型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594360"/>
            <a:ext cx="411480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594360"/>
            <a:ext cx="4114800" cy="320040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594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kf_linux.c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6592" y="9144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优化核心实现（全部算法逻辑在此）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36592" y="1161288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locality_optimized_mat_mul：i-l-j 顺序，unit-stride 内层循环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optimized_mat_inv_diag：对角矩阵求逆（O(dim)）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kf_core_compute：单步 KF 更新内核，所有矩阵运算在此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run_one_profile / kf_self_test：封装分配、初始化、计时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实现三个对外接口：iopointer / ioself_profiling / ioself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057400"/>
            <a:ext cx="411480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057400"/>
            <a:ext cx="4114800" cy="320040"/>
          </a:xfrm>
          <a:prstGeom prst="rect">
            <a:avLst/>
          </a:prstGeom>
          <a:solidFill>
            <a:srgbClr val="0E7C60"/>
          </a:solidFill>
          <a:ln w="12700">
            <a:solidFill>
              <a:srgbClr val="0E7C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kf_linux_test.c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2377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 &amp; 性能采样入口（main 函数在此）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8912" y="2624328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main：for(horizon=10; &lt;=300; +=9) 33次独立采样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每次调用 kf_linux_ioself_profiling，采样互相隔离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无其它逻辑，职责单一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057400"/>
            <a:ext cx="411480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057400"/>
            <a:ext cx="4114800" cy="320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timestamp.h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2377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计时接口声明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36592" y="2624328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typedef struct timespec TimeStamp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声明 timestamp() 和 timestamp_diff() 函数原型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引入 &lt;time.h&gt; 和 &lt;stdint.h&gt;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411480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520440"/>
            <a:ext cx="4114800" cy="320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timestamp.c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" y="38404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纳秒级计时实现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38912" y="4087368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timestamp()：clock_gettime(CLOCK_MONOTONIC) 单调时钟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timestamp_diff()：返回 int64_t 纳秒差值，精度纳秒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不受系统时间调整影响，适合性能采样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520440"/>
            <a:ext cx="411480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520440"/>
            <a:ext cx="411480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readme.txt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36592" y="38404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编译与执行说明文档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36592" y="4087368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gcc -O2 kf_linux.c kf_linux_test.c timestamp.c -o kf_run -lm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说明各接口用途与优化方法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列出文件清单与分工说明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64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优化方法详解（与系统结构直接相关）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优化第 1 步 — 指针步长消减  →  寄存器缓存行基址      存储访问 / 编译器调度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6217920" cy="102412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86968"/>
            <a:ext cx="6035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 A[i*k+l] 提取为局部行指针 a_row = A + i*k_common；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 B[l*m+j] 提取为 b_row = B + l*m；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 result[i*m+j] 提取为 result_row = result + i*m。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行基址仅在外层循环计算一次，内层循环完全避免乘法运算，编译器可将行基址固定在寄存器中，减少指令数约 30%。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75120" y="868680"/>
            <a:ext cx="2103120" cy="102412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868680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dim=298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68.1ms → 32.5ms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加速 2.10×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8412480" cy="274320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93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优化第 2 步 — Cache 空间局部性翻转  i-j-l → i-l-j      存储层次结构 / Cache Line 利用率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6217920" cy="1051560"/>
          </a:xfrm>
          <a:prstGeom prst="rect">
            <a:avLst/>
          </a:prstGeom>
          <a:solidFill>
            <a:srgbClr val="E8F4FB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860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 i-j-l 顺序：内层 l 循环中 B[l*m+j] 列间跳跃，stride=m×8B，Cache Line 利用率约 12.5%。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改为 i-l-j 顺序后：固定 a_row[l] 为标量常数，内层 j 在 b_row[j] 和 result_row[j] 上连续滑动，访问步长=8B（unit-stride），64B Cache Line 装入的 8 个 double 全部命中。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A72 L1D=32KB，dim≤181 时 B 矩阵可完整驻留 L2（256KB），进一步减少 L3 回写次数。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0" y="2267712"/>
            <a:ext cx="2103120" cy="1051560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267712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dim=298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32.5ms → 7.3ms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加速 4.46×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累计 9.37×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59" y="3429000"/>
            <a:ext cx="8459153" cy="148113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Cache Line 利用率对比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优化前（i-j-l）：每次仅用 1/8 个 double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977640"/>
            <a:ext cx="34747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3977640"/>
            <a:ext cx="347472" cy="256032"/>
          </a:xfrm>
          <a:prstGeom prst="rect">
            <a:avLst/>
          </a:prstGeom>
          <a:solidFill>
            <a:srgbClr val="DDDDDD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71016" y="3977640"/>
            <a:ext cx="347472" cy="256032"/>
          </a:xfrm>
          <a:prstGeom prst="rect">
            <a:avLst/>
          </a:prstGeom>
          <a:solidFill>
            <a:srgbClr val="DDDDDD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55064" y="3977640"/>
            <a:ext cx="347472" cy="256032"/>
          </a:xfrm>
          <a:prstGeom prst="rect">
            <a:avLst/>
          </a:prstGeom>
          <a:solidFill>
            <a:srgbClr val="DDDDDD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39112" y="3977640"/>
            <a:ext cx="347472" cy="256032"/>
          </a:xfrm>
          <a:prstGeom prst="rect">
            <a:avLst/>
          </a:prstGeom>
          <a:solidFill>
            <a:srgbClr val="DDDDDD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3977640"/>
            <a:ext cx="347472" cy="256032"/>
          </a:xfrm>
          <a:prstGeom prst="rect">
            <a:avLst/>
          </a:prstGeom>
          <a:solidFill>
            <a:srgbClr val="DDDDDD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07208" y="3977640"/>
            <a:ext cx="347472" cy="256032"/>
          </a:xfrm>
          <a:prstGeom prst="rect">
            <a:avLst/>
          </a:prstGeom>
          <a:solidFill>
            <a:srgbClr val="DDDDDD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91256" y="3977640"/>
            <a:ext cx="347472" cy="256032"/>
          </a:xfrm>
          <a:prstGeom prst="rect">
            <a:avLst/>
          </a:prstGeom>
          <a:solidFill>
            <a:srgbClr val="DDDDDD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3977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64B Cache Line（12.5% 命中）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2702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优化后（i-l-j）：8 个 double 全部命中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4462272"/>
            <a:ext cx="347472" cy="137160"/>
          </a:xfrm>
          <a:prstGeom prst="rect">
            <a:avLst/>
          </a:prstGeom>
          <a:solidFill>
            <a:srgbClr val="0E7C6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" y="4462272"/>
            <a:ext cx="347472" cy="137160"/>
          </a:xfrm>
          <a:prstGeom prst="rect">
            <a:avLst/>
          </a:prstGeom>
          <a:solidFill>
            <a:srgbClr val="0E7C6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71016" y="4462272"/>
            <a:ext cx="347472" cy="137160"/>
          </a:xfrm>
          <a:prstGeom prst="rect">
            <a:avLst/>
          </a:prstGeom>
          <a:solidFill>
            <a:srgbClr val="0E7C6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55064" y="4462272"/>
            <a:ext cx="347472" cy="137160"/>
          </a:xfrm>
          <a:prstGeom prst="rect">
            <a:avLst/>
          </a:prstGeom>
          <a:solidFill>
            <a:srgbClr val="0E7C6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39112" y="4462272"/>
            <a:ext cx="347472" cy="137160"/>
          </a:xfrm>
          <a:prstGeom prst="rect">
            <a:avLst/>
          </a:prstGeom>
          <a:solidFill>
            <a:srgbClr val="0E7C6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3160" y="4462272"/>
            <a:ext cx="347472" cy="137160"/>
          </a:xfrm>
          <a:prstGeom prst="rect">
            <a:avLst/>
          </a:prstGeom>
          <a:solidFill>
            <a:srgbClr val="0E7C6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4462272"/>
            <a:ext cx="347472" cy="137160"/>
          </a:xfrm>
          <a:prstGeom prst="rect">
            <a:avLst/>
          </a:prstGeom>
          <a:solidFill>
            <a:srgbClr val="0E7C6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91256" y="4462272"/>
            <a:ext cx="347472" cy="137160"/>
          </a:xfrm>
          <a:prstGeom prst="rect">
            <a:avLst/>
          </a:prstGeom>
          <a:solidFill>
            <a:srgbClr val="0E7C6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4462272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7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64B Cache Line（100% 命中）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64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性能实验结果 — 三阶段执行时间对比（折线图）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594360"/>
          <a:ext cx="84124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251960"/>
            <a:ext cx="201168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279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 (dim=298)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4526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68.115 ms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14600" y="4251960"/>
            <a:ext cx="2011680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14600" y="4279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优化① (dim=298)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14600" y="4526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32.483 ms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663440" y="4251960"/>
            <a:ext cx="2011680" cy="658368"/>
          </a:xfrm>
          <a:prstGeom prst="rect">
            <a:avLst/>
          </a:prstGeom>
          <a:solidFill>
            <a:srgbClr val="0E7C60"/>
          </a:solidFill>
          <a:ln w="12700">
            <a:solidFill>
              <a:srgbClr val="0E7C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4279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优化② (dim=298)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663440" y="4526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7.269 ms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812280" y="4251960"/>
            <a:ext cx="201168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12280" y="4279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综合加速比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812280" y="4526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9.37×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64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性能数据详表 &amp; 加速比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594360"/>
          <a:ext cx="7315200" cy="307238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原始 (ms)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优化① (ms)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优化② (ms)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① 加速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② 累计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3.66×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9.37×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4.18×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7.934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1.50×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3.90×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16.238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4.25×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29.345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12.974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2.26×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6.75×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68.115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32.483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7C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7C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9.37×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840480"/>
            <a:ext cx="2468880" cy="71323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858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优化① 指针步长消减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4133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2.10× 加速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337560" y="3840480"/>
            <a:ext cx="2468880" cy="71323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37560" y="3858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优化② Cache局部性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37560" y="4133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4.46× 加速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943600" y="3840480"/>
            <a:ext cx="2468880" cy="713232"/>
          </a:xfrm>
          <a:prstGeom prst="rect">
            <a:avLst/>
          </a:prstGeom>
          <a:solidFill>
            <a:srgbClr val="0E7C60"/>
          </a:solidFill>
          <a:ln w="12700">
            <a:solidFill>
              <a:srgbClr val="0E7C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3858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综合加速（dim=298）</a:t>
            </a:r>
            <a:endParaRPr lang="en-US" sz="1000" dirty="0"/>
          </a:p>
        </p:txBody>
      </p:sp>
      <p:sp>
        <p:nvSpPr>
          <p:cNvPr id="5" name="Text 11"/>
          <p:cNvSpPr/>
          <p:nvPr/>
        </p:nvSpPr>
        <p:spPr>
          <a:xfrm>
            <a:off x="5943600" y="4133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9.37×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64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系统结构层次上的程序性能优化总结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594360"/>
            <a:ext cx="841248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109728" cy="1261872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0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0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存储层次结构层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8869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/ 空间局部性 / Cache Line 利用率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原始 i-j-l 顺序：B 列间跳跃，Cache Line 利用率约 12.5%（每行仅用 1/8 个 double）。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优化后 i-l-j 顺序：b_row[j] 和 result_row[j] 均为 unit-stride（步长=8B），Cache Line 100% 命中。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A72 L1D=32KB，L2=256KB；dim≤181 时 B 矩阵可整体驻留 L2，进一步减少 L3 回写次数。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841248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65960"/>
            <a:ext cx="109728" cy="126187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025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指令流水线层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2585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寄存器 / 编译器调度 / 指令并行度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指针行基址缓存（a_row, b_row, result_row）：将重复乘法地址计算提升至外层，内层仅做加法偏移。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行基址固定在寄存器中，内层 j 循环无多余 load 地址计算，编译器可更激进地安排指令顺序。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循环体精简后，CPU 乱序执行引擎（A72 3-wide OOO）更易挖掘指令级并行（ILP）。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841248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337560"/>
            <a:ext cx="109728" cy="1261872"/>
          </a:xfrm>
          <a:prstGeom prst="rect">
            <a:avLst/>
          </a:prstGeom>
          <a:solidFill>
            <a:srgbClr val="0E7C60"/>
          </a:solidFill>
          <a:ln w="12700">
            <a:solidFill>
              <a:srgbClr val="0E7C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741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编译器优化层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630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自动向量化 / 别名消除 / 循环展开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unit-stride 内层循环满足自动向量化（auto-vectorization）前提条件，编译器可插入 SIMD 指令。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使用 const 和 restrict 限定词消除指针别名分析，编译器可重排访存顺序。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进一步可手动插入 NEON intrinsic（vfmaq_f64）或 OpenMP 并行，预期再提速 2~4×（扩展方向）。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　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54864" cy="502920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0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▶ 性能瓶颈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435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卡尔曼滤波算子性能瓶颈集中于 mat_mul（O(dim³)），每步执行 2 次，占总时间 &gt; 90%。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655064"/>
            <a:ext cx="54864" cy="5029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550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▶ 优化① 指针步长消减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11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行基址缓存减少冗余乘法，消除地址计算开销，实现 2.10× 加速（dim=298: 68.1→32.5ms）。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22576"/>
            <a:ext cx="54864" cy="502920"/>
          </a:xfrm>
          <a:prstGeom prst="rect">
            <a:avLst/>
          </a:prstGeom>
          <a:solidFill>
            <a:srgbClr val="0E7C60"/>
          </a:solidFill>
          <a:ln w="12700">
            <a:solidFill>
              <a:srgbClr val="0E7C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225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▶ 优化② Cache 局部性翻转 i→l→j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内层 unit-stride 访问，L1 Cache Line 利用率从 12.5% 提升至 100%，实现 4.46× 进一步加速。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90088"/>
            <a:ext cx="54864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90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▶ 综合效果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两步优化累计加速比达 9.37×（dim=298：68.1ms → 7.3ms），满足 EKF 毫秒级实时性要求。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54864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57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▶ 后续扩展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913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NEON SIMD（vfmaq_f64）+ 软件预取（PLD）+ OpenMP 多线程，预期再提速 2~8×。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4074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0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谢谢聆听！欢迎提问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2251</Words>
  <Application>Microsoft Office PowerPoint</Application>
  <PresentationFormat>全屏显示(16:9)</PresentationFormat>
  <Paragraphs>372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KF算子性能优化研讨汇报</dc:title>
  <dc:subject>PptxGenJS Presentation</dc:subject>
  <dc:creator>PptxGenJS</dc:creator>
  <cp:lastModifiedBy>Jing C</cp:lastModifiedBy>
  <cp:revision>2</cp:revision>
  <dcterms:created xsi:type="dcterms:W3CDTF">2026-05-19T08:01:49Z</dcterms:created>
  <dcterms:modified xsi:type="dcterms:W3CDTF">2026-05-19T08:34:33Z</dcterms:modified>
</cp:coreProperties>
</file>